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596" r:id="rId2"/>
    <p:sldId id="555" r:id="rId3"/>
    <p:sldId id="599" r:id="rId4"/>
    <p:sldId id="598" r:id="rId5"/>
    <p:sldId id="604" r:id="rId6"/>
    <p:sldId id="605" r:id="rId7"/>
    <p:sldId id="606" r:id="rId8"/>
    <p:sldId id="600" r:id="rId9"/>
    <p:sldId id="609" r:id="rId10"/>
    <p:sldId id="610" r:id="rId11"/>
    <p:sldId id="611" r:id="rId12"/>
    <p:sldId id="612" r:id="rId13"/>
    <p:sldId id="613" r:id="rId14"/>
    <p:sldId id="601" r:id="rId15"/>
    <p:sldId id="614" r:id="rId16"/>
    <p:sldId id="615" r:id="rId17"/>
    <p:sldId id="616" r:id="rId18"/>
    <p:sldId id="618" r:id="rId19"/>
    <p:sldId id="602" r:id="rId20"/>
    <p:sldId id="619" r:id="rId21"/>
    <p:sldId id="625" r:id="rId22"/>
    <p:sldId id="626" r:id="rId23"/>
    <p:sldId id="620" r:id="rId24"/>
    <p:sldId id="603" r:id="rId25"/>
    <p:sldId id="623" r:id="rId26"/>
    <p:sldId id="624" r:id="rId27"/>
    <p:sldId id="597" r:id="rId28"/>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65369CE-223E-4C04-B3F4-4D5AC5A301EE}">
          <p14:sldIdLst>
            <p14:sldId id="596"/>
            <p14:sldId id="555"/>
            <p14:sldId id="599"/>
            <p14:sldId id="598"/>
            <p14:sldId id="604"/>
            <p14:sldId id="605"/>
            <p14:sldId id="606"/>
            <p14:sldId id="600"/>
            <p14:sldId id="609"/>
            <p14:sldId id="610"/>
            <p14:sldId id="611"/>
            <p14:sldId id="612"/>
            <p14:sldId id="613"/>
            <p14:sldId id="601"/>
            <p14:sldId id="614"/>
            <p14:sldId id="615"/>
            <p14:sldId id="616"/>
            <p14:sldId id="618"/>
            <p14:sldId id="602"/>
            <p14:sldId id="619"/>
            <p14:sldId id="625"/>
            <p14:sldId id="626"/>
            <p14:sldId id="620"/>
            <p14:sldId id="603"/>
            <p14:sldId id="623"/>
            <p14:sldId id="624"/>
            <p14:sldId id="59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FFFFFF"/>
    <a:srgbClr val="025DAE"/>
    <a:srgbClr val="B2B2B2"/>
    <a:srgbClr val="ACC34B"/>
    <a:srgbClr val="969696"/>
    <a:srgbClr val="808080"/>
    <a:srgbClr val="000000"/>
    <a:srgbClr val="336699"/>
    <a:srgbClr val="3B77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1462" autoAdjust="0"/>
  </p:normalViewPr>
  <p:slideViewPr>
    <p:cSldViewPr>
      <p:cViewPr varScale="1">
        <p:scale>
          <a:sx n="107" d="100"/>
          <a:sy n="107" d="100"/>
        </p:scale>
        <p:origin x="561" y="51"/>
      </p:cViewPr>
      <p:guideLst>
        <p:guide orient="horz" pos="1620"/>
        <p:guide pos="2880"/>
      </p:guideLst>
    </p:cSldViewPr>
  </p:slideViewPr>
  <p:notesTextViewPr>
    <p:cViewPr>
      <p:scale>
        <a:sx n="25" d="100"/>
        <a:sy n="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D96D07-341D-4D88-BBFE-B431BFA04196}" type="datetimeFigureOut">
              <a:rPr lang="zh-CN" altLang="en-US" smtClean="0"/>
              <a:t>2025/10/10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B2A0F9D-3357-4A94-85C8-3B842B870DC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r>
              <a:rPr lang="en-US" altLang="zh-CN">
                <a:solidFill>
                  <a:prstClr val="black"/>
                </a:solidFill>
              </a:rPr>
              <a:t>2</a:t>
            </a:r>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44CCEC7-3A54-47D1-BB25-17A0FDA63797}" type="datetimeFigureOut">
              <a:rPr lang="zh-CN" altLang="en-US" smtClean="0"/>
              <a:t>2025/10/10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495661-81B6-46E9-A91E-889569155CC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0"/>
            <a:r>
              <a:rPr lang="zh-CN" altLang="en-US"/>
              <a:t>第二级</a:t>
            </a:r>
          </a:p>
          <a:p>
            <a:pPr lvl="0"/>
            <a:r>
              <a:rPr lang="zh-CN" altLang="en-US"/>
              <a:t>第三级</a:t>
            </a:r>
          </a:p>
          <a:p>
            <a:pPr lvl="0"/>
            <a:r>
              <a:rPr lang="zh-CN" altLang="en-US"/>
              <a:t>第四级</a:t>
            </a:r>
          </a:p>
          <a:p>
            <a:pPr lvl="0"/>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2022/7/17</a:t>
            </a:r>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altLang="zh-CN"/>
              <a:t>‹#›</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6357FC1-DECB-7E7A-EBA0-6273BCB880DF}"/>
              </a:ext>
            </a:extLst>
          </p:cNvPr>
          <p:cNvSpPr txBox="1"/>
          <p:nvPr/>
        </p:nvSpPr>
        <p:spPr>
          <a:xfrm>
            <a:off x="1115616" y="1926585"/>
            <a:ext cx="6912768" cy="646331"/>
          </a:xfrm>
          <a:prstGeom prst="rect">
            <a:avLst/>
          </a:prstGeom>
          <a:noFill/>
        </p:spPr>
        <p:txBody>
          <a:bodyPr wrap="square" rtlCol="0">
            <a:spAutoFit/>
          </a:bodyPr>
          <a:lstStyle/>
          <a:p>
            <a:r>
              <a:rPr lang="en-US" altLang="zh-CN" sz="3600" b="1" dirty="0">
                <a:solidFill>
                  <a:srgbClr val="080808"/>
                </a:solidFill>
                <a:latin typeface="Times New Roman" panose="02020603050405020304" pitchFamily="18" charset="0"/>
                <a:cs typeface="Times New Roman" panose="02020603050405020304" pitchFamily="18" charset="0"/>
              </a:rPr>
              <a:t>Paradoxes of Material Implication</a:t>
            </a:r>
            <a:endParaRPr lang="zh-CN" altLang="en-US" sz="3600" dirty="0">
              <a:solidFill>
                <a:srgbClr val="080808"/>
              </a:solidFill>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F5F7CBCD-9279-EA77-CB7A-B70B82CA3B81}"/>
              </a:ext>
            </a:extLst>
          </p:cNvPr>
          <p:cNvSpPr txBox="1"/>
          <p:nvPr/>
        </p:nvSpPr>
        <p:spPr>
          <a:xfrm>
            <a:off x="1974260" y="2787774"/>
            <a:ext cx="5195479" cy="369332"/>
          </a:xfrm>
          <a:prstGeom prst="rect">
            <a:avLst/>
          </a:prstGeom>
          <a:noFill/>
        </p:spPr>
        <p:txBody>
          <a:bodyPr wrap="square" rtlCol="0">
            <a:spAutoFit/>
          </a:bodyPr>
          <a:lstStyle/>
          <a:p>
            <a:r>
              <a:rPr lang="en-US" altLang="zh-CN" dirty="0">
                <a:solidFill>
                  <a:srgbClr val="080808"/>
                </a:solidFill>
                <a:latin typeface="Times New Roman" panose="02020603050405020304" pitchFamily="18" charset="0"/>
                <a:cs typeface="Times New Roman" panose="02020603050405020304" pitchFamily="18" charset="0"/>
              </a:rPr>
              <a:t>Peter Suber, Philosophy Department, Earlham College</a:t>
            </a:r>
            <a:endParaRPr lang="zh-CN" altLang="en-US" dirty="0">
              <a:solidFill>
                <a:srgbClr val="080808"/>
              </a:solidFill>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37CF2C48-24D5-5407-0B0B-E173C4CE9022}"/>
              </a:ext>
            </a:extLst>
          </p:cNvPr>
          <p:cNvSpPr txBox="1"/>
          <p:nvPr/>
        </p:nvSpPr>
        <p:spPr>
          <a:xfrm>
            <a:off x="179512" y="4443958"/>
            <a:ext cx="4536504" cy="276999"/>
          </a:xfrm>
          <a:prstGeom prst="rect">
            <a:avLst/>
          </a:prstGeom>
          <a:noFill/>
        </p:spPr>
        <p:txBody>
          <a:bodyPr wrap="square" rtlCol="0">
            <a:spAutoFit/>
          </a:bodyPr>
          <a:lstStyle/>
          <a:p>
            <a:r>
              <a:rPr lang="en-US" altLang="zh-CN" sz="1200" dirty="0">
                <a:solidFill>
                  <a:srgbClr val="080808"/>
                </a:solidFill>
                <a:latin typeface="Times New Roman" panose="02020603050405020304" pitchFamily="18" charset="0"/>
                <a:cs typeface="Times New Roman" panose="02020603050405020304" pitchFamily="18" charset="0"/>
              </a:rPr>
              <a:t>By</a:t>
            </a:r>
            <a:r>
              <a:rPr lang="zh-CN" altLang="en-US" sz="1200" dirty="0">
                <a:solidFill>
                  <a:srgbClr val="080808"/>
                </a:solidFill>
                <a:latin typeface="Times New Roman" panose="02020603050405020304" pitchFamily="18" charset="0"/>
                <a:cs typeface="Times New Roman" panose="02020603050405020304" pitchFamily="18" charset="0"/>
              </a:rPr>
              <a:t>：</a:t>
            </a:r>
            <a:r>
              <a:rPr lang="en-US" altLang="zh-CN" sz="1200" dirty="0">
                <a:solidFill>
                  <a:srgbClr val="080808"/>
                </a:solidFill>
                <a:latin typeface="Times New Roman" panose="02020603050405020304" pitchFamily="18" charset="0"/>
                <a:cs typeface="Times New Roman" panose="02020603050405020304" pitchFamily="18" charset="0"/>
              </a:rPr>
              <a:t>Chenhao Rao</a:t>
            </a:r>
            <a:r>
              <a:rPr lang="zh-CN" altLang="en-US" sz="1200" dirty="0">
                <a:solidFill>
                  <a:srgbClr val="080808"/>
                </a:solidFill>
                <a:latin typeface="Times New Roman" panose="02020603050405020304" pitchFamily="18" charset="0"/>
                <a:cs typeface="Times New Roman" panose="02020603050405020304" pitchFamily="18" charset="0"/>
              </a:rPr>
              <a:t>，</a:t>
            </a:r>
            <a:r>
              <a:rPr lang="en-US" altLang="zh-CN" sz="1200" dirty="0" err="1">
                <a:solidFill>
                  <a:srgbClr val="080808"/>
                </a:solidFill>
                <a:latin typeface="Times New Roman" panose="02020603050405020304" pitchFamily="18" charset="0"/>
                <a:cs typeface="Times New Roman" panose="02020603050405020304" pitchFamily="18" charset="0"/>
              </a:rPr>
              <a:t>Guanbo</a:t>
            </a:r>
            <a:r>
              <a:rPr lang="en-US" altLang="zh-CN" sz="1200" dirty="0">
                <a:solidFill>
                  <a:srgbClr val="080808"/>
                </a:solidFill>
                <a:latin typeface="Times New Roman" panose="02020603050405020304" pitchFamily="18" charset="0"/>
                <a:cs typeface="Times New Roman" panose="02020603050405020304" pitchFamily="18" charset="0"/>
              </a:rPr>
              <a:t> Wang</a:t>
            </a:r>
            <a:r>
              <a:rPr lang="zh-CN" altLang="en-US" sz="1200" dirty="0">
                <a:solidFill>
                  <a:srgbClr val="080808"/>
                </a:solidFill>
                <a:latin typeface="Times New Roman" panose="02020603050405020304" pitchFamily="18" charset="0"/>
                <a:cs typeface="Times New Roman" panose="02020603050405020304" pitchFamily="18" charset="0"/>
              </a:rPr>
              <a:t> </a:t>
            </a:r>
            <a:r>
              <a:rPr lang="en-US" altLang="zh-CN" sz="1200" dirty="0">
                <a:solidFill>
                  <a:srgbClr val="080808"/>
                </a:solidFill>
                <a:latin typeface="Times New Roman" panose="02020603050405020304" pitchFamily="18" charset="0"/>
                <a:cs typeface="Times New Roman" panose="02020603050405020304" pitchFamily="18" charset="0"/>
              </a:rPr>
              <a:t>and </a:t>
            </a:r>
            <a:r>
              <a:rPr lang="en-US" altLang="zh-CN" sz="1200" dirty="0" err="1">
                <a:solidFill>
                  <a:srgbClr val="080808"/>
                </a:solidFill>
                <a:latin typeface="Times New Roman" panose="02020603050405020304" pitchFamily="18" charset="0"/>
                <a:cs typeface="Times New Roman" panose="02020603050405020304" pitchFamily="18" charset="0"/>
              </a:rPr>
              <a:t>Mingjia</a:t>
            </a:r>
            <a:r>
              <a:rPr lang="en-US" altLang="zh-CN" sz="1200" dirty="0">
                <a:solidFill>
                  <a:srgbClr val="080808"/>
                </a:solidFill>
                <a:latin typeface="Times New Roman" panose="02020603050405020304" pitchFamily="18" charset="0"/>
                <a:cs typeface="Times New Roman" panose="02020603050405020304" pitchFamily="18" charset="0"/>
              </a:rPr>
              <a:t> Zuo.</a:t>
            </a:r>
            <a:endParaRPr lang="zh-CN" altLang="en-US" sz="12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93843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779913" y="1613408"/>
            <a:ext cx="4176463" cy="342458"/>
            <a:chOff x="3491881" y="1577983"/>
            <a:chExt cx="4608511" cy="377884"/>
          </a:xfrm>
        </p:grpSpPr>
        <p:sp>
          <p:nvSpPr>
            <p:cNvPr id="15" name="Rectangle 21"/>
            <p:cNvSpPr>
              <a:spLocks noChangeArrowheads="1"/>
            </p:cNvSpPr>
            <p:nvPr/>
          </p:nvSpPr>
          <p:spPr bwMode="auto">
            <a:xfrm>
              <a:off x="3693495" y="1577983"/>
              <a:ext cx="87313" cy="377884"/>
            </a:xfrm>
            <a:prstGeom prst="rect">
              <a:avLst/>
            </a:prstGeom>
            <a:solidFill>
              <a:srgbClr val="84E1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a:p>
          </p:txBody>
        </p:sp>
        <p:sp>
          <p:nvSpPr>
            <p:cNvPr id="16" name="Rectangle 22"/>
            <p:cNvSpPr>
              <a:spLocks noChangeArrowheads="1"/>
            </p:cNvSpPr>
            <p:nvPr/>
          </p:nvSpPr>
          <p:spPr bwMode="auto">
            <a:xfrm>
              <a:off x="3693495" y="1577983"/>
              <a:ext cx="87313" cy="377884"/>
            </a:xfrm>
            <a:prstGeom prst="rect">
              <a:avLst/>
            </a:prstGeom>
            <a:solidFill>
              <a:schemeClr val="bg1"/>
            </a:solidFill>
            <a:ln>
              <a:noFill/>
            </a:ln>
          </p:spPr>
          <p:txBody>
            <a:bodyPr/>
            <a:lstStyle/>
            <a:p>
              <a:endParaRPr lang="zh-CN" altLang="en-US" sz="1400"/>
            </a:p>
          </p:txBody>
        </p:sp>
        <p:sp>
          <p:nvSpPr>
            <p:cNvPr id="17" name="Freeform 39"/>
            <p:cNvSpPr/>
            <p:nvPr/>
          </p:nvSpPr>
          <p:spPr bwMode="auto">
            <a:xfrm>
              <a:off x="3742707" y="1577983"/>
              <a:ext cx="38100" cy="377884"/>
            </a:xfrm>
            <a:custGeom>
              <a:avLst/>
              <a:gdLst>
                <a:gd name="T0" fmla="*/ 24 w 24"/>
                <a:gd name="T1" fmla="*/ 0 h 197"/>
                <a:gd name="T2" fmla="*/ 0 w 24"/>
                <a:gd name="T3" fmla="*/ 0 h 197"/>
                <a:gd name="T4" fmla="*/ 24 w 24"/>
                <a:gd name="T5" fmla="*/ 0 h 197"/>
                <a:gd name="T6" fmla="*/ 24 w 24"/>
                <a:gd name="T7" fmla="*/ 197 h 197"/>
                <a:gd name="T8" fmla="*/ 24 w 24"/>
                <a:gd name="T9" fmla="*/ 197 h 197"/>
                <a:gd name="T10" fmla="*/ 24 w 24"/>
                <a:gd name="T11" fmla="*/ 0 h 197"/>
              </a:gdLst>
              <a:ahLst/>
              <a:cxnLst>
                <a:cxn ang="0">
                  <a:pos x="T0" y="T1"/>
                </a:cxn>
                <a:cxn ang="0">
                  <a:pos x="T2" y="T3"/>
                </a:cxn>
                <a:cxn ang="0">
                  <a:pos x="T4" y="T5"/>
                </a:cxn>
                <a:cxn ang="0">
                  <a:pos x="T6" y="T7"/>
                </a:cxn>
                <a:cxn ang="0">
                  <a:pos x="T8" y="T9"/>
                </a:cxn>
                <a:cxn ang="0">
                  <a:pos x="T10" y="T11"/>
                </a:cxn>
              </a:cxnLst>
              <a:rect l="0" t="0" r="r" b="b"/>
              <a:pathLst>
                <a:path w="24" h="197">
                  <a:moveTo>
                    <a:pt x="24" y="0"/>
                  </a:moveTo>
                  <a:lnTo>
                    <a:pt x="0" y="0"/>
                  </a:lnTo>
                  <a:lnTo>
                    <a:pt x="24" y="0"/>
                  </a:lnTo>
                  <a:lnTo>
                    <a:pt x="24" y="197"/>
                  </a:lnTo>
                  <a:lnTo>
                    <a:pt x="24" y="197"/>
                  </a:lnTo>
                  <a:lnTo>
                    <a:pt x="24" y="0"/>
                  </a:lnTo>
                  <a:close/>
                </a:path>
              </a:pathLst>
            </a:custGeom>
            <a:solidFill>
              <a:srgbClr val="84E1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a:p>
          </p:txBody>
        </p:sp>
        <p:sp>
          <p:nvSpPr>
            <p:cNvPr id="21" name="TextBox 20"/>
            <p:cNvSpPr txBox="1"/>
            <p:nvPr/>
          </p:nvSpPr>
          <p:spPr bwMode="auto">
            <a:xfrm>
              <a:off x="3928383" y="1581857"/>
              <a:ext cx="2153021" cy="373576"/>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en-US" altLang="zh-CN" sz="1600" dirty="0">
                  <a:solidFill>
                    <a:schemeClr val="accent1"/>
                  </a:solidFill>
                  <a:latin typeface="Times New Roman" panose="02020603050405020304" pitchFamily="18" charset="0"/>
                  <a:cs typeface="Times New Roman" panose="02020603050405020304" pitchFamily="18" charset="0"/>
                </a:rPr>
                <a:t>Ⅰ. Introduction</a:t>
              </a:r>
              <a:endParaRPr lang="zh-CN" altLang="en-US" sz="1600" dirty="0">
                <a:solidFill>
                  <a:schemeClr val="accent1"/>
                </a:solidFill>
                <a:latin typeface="Times New Roman" panose="02020603050405020304" pitchFamily="18" charset="0"/>
                <a:cs typeface="Times New Roman" panose="02020603050405020304" pitchFamily="18" charset="0"/>
              </a:endParaRPr>
            </a:p>
          </p:txBody>
        </p:sp>
        <p:sp>
          <p:nvSpPr>
            <p:cNvPr id="61" name="Freeform 32"/>
            <p:cNvSpPr/>
            <p:nvPr/>
          </p:nvSpPr>
          <p:spPr bwMode="auto">
            <a:xfrm rot="16200000">
              <a:off x="3445076" y="1680271"/>
              <a:ext cx="260437" cy="166828"/>
            </a:xfrm>
            <a:custGeom>
              <a:avLst/>
              <a:gdLst>
                <a:gd name="T0" fmla="*/ 281 w 281"/>
                <a:gd name="T1" fmla="*/ 0 h 90"/>
                <a:gd name="T2" fmla="*/ 139 w 281"/>
                <a:gd name="T3" fmla="*/ 90 h 90"/>
                <a:gd name="T4" fmla="*/ 0 w 281"/>
                <a:gd name="T5" fmla="*/ 3 h 90"/>
                <a:gd name="T6" fmla="*/ 0 w 281"/>
                <a:gd name="T7" fmla="*/ 0 h 90"/>
                <a:gd name="T8" fmla="*/ 281 w 281"/>
                <a:gd name="T9" fmla="*/ 0 h 90"/>
                <a:gd name="T10" fmla="*/ 281 w 281"/>
                <a:gd name="T11" fmla="*/ 0 h 90"/>
              </a:gdLst>
              <a:ahLst/>
              <a:cxnLst>
                <a:cxn ang="0">
                  <a:pos x="T0" y="T1"/>
                </a:cxn>
                <a:cxn ang="0">
                  <a:pos x="T2" y="T3"/>
                </a:cxn>
                <a:cxn ang="0">
                  <a:pos x="T4" y="T5"/>
                </a:cxn>
                <a:cxn ang="0">
                  <a:pos x="T6" y="T7"/>
                </a:cxn>
                <a:cxn ang="0">
                  <a:pos x="T8" y="T9"/>
                </a:cxn>
                <a:cxn ang="0">
                  <a:pos x="T10" y="T11"/>
                </a:cxn>
              </a:cxnLst>
              <a:rect l="0" t="0" r="r" b="b"/>
              <a:pathLst>
                <a:path w="281" h="90">
                  <a:moveTo>
                    <a:pt x="281" y="0"/>
                  </a:moveTo>
                  <a:lnTo>
                    <a:pt x="139" y="90"/>
                  </a:lnTo>
                  <a:lnTo>
                    <a:pt x="0" y="3"/>
                  </a:lnTo>
                  <a:lnTo>
                    <a:pt x="0" y="0"/>
                  </a:lnTo>
                  <a:lnTo>
                    <a:pt x="281" y="0"/>
                  </a:lnTo>
                  <a:lnTo>
                    <a:pt x="281" y="0"/>
                  </a:lnTo>
                  <a:close/>
                </a:path>
              </a:pathLst>
            </a:custGeom>
            <a:solidFill>
              <a:schemeClr val="bg1"/>
            </a:solidFill>
            <a:ln>
              <a:noFill/>
            </a:ln>
          </p:spPr>
          <p:txBody>
            <a:bodyPr/>
            <a:lstStyle/>
            <a:p>
              <a:endParaRPr lang="zh-CN" altLang="en-US" sz="1400"/>
            </a:p>
          </p:txBody>
        </p:sp>
        <p:cxnSp>
          <p:nvCxnSpPr>
            <p:cNvPr id="62" name="直接连接符 61"/>
            <p:cNvCxnSpPr/>
            <p:nvPr/>
          </p:nvCxnSpPr>
          <p:spPr>
            <a:xfrm>
              <a:off x="3995936" y="1934298"/>
              <a:ext cx="4104456" cy="0"/>
            </a:xfrm>
            <a:prstGeom prst="line">
              <a:avLst/>
            </a:prstGeom>
            <a:solidFill>
              <a:srgbClr val="070606"/>
            </a:solidFill>
            <a:ln w="15875">
              <a:solidFill>
                <a:schemeClr val="bg1"/>
              </a:solidFill>
              <a:round/>
            </a:ln>
          </p:spPr>
        </p:cxnSp>
      </p:grpSp>
      <p:grpSp>
        <p:nvGrpSpPr>
          <p:cNvPr id="7" name="组合 6"/>
          <p:cNvGrpSpPr/>
          <p:nvPr/>
        </p:nvGrpSpPr>
        <p:grpSpPr>
          <a:xfrm>
            <a:off x="3779911" y="2123313"/>
            <a:ext cx="4702803" cy="356434"/>
            <a:chOff x="3491881" y="2087884"/>
            <a:chExt cx="5189301" cy="393305"/>
          </a:xfrm>
        </p:grpSpPr>
        <p:sp>
          <p:nvSpPr>
            <p:cNvPr id="22" name="Rectangle 19"/>
            <p:cNvSpPr>
              <a:spLocks noChangeArrowheads="1"/>
            </p:cNvSpPr>
            <p:nvPr/>
          </p:nvSpPr>
          <p:spPr bwMode="auto">
            <a:xfrm>
              <a:off x="3693495" y="2087884"/>
              <a:ext cx="87313" cy="377884"/>
            </a:xfrm>
            <a:prstGeom prst="rect">
              <a:avLst/>
            </a:prstGeom>
            <a:solidFill>
              <a:schemeClr val="tx1"/>
            </a:solidFill>
            <a:ln>
              <a:noFill/>
            </a:ln>
          </p:spPr>
          <p:txBody>
            <a:bodyPr/>
            <a:lstStyle/>
            <a:p>
              <a:endParaRPr lang="zh-CN" altLang="en-US" sz="1400"/>
            </a:p>
          </p:txBody>
        </p:sp>
        <p:sp>
          <p:nvSpPr>
            <p:cNvPr id="23" name="Rectangle 20"/>
            <p:cNvSpPr>
              <a:spLocks noChangeArrowheads="1"/>
            </p:cNvSpPr>
            <p:nvPr/>
          </p:nvSpPr>
          <p:spPr bwMode="auto">
            <a:xfrm>
              <a:off x="3693495" y="2087884"/>
              <a:ext cx="87313" cy="377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400"/>
            </a:p>
          </p:txBody>
        </p:sp>
        <p:sp>
          <p:nvSpPr>
            <p:cNvPr id="24" name="Freeform 35"/>
            <p:cNvSpPr/>
            <p:nvPr/>
          </p:nvSpPr>
          <p:spPr bwMode="auto">
            <a:xfrm>
              <a:off x="3742707" y="2087884"/>
              <a:ext cx="38100" cy="377884"/>
            </a:xfrm>
            <a:custGeom>
              <a:avLst/>
              <a:gdLst>
                <a:gd name="T0" fmla="*/ 24 w 24"/>
                <a:gd name="T1" fmla="*/ 0 h 197"/>
                <a:gd name="T2" fmla="*/ 0 w 24"/>
                <a:gd name="T3" fmla="*/ 0 h 197"/>
                <a:gd name="T4" fmla="*/ 24 w 24"/>
                <a:gd name="T5" fmla="*/ 0 h 197"/>
                <a:gd name="T6" fmla="*/ 24 w 24"/>
                <a:gd name="T7" fmla="*/ 197 h 197"/>
                <a:gd name="T8" fmla="*/ 24 w 24"/>
                <a:gd name="T9" fmla="*/ 197 h 197"/>
                <a:gd name="T10" fmla="*/ 24 w 24"/>
                <a:gd name="T11" fmla="*/ 0 h 197"/>
              </a:gdLst>
              <a:ahLst/>
              <a:cxnLst>
                <a:cxn ang="0">
                  <a:pos x="T0" y="T1"/>
                </a:cxn>
                <a:cxn ang="0">
                  <a:pos x="T2" y="T3"/>
                </a:cxn>
                <a:cxn ang="0">
                  <a:pos x="T4" y="T5"/>
                </a:cxn>
                <a:cxn ang="0">
                  <a:pos x="T6" y="T7"/>
                </a:cxn>
                <a:cxn ang="0">
                  <a:pos x="T8" y="T9"/>
                </a:cxn>
                <a:cxn ang="0">
                  <a:pos x="T10" y="T11"/>
                </a:cxn>
              </a:cxnLst>
              <a:rect l="0" t="0" r="r" b="b"/>
              <a:pathLst>
                <a:path w="24" h="197">
                  <a:moveTo>
                    <a:pt x="24" y="0"/>
                  </a:moveTo>
                  <a:lnTo>
                    <a:pt x="0" y="0"/>
                  </a:lnTo>
                  <a:lnTo>
                    <a:pt x="24" y="0"/>
                  </a:lnTo>
                  <a:lnTo>
                    <a:pt x="24" y="197"/>
                  </a:lnTo>
                  <a:lnTo>
                    <a:pt x="24" y="197"/>
                  </a:lnTo>
                  <a:lnTo>
                    <a:pt x="24" y="0"/>
                  </a:lnTo>
                  <a:close/>
                </a:path>
              </a:pathLst>
            </a:custGeom>
            <a:solidFill>
              <a:srgbClr val="458E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a:p>
          </p:txBody>
        </p:sp>
        <p:sp>
          <p:nvSpPr>
            <p:cNvPr id="25" name="Freeform 36"/>
            <p:cNvSpPr/>
            <p:nvPr/>
          </p:nvSpPr>
          <p:spPr bwMode="auto">
            <a:xfrm>
              <a:off x="3742707" y="2087884"/>
              <a:ext cx="38100" cy="377884"/>
            </a:xfrm>
            <a:custGeom>
              <a:avLst/>
              <a:gdLst>
                <a:gd name="T0" fmla="*/ 24 w 24"/>
                <a:gd name="T1" fmla="*/ 0 h 197"/>
                <a:gd name="T2" fmla="*/ 0 w 24"/>
                <a:gd name="T3" fmla="*/ 0 h 197"/>
                <a:gd name="T4" fmla="*/ 24 w 24"/>
                <a:gd name="T5" fmla="*/ 0 h 197"/>
                <a:gd name="T6" fmla="*/ 24 w 24"/>
                <a:gd name="T7" fmla="*/ 197 h 197"/>
                <a:gd name="T8" fmla="*/ 24 w 24"/>
                <a:gd name="T9" fmla="*/ 197 h 197"/>
                <a:gd name="T10" fmla="*/ 24 w 24"/>
                <a:gd name="T11" fmla="*/ 0 h 197"/>
              </a:gdLst>
              <a:ahLst/>
              <a:cxnLst>
                <a:cxn ang="0">
                  <a:pos x="T0" y="T1"/>
                </a:cxn>
                <a:cxn ang="0">
                  <a:pos x="T2" y="T3"/>
                </a:cxn>
                <a:cxn ang="0">
                  <a:pos x="T4" y="T5"/>
                </a:cxn>
                <a:cxn ang="0">
                  <a:pos x="T6" y="T7"/>
                </a:cxn>
                <a:cxn ang="0">
                  <a:pos x="T8" y="T9"/>
                </a:cxn>
                <a:cxn ang="0">
                  <a:pos x="T10" y="T11"/>
                </a:cxn>
              </a:cxnLst>
              <a:rect l="0" t="0" r="r" b="b"/>
              <a:pathLst>
                <a:path w="24" h="197">
                  <a:moveTo>
                    <a:pt x="24" y="0"/>
                  </a:moveTo>
                  <a:lnTo>
                    <a:pt x="0" y="0"/>
                  </a:lnTo>
                  <a:lnTo>
                    <a:pt x="24" y="0"/>
                  </a:lnTo>
                  <a:lnTo>
                    <a:pt x="24" y="197"/>
                  </a:lnTo>
                  <a:lnTo>
                    <a:pt x="24" y="197"/>
                  </a:lnTo>
                  <a:lnTo>
                    <a:pt x="2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a:p>
          </p:txBody>
        </p:sp>
        <p:sp>
          <p:nvSpPr>
            <p:cNvPr id="63" name="Freeform 32"/>
            <p:cNvSpPr/>
            <p:nvPr/>
          </p:nvSpPr>
          <p:spPr bwMode="auto">
            <a:xfrm rot="16200000">
              <a:off x="3445076" y="2193411"/>
              <a:ext cx="260437" cy="166828"/>
            </a:xfrm>
            <a:custGeom>
              <a:avLst/>
              <a:gdLst>
                <a:gd name="T0" fmla="*/ 281 w 281"/>
                <a:gd name="T1" fmla="*/ 0 h 90"/>
                <a:gd name="T2" fmla="*/ 139 w 281"/>
                <a:gd name="T3" fmla="*/ 90 h 90"/>
                <a:gd name="T4" fmla="*/ 0 w 281"/>
                <a:gd name="T5" fmla="*/ 3 h 90"/>
                <a:gd name="T6" fmla="*/ 0 w 281"/>
                <a:gd name="T7" fmla="*/ 0 h 90"/>
                <a:gd name="T8" fmla="*/ 281 w 281"/>
                <a:gd name="T9" fmla="*/ 0 h 90"/>
                <a:gd name="T10" fmla="*/ 281 w 281"/>
                <a:gd name="T11" fmla="*/ 0 h 90"/>
              </a:gdLst>
              <a:ahLst/>
              <a:cxnLst>
                <a:cxn ang="0">
                  <a:pos x="T0" y="T1"/>
                </a:cxn>
                <a:cxn ang="0">
                  <a:pos x="T2" y="T3"/>
                </a:cxn>
                <a:cxn ang="0">
                  <a:pos x="T4" y="T5"/>
                </a:cxn>
                <a:cxn ang="0">
                  <a:pos x="T6" y="T7"/>
                </a:cxn>
                <a:cxn ang="0">
                  <a:pos x="T8" y="T9"/>
                </a:cxn>
                <a:cxn ang="0">
                  <a:pos x="T10" y="T11"/>
                </a:cxn>
              </a:cxnLst>
              <a:rect l="0" t="0" r="r" b="b"/>
              <a:pathLst>
                <a:path w="281" h="90">
                  <a:moveTo>
                    <a:pt x="281" y="0"/>
                  </a:moveTo>
                  <a:lnTo>
                    <a:pt x="139" y="90"/>
                  </a:lnTo>
                  <a:lnTo>
                    <a:pt x="0" y="3"/>
                  </a:lnTo>
                  <a:lnTo>
                    <a:pt x="0" y="0"/>
                  </a:lnTo>
                  <a:lnTo>
                    <a:pt x="281" y="0"/>
                  </a:lnTo>
                  <a:lnTo>
                    <a:pt x="281" y="0"/>
                  </a:lnTo>
                  <a:close/>
                </a:path>
              </a:pathLst>
            </a:custGeom>
            <a:solidFill>
              <a:schemeClr val="tx1"/>
            </a:solidFill>
            <a:ln>
              <a:noFill/>
            </a:ln>
          </p:spPr>
          <p:txBody>
            <a:bodyPr/>
            <a:lstStyle/>
            <a:p>
              <a:endParaRPr lang="zh-CN" altLang="en-US" sz="1400"/>
            </a:p>
          </p:txBody>
        </p:sp>
        <p:sp>
          <p:nvSpPr>
            <p:cNvPr id="69" name="TextBox 68"/>
            <p:cNvSpPr txBox="1"/>
            <p:nvPr/>
          </p:nvSpPr>
          <p:spPr bwMode="auto">
            <a:xfrm>
              <a:off x="3842013" y="2107613"/>
              <a:ext cx="4839169" cy="373576"/>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en-US" altLang="zh-CN" sz="1600" dirty="0">
                  <a:solidFill>
                    <a:schemeClr val="accent1"/>
                  </a:solidFill>
                  <a:latin typeface="Times New Roman" panose="02020603050405020304" pitchFamily="18" charset="0"/>
                  <a:cs typeface="Times New Roman" panose="02020603050405020304" pitchFamily="18" charset="0"/>
                </a:rPr>
                <a:t>Ⅱ. The price of truth-functionality</a:t>
              </a:r>
              <a:endParaRPr lang="zh-CN" altLang="en-US" sz="1600" dirty="0">
                <a:solidFill>
                  <a:schemeClr val="accent1"/>
                </a:solidFill>
                <a:latin typeface="Times New Roman" panose="02020603050405020304" pitchFamily="18" charset="0"/>
                <a:cs typeface="Times New Roman" panose="02020603050405020304" pitchFamily="18" charset="0"/>
              </a:endParaRPr>
            </a:p>
          </p:txBody>
        </p:sp>
        <p:cxnSp>
          <p:nvCxnSpPr>
            <p:cNvPr id="70" name="直接连接符 69"/>
            <p:cNvCxnSpPr/>
            <p:nvPr/>
          </p:nvCxnSpPr>
          <p:spPr>
            <a:xfrm>
              <a:off x="3995936" y="2463864"/>
              <a:ext cx="4104456" cy="0"/>
            </a:xfrm>
            <a:prstGeom prst="line">
              <a:avLst/>
            </a:prstGeom>
            <a:solidFill>
              <a:srgbClr val="070606"/>
            </a:solidFill>
            <a:ln w="15875">
              <a:solidFill>
                <a:schemeClr val="tx1"/>
              </a:solidFill>
              <a:round/>
            </a:ln>
          </p:spPr>
        </p:cxnSp>
      </p:grpSp>
      <p:grpSp>
        <p:nvGrpSpPr>
          <p:cNvPr id="8" name="组合 7"/>
          <p:cNvGrpSpPr/>
          <p:nvPr/>
        </p:nvGrpSpPr>
        <p:grpSpPr>
          <a:xfrm>
            <a:off x="3779915" y="2630478"/>
            <a:ext cx="4929713" cy="348066"/>
            <a:chOff x="3491882" y="2594474"/>
            <a:chExt cx="5439682" cy="384073"/>
          </a:xfrm>
        </p:grpSpPr>
        <p:sp>
          <p:nvSpPr>
            <p:cNvPr id="30" name="Rectangle 23"/>
            <p:cNvSpPr>
              <a:spLocks noChangeArrowheads="1"/>
            </p:cNvSpPr>
            <p:nvPr/>
          </p:nvSpPr>
          <p:spPr bwMode="auto">
            <a:xfrm>
              <a:off x="3693495" y="2594908"/>
              <a:ext cx="87313" cy="383639"/>
            </a:xfrm>
            <a:prstGeom prst="rect">
              <a:avLst/>
            </a:prstGeom>
            <a:solidFill>
              <a:srgbClr val="A2B93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400"/>
            </a:p>
          </p:txBody>
        </p:sp>
        <p:sp>
          <p:nvSpPr>
            <p:cNvPr id="31" name="Rectangle 24"/>
            <p:cNvSpPr>
              <a:spLocks noChangeArrowheads="1"/>
            </p:cNvSpPr>
            <p:nvPr/>
          </p:nvSpPr>
          <p:spPr bwMode="auto">
            <a:xfrm>
              <a:off x="3693495" y="2594908"/>
              <a:ext cx="87313" cy="383639"/>
            </a:xfrm>
            <a:prstGeom prst="rect">
              <a:avLst/>
            </a:prstGeom>
            <a:solidFill>
              <a:schemeClr val="bg2"/>
            </a:solidFill>
            <a:ln>
              <a:noFill/>
            </a:ln>
          </p:spPr>
          <p:txBody>
            <a:bodyPr/>
            <a:lstStyle/>
            <a:p>
              <a:endParaRPr lang="zh-CN" altLang="en-US" sz="1400"/>
            </a:p>
          </p:txBody>
        </p:sp>
        <p:sp>
          <p:nvSpPr>
            <p:cNvPr id="41" name="Freeform 43"/>
            <p:cNvSpPr/>
            <p:nvPr/>
          </p:nvSpPr>
          <p:spPr bwMode="auto">
            <a:xfrm>
              <a:off x="3742707" y="2594908"/>
              <a:ext cx="38100" cy="383639"/>
            </a:xfrm>
            <a:custGeom>
              <a:avLst/>
              <a:gdLst>
                <a:gd name="T0" fmla="*/ 24 w 24"/>
                <a:gd name="T1" fmla="*/ 0 h 200"/>
                <a:gd name="T2" fmla="*/ 0 w 24"/>
                <a:gd name="T3" fmla="*/ 0 h 200"/>
                <a:gd name="T4" fmla="*/ 24 w 24"/>
                <a:gd name="T5" fmla="*/ 0 h 200"/>
                <a:gd name="T6" fmla="*/ 24 w 24"/>
                <a:gd name="T7" fmla="*/ 200 h 200"/>
                <a:gd name="T8" fmla="*/ 24 w 24"/>
                <a:gd name="T9" fmla="*/ 200 h 200"/>
                <a:gd name="T10" fmla="*/ 24 w 24"/>
                <a:gd name="T11" fmla="*/ 0 h 200"/>
              </a:gdLst>
              <a:ahLst/>
              <a:cxnLst>
                <a:cxn ang="0">
                  <a:pos x="T0" y="T1"/>
                </a:cxn>
                <a:cxn ang="0">
                  <a:pos x="T2" y="T3"/>
                </a:cxn>
                <a:cxn ang="0">
                  <a:pos x="T4" y="T5"/>
                </a:cxn>
                <a:cxn ang="0">
                  <a:pos x="T6" y="T7"/>
                </a:cxn>
                <a:cxn ang="0">
                  <a:pos x="T8" y="T9"/>
                </a:cxn>
                <a:cxn ang="0">
                  <a:pos x="T10" y="T11"/>
                </a:cxn>
              </a:cxnLst>
              <a:rect l="0" t="0" r="r" b="b"/>
              <a:pathLst>
                <a:path w="24" h="200">
                  <a:moveTo>
                    <a:pt x="24" y="0"/>
                  </a:moveTo>
                  <a:lnTo>
                    <a:pt x="0" y="0"/>
                  </a:lnTo>
                  <a:lnTo>
                    <a:pt x="24" y="0"/>
                  </a:lnTo>
                  <a:lnTo>
                    <a:pt x="24" y="200"/>
                  </a:lnTo>
                  <a:lnTo>
                    <a:pt x="24" y="200"/>
                  </a:lnTo>
                  <a:lnTo>
                    <a:pt x="24" y="0"/>
                  </a:lnTo>
                  <a:close/>
                </a:path>
              </a:pathLst>
            </a:custGeom>
            <a:solidFill>
              <a:srgbClr val="FF90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a:p>
          </p:txBody>
        </p:sp>
        <p:sp>
          <p:nvSpPr>
            <p:cNvPr id="42" name="Freeform 44"/>
            <p:cNvSpPr/>
            <p:nvPr/>
          </p:nvSpPr>
          <p:spPr bwMode="auto">
            <a:xfrm>
              <a:off x="3742707" y="2594908"/>
              <a:ext cx="38100" cy="383639"/>
            </a:xfrm>
            <a:custGeom>
              <a:avLst/>
              <a:gdLst>
                <a:gd name="T0" fmla="*/ 24 w 24"/>
                <a:gd name="T1" fmla="*/ 0 h 200"/>
                <a:gd name="T2" fmla="*/ 0 w 24"/>
                <a:gd name="T3" fmla="*/ 0 h 200"/>
                <a:gd name="T4" fmla="*/ 24 w 24"/>
                <a:gd name="T5" fmla="*/ 0 h 200"/>
                <a:gd name="T6" fmla="*/ 24 w 24"/>
                <a:gd name="T7" fmla="*/ 200 h 200"/>
                <a:gd name="T8" fmla="*/ 24 w 24"/>
                <a:gd name="T9" fmla="*/ 200 h 200"/>
                <a:gd name="T10" fmla="*/ 24 w 24"/>
                <a:gd name="T11" fmla="*/ 0 h 200"/>
              </a:gdLst>
              <a:ahLst/>
              <a:cxnLst>
                <a:cxn ang="0">
                  <a:pos x="T0" y="T1"/>
                </a:cxn>
                <a:cxn ang="0">
                  <a:pos x="T2" y="T3"/>
                </a:cxn>
                <a:cxn ang="0">
                  <a:pos x="T4" y="T5"/>
                </a:cxn>
                <a:cxn ang="0">
                  <a:pos x="T6" y="T7"/>
                </a:cxn>
                <a:cxn ang="0">
                  <a:pos x="T8" y="T9"/>
                </a:cxn>
                <a:cxn ang="0">
                  <a:pos x="T10" y="T11"/>
                </a:cxn>
              </a:cxnLst>
              <a:rect l="0" t="0" r="r" b="b"/>
              <a:pathLst>
                <a:path w="24" h="200">
                  <a:moveTo>
                    <a:pt x="24" y="0"/>
                  </a:moveTo>
                  <a:lnTo>
                    <a:pt x="0" y="0"/>
                  </a:lnTo>
                  <a:lnTo>
                    <a:pt x="24" y="0"/>
                  </a:lnTo>
                  <a:lnTo>
                    <a:pt x="24" y="200"/>
                  </a:lnTo>
                  <a:lnTo>
                    <a:pt x="24" y="200"/>
                  </a:lnTo>
                  <a:lnTo>
                    <a:pt x="2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a:p>
          </p:txBody>
        </p:sp>
        <p:sp>
          <p:nvSpPr>
            <p:cNvPr id="64" name="Freeform 32"/>
            <p:cNvSpPr/>
            <p:nvPr/>
          </p:nvSpPr>
          <p:spPr bwMode="auto">
            <a:xfrm rot="16200000">
              <a:off x="3445077" y="2703312"/>
              <a:ext cx="260437" cy="166828"/>
            </a:xfrm>
            <a:custGeom>
              <a:avLst/>
              <a:gdLst>
                <a:gd name="T0" fmla="*/ 281 w 281"/>
                <a:gd name="T1" fmla="*/ 0 h 90"/>
                <a:gd name="T2" fmla="*/ 139 w 281"/>
                <a:gd name="T3" fmla="*/ 90 h 90"/>
                <a:gd name="T4" fmla="*/ 0 w 281"/>
                <a:gd name="T5" fmla="*/ 3 h 90"/>
                <a:gd name="T6" fmla="*/ 0 w 281"/>
                <a:gd name="T7" fmla="*/ 0 h 90"/>
                <a:gd name="T8" fmla="*/ 281 w 281"/>
                <a:gd name="T9" fmla="*/ 0 h 90"/>
                <a:gd name="T10" fmla="*/ 281 w 281"/>
                <a:gd name="T11" fmla="*/ 0 h 90"/>
              </a:gdLst>
              <a:ahLst/>
              <a:cxnLst>
                <a:cxn ang="0">
                  <a:pos x="T0" y="T1"/>
                </a:cxn>
                <a:cxn ang="0">
                  <a:pos x="T2" y="T3"/>
                </a:cxn>
                <a:cxn ang="0">
                  <a:pos x="T4" y="T5"/>
                </a:cxn>
                <a:cxn ang="0">
                  <a:pos x="T6" y="T7"/>
                </a:cxn>
                <a:cxn ang="0">
                  <a:pos x="T8" y="T9"/>
                </a:cxn>
                <a:cxn ang="0">
                  <a:pos x="T10" y="T11"/>
                </a:cxn>
              </a:cxnLst>
              <a:rect l="0" t="0" r="r" b="b"/>
              <a:pathLst>
                <a:path w="281" h="90">
                  <a:moveTo>
                    <a:pt x="281" y="0"/>
                  </a:moveTo>
                  <a:lnTo>
                    <a:pt x="139" y="90"/>
                  </a:lnTo>
                  <a:lnTo>
                    <a:pt x="0" y="3"/>
                  </a:lnTo>
                  <a:lnTo>
                    <a:pt x="0" y="0"/>
                  </a:lnTo>
                  <a:lnTo>
                    <a:pt x="281" y="0"/>
                  </a:lnTo>
                  <a:lnTo>
                    <a:pt x="281" y="0"/>
                  </a:lnTo>
                  <a:close/>
                </a:path>
              </a:pathLst>
            </a:custGeom>
            <a:solidFill>
              <a:schemeClr val="bg2"/>
            </a:solidFill>
            <a:ln>
              <a:noFill/>
            </a:ln>
          </p:spPr>
          <p:txBody>
            <a:bodyPr/>
            <a:lstStyle/>
            <a:p>
              <a:endParaRPr lang="zh-CN" altLang="en-US" sz="1400"/>
            </a:p>
          </p:txBody>
        </p:sp>
        <p:sp>
          <p:nvSpPr>
            <p:cNvPr id="71" name="TextBox 70"/>
            <p:cNvSpPr txBox="1"/>
            <p:nvPr/>
          </p:nvSpPr>
          <p:spPr bwMode="auto">
            <a:xfrm>
              <a:off x="3786673" y="2594474"/>
              <a:ext cx="5144891" cy="373577"/>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en-US" altLang="zh-CN" sz="1600" dirty="0">
                  <a:solidFill>
                    <a:schemeClr val="accent1"/>
                  </a:solidFill>
                  <a:latin typeface="Times New Roman" panose="02020603050405020304" pitchFamily="18" charset="0"/>
                  <a:cs typeface="Times New Roman" panose="02020603050405020304" pitchFamily="18" charset="0"/>
                </a:rPr>
                <a:t>Ⅲ. Only somewhat counter-intuitive</a:t>
              </a:r>
              <a:endParaRPr lang="zh-CN" altLang="en-US" sz="1600" dirty="0">
                <a:solidFill>
                  <a:schemeClr val="accent1"/>
                </a:solidFill>
                <a:latin typeface="Times New Roman" panose="02020603050405020304" pitchFamily="18" charset="0"/>
                <a:cs typeface="Times New Roman" panose="02020603050405020304" pitchFamily="18" charset="0"/>
              </a:endParaRPr>
            </a:p>
          </p:txBody>
        </p:sp>
        <p:cxnSp>
          <p:nvCxnSpPr>
            <p:cNvPr id="72" name="直接连接符 71"/>
            <p:cNvCxnSpPr/>
            <p:nvPr/>
          </p:nvCxnSpPr>
          <p:spPr>
            <a:xfrm>
              <a:off x="3995936" y="2976643"/>
              <a:ext cx="4104456" cy="0"/>
            </a:xfrm>
            <a:prstGeom prst="line">
              <a:avLst/>
            </a:prstGeom>
            <a:solidFill>
              <a:srgbClr val="070606"/>
            </a:solidFill>
            <a:ln w="15875">
              <a:solidFill>
                <a:schemeClr val="bg2"/>
              </a:solidFill>
              <a:round/>
            </a:ln>
          </p:spPr>
        </p:cxnSp>
      </p:grpSp>
      <p:grpSp>
        <p:nvGrpSpPr>
          <p:cNvPr id="9" name="组合 8"/>
          <p:cNvGrpSpPr/>
          <p:nvPr/>
        </p:nvGrpSpPr>
        <p:grpSpPr>
          <a:xfrm>
            <a:off x="3779915" y="3140780"/>
            <a:ext cx="4176461" cy="370554"/>
            <a:chOff x="3491883" y="3104809"/>
            <a:chExt cx="4608509" cy="408886"/>
          </a:xfrm>
        </p:grpSpPr>
        <p:sp>
          <p:nvSpPr>
            <p:cNvPr id="46" name="Rectangle 26"/>
            <p:cNvSpPr>
              <a:spLocks noChangeArrowheads="1"/>
            </p:cNvSpPr>
            <p:nvPr/>
          </p:nvSpPr>
          <p:spPr bwMode="auto">
            <a:xfrm>
              <a:off x="3693495" y="3104809"/>
              <a:ext cx="87313" cy="383639"/>
            </a:xfrm>
            <a:prstGeom prst="rect">
              <a:avLst/>
            </a:prstGeom>
            <a:solidFill>
              <a:schemeClr val="tx2"/>
            </a:solidFill>
            <a:ln>
              <a:noFill/>
            </a:ln>
          </p:spPr>
          <p:txBody>
            <a:bodyPr/>
            <a:lstStyle/>
            <a:p>
              <a:endParaRPr lang="zh-CN" altLang="en-US" sz="1400"/>
            </a:p>
          </p:txBody>
        </p:sp>
        <p:sp>
          <p:nvSpPr>
            <p:cNvPr id="47" name="Freeform 47"/>
            <p:cNvSpPr/>
            <p:nvPr/>
          </p:nvSpPr>
          <p:spPr bwMode="auto">
            <a:xfrm>
              <a:off x="3742707" y="3104809"/>
              <a:ext cx="38100" cy="383639"/>
            </a:xfrm>
            <a:custGeom>
              <a:avLst/>
              <a:gdLst>
                <a:gd name="T0" fmla="*/ 24 w 24"/>
                <a:gd name="T1" fmla="*/ 0 h 200"/>
                <a:gd name="T2" fmla="*/ 0 w 24"/>
                <a:gd name="T3" fmla="*/ 0 h 200"/>
                <a:gd name="T4" fmla="*/ 24 w 24"/>
                <a:gd name="T5" fmla="*/ 0 h 200"/>
                <a:gd name="T6" fmla="*/ 24 w 24"/>
                <a:gd name="T7" fmla="*/ 200 h 200"/>
                <a:gd name="T8" fmla="*/ 24 w 24"/>
                <a:gd name="T9" fmla="*/ 200 h 200"/>
                <a:gd name="T10" fmla="*/ 24 w 24"/>
                <a:gd name="T11" fmla="*/ 0 h 200"/>
              </a:gdLst>
              <a:ahLst/>
              <a:cxnLst>
                <a:cxn ang="0">
                  <a:pos x="T0" y="T1"/>
                </a:cxn>
                <a:cxn ang="0">
                  <a:pos x="T2" y="T3"/>
                </a:cxn>
                <a:cxn ang="0">
                  <a:pos x="T4" y="T5"/>
                </a:cxn>
                <a:cxn ang="0">
                  <a:pos x="T6" y="T7"/>
                </a:cxn>
                <a:cxn ang="0">
                  <a:pos x="T8" y="T9"/>
                </a:cxn>
                <a:cxn ang="0">
                  <a:pos x="T10" y="T11"/>
                </a:cxn>
              </a:cxnLst>
              <a:rect l="0" t="0" r="r" b="b"/>
              <a:pathLst>
                <a:path w="24" h="200">
                  <a:moveTo>
                    <a:pt x="24" y="0"/>
                  </a:moveTo>
                  <a:lnTo>
                    <a:pt x="0" y="0"/>
                  </a:lnTo>
                  <a:lnTo>
                    <a:pt x="24" y="0"/>
                  </a:lnTo>
                  <a:lnTo>
                    <a:pt x="24" y="200"/>
                  </a:lnTo>
                  <a:lnTo>
                    <a:pt x="24" y="200"/>
                  </a:lnTo>
                  <a:lnTo>
                    <a:pt x="24" y="0"/>
                  </a:lnTo>
                  <a:close/>
                </a:path>
              </a:pathLst>
            </a:custGeom>
            <a:solidFill>
              <a:srgbClr val="FF32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a:p>
          </p:txBody>
        </p:sp>
        <p:sp>
          <p:nvSpPr>
            <p:cNvPr id="48" name="Freeform 48"/>
            <p:cNvSpPr/>
            <p:nvPr/>
          </p:nvSpPr>
          <p:spPr bwMode="auto">
            <a:xfrm>
              <a:off x="3742707" y="3104809"/>
              <a:ext cx="38100" cy="383639"/>
            </a:xfrm>
            <a:custGeom>
              <a:avLst/>
              <a:gdLst>
                <a:gd name="T0" fmla="*/ 24 w 24"/>
                <a:gd name="T1" fmla="*/ 0 h 200"/>
                <a:gd name="T2" fmla="*/ 0 w 24"/>
                <a:gd name="T3" fmla="*/ 0 h 200"/>
                <a:gd name="T4" fmla="*/ 24 w 24"/>
                <a:gd name="T5" fmla="*/ 0 h 200"/>
                <a:gd name="T6" fmla="*/ 24 w 24"/>
                <a:gd name="T7" fmla="*/ 200 h 200"/>
                <a:gd name="T8" fmla="*/ 24 w 24"/>
                <a:gd name="T9" fmla="*/ 200 h 200"/>
                <a:gd name="T10" fmla="*/ 24 w 24"/>
                <a:gd name="T11" fmla="*/ 0 h 200"/>
              </a:gdLst>
              <a:ahLst/>
              <a:cxnLst>
                <a:cxn ang="0">
                  <a:pos x="T0" y="T1"/>
                </a:cxn>
                <a:cxn ang="0">
                  <a:pos x="T2" y="T3"/>
                </a:cxn>
                <a:cxn ang="0">
                  <a:pos x="T4" y="T5"/>
                </a:cxn>
                <a:cxn ang="0">
                  <a:pos x="T6" y="T7"/>
                </a:cxn>
                <a:cxn ang="0">
                  <a:pos x="T8" y="T9"/>
                </a:cxn>
                <a:cxn ang="0">
                  <a:pos x="T10" y="T11"/>
                </a:cxn>
              </a:cxnLst>
              <a:rect l="0" t="0" r="r" b="b"/>
              <a:pathLst>
                <a:path w="24" h="200">
                  <a:moveTo>
                    <a:pt x="24" y="0"/>
                  </a:moveTo>
                  <a:lnTo>
                    <a:pt x="0" y="0"/>
                  </a:lnTo>
                  <a:lnTo>
                    <a:pt x="24" y="0"/>
                  </a:lnTo>
                  <a:lnTo>
                    <a:pt x="24" y="200"/>
                  </a:lnTo>
                  <a:lnTo>
                    <a:pt x="24" y="200"/>
                  </a:lnTo>
                  <a:lnTo>
                    <a:pt x="2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400"/>
            </a:p>
          </p:txBody>
        </p:sp>
        <p:sp>
          <p:nvSpPr>
            <p:cNvPr id="65" name="Freeform 32"/>
            <p:cNvSpPr/>
            <p:nvPr/>
          </p:nvSpPr>
          <p:spPr bwMode="auto">
            <a:xfrm rot="16200000">
              <a:off x="3445078" y="3213214"/>
              <a:ext cx="260437" cy="166828"/>
            </a:xfrm>
            <a:custGeom>
              <a:avLst/>
              <a:gdLst>
                <a:gd name="T0" fmla="*/ 281 w 281"/>
                <a:gd name="T1" fmla="*/ 0 h 90"/>
                <a:gd name="T2" fmla="*/ 139 w 281"/>
                <a:gd name="T3" fmla="*/ 90 h 90"/>
                <a:gd name="T4" fmla="*/ 0 w 281"/>
                <a:gd name="T5" fmla="*/ 3 h 90"/>
                <a:gd name="T6" fmla="*/ 0 w 281"/>
                <a:gd name="T7" fmla="*/ 0 h 90"/>
                <a:gd name="T8" fmla="*/ 281 w 281"/>
                <a:gd name="T9" fmla="*/ 0 h 90"/>
                <a:gd name="T10" fmla="*/ 281 w 281"/>
                <a:gd name="T11" fmla="*/ 0 h 90"/>
              </a:gdLst>
              <a:ahLst/>
              <a:cxnLst>
                <a:cxn ang="0">
                  <a:pos x="T0" y="T1"/>
                </a:cxn>
                <a:cxn ang="0">
                  <a:pos x="T2" y="T3"/>
                </a:cxn>
                <a:cxn ang="0">
                  <a:pos x="T4" y="T5"/>
                </a:cxn>
                <a:cxn ang="0">
                  <a:pos x="T6" y="T7"/>
                </a:cxn>
                <a:cxn ang="0">
                  <a:pos x="T8" y="T9"/>
                </a:cxn>
                <a:cxn ang="0">
                  <a:pos x="T10" y="T11"/>
                </a:cxn>
              </a:cxnLst>
              <a:rect l="0" t="0" r="r" b="b"/>
              <a:pathLst>
                <a:path w="281" h="90">
                  <a:moveTo>
                    <a:pt x="281" y="0"/>
                  </a:moveTo>
                  <a:lnTo>
                    <a:pt x="139" y="90"/>
                  </a:lnTo>
                  <a:lnTo>
                    <a:pt x="0" y="3"/>
                  </a:lnTo>
                  <a:lnTo>
                    <a:pt x="0" y="0"/>
                  </a:lnTo>
                  <a:lnTo>
                    <a:pt x="281" y="0"/>
                  </a:lnTo>
                  <a:lnTo>
                    <a:pt x="281" y="0"/>
                  </a:lnTo>
                  <a:close/>
                </a:path>
              </a:pathLst>
            </a:custGeom>
            <a:solidFill>
              <a:schemeClr val="tx2"/>
            </a:solidFill>
            <a:ln>
              <a:noFill/>
            </a:ln>
          </p:spPr>
          <p:txBody>
            <a:bodyPr/>
            <a:lstStyle/>
            <a:p>
              <a:endParaRPr lang="zh-CN" altLang="en-US" sz="1400"/>
            </a:p>
          </p:txBody>
        </p:sp>
        <p:sp>
          <p:nvSpPr>
            <p:cNvPr id="73" name="TextBox 72"/>
            <p:cNvSpPr txBox="1"/>
            <p:nvPr/>
          </p:nvSpPr>
          <p:spPr bwMode="auto">
            <a:xfrm>
              <a:off x="3848167" y="3140119"/>
              <a:ext cx="3993668" cy="373576"/>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en-US" altLang="zh-CN" sz="1600" dirty="0">
                  <a:solidFill>
                    <a:schemeClr val="accent1"/>
                  </a:solidFill>
                  <a:latin typeface="Times New Roman" panose="02020603050405020304" pitchFamily="18" charset="0"/>
                  <a:cs typeface="Times New Roman" panose="02020603050405020304" pitchFamily="18" charset="0"/>
                </a:rPr>
                <a:t>Ⅳ. Application to arguments</a:t>
              </a:r>
              <a:endParaRPr lang="zh-CN" altLang="en-US" sz="1600" dirty="0">
                <a:solidFill>
                  <a:schemeClr val="accent1"/>
                </a:solidFill>
                <a:latin typeface="Times New Roman" panose="02020603050405020304" pitchFamily="18" charset="0"/>
                <a:cs typeface="Times New Roman" panose="02020603050405020304" pitchFamily="18" charset="0"/>
              </a:endParaRPr>
            </a:p>
          </p:txBody>
        </p:sp>
        <p:cxnSp>
          <p:nvCxnSpPr>
            <p:cNvPr id="74" name="直接连接符 73"/>
            <p:cNvCxnSpPr/>
            <p:nvPr/>
          </p:nvCxnSpPr>
          <p:spPr>
            <a:xfrm>
              <a:off x="3995936" y="3485071"/>
              <a:ext cx="4104456" cy="0"/>
            </a:xfrm>
            <a:prstGeom prst="line">
              <a:avLst/>
            </a:prstGeom>
            <a:solidFill>
              <a:srgbClr val="070606"/>
            </a:solidFill>
            <a:ln w="15875">
              <a:solidFill>
                <a:schemeClr val="tx2"/>
              </a:solidFill>
              <a:round/>
            </a:ln>
          </p:spPr>
        </p:cxnSp>
      </p:grpSp>
      <p:grpSp>
        <p:nvGrpSpPr>
          <p:cNvPr id="10" name="组合 9"/>
          <p:cNvGrpSpPr/>
          <p:nvPr/>
        </p:nvGrpSpPr>
        <p:grpSpPr>
          <a:xfrm>
            <a:off x="3779916" y="3663226"/>
            <a:ext cx="4361032" cy="348685"/>
            <a:chOff x="3491884" y="3627155"/>
            <a:chExt cx="4812174" cy="384755"/>
          </a:xfrm>
        </p:grpSpPr>
        <p:sp>
          <p:nvSpPr>
            <p:cNvPr id="52" name="Rectangle 27"/>
            <p:cNvSpPr>
              <a:spLocks noChangeArrowheads="1"/>
            </p:cNvSpPr>
            <p:nvPr/>
          </p:nvSpPr>
          <p:spPr bwMode="auto">
            <a:xfrm>
              <a:off x="3693495" y="3634026"/>
              <a:ext cx="87313" cy="377884"/>
            </a:xfrm>
            <a:prstGeom prst="rect">
              <a:avLst/>
            </a:prstGeom>
            <a:solidFill>
              <a:schemeClr val="bg1"/>
            </a:solidFill>
            <a:ln>
              <a:noFill/>
            </a:ln>
          </p:spPr>
          <p:txBody>
            <a:bodyPr/>
            <a:lstStyle/>
            <a:p>
              <a:endParaRPr lang="zh-CN" altLang="en-US" sz="1400"/>
            </a:p>
          </p:txBody>
        </p:sp>
        <p:sp>
          <p:nvSpPr>
            <p:cNvPr id="54" name="Freeform 51"/>
            <p:cNvSpPr/>
            <p:nvPr/>
          </p:nvSpPr>
          <p:spPr bwMode="auto">
            <a:xfrm>
              <a:off x="3742707" y="3634026"/>
              <a:ext cx="38100" cy="377884"/>
            </a:xfrm>
            <a:custGeom>
              <a:avLst/>
              <a:gdLst>
                <a:gd name="T0" fmla="*/ 24 w 24"/>
                <a:gd name="T1" fmla="*/ 0 h 197"/>
                <a:gd name="T2" fmla="*/ 0 w 24"/>
                <a:gd name="T3" fmla="*/ 0 h 197"/>
                <a:gd name="T4" fmla="*/ 24 w 24"/>
                <a:gd name="T5" fmla="*/ 0 h 197"/>
                <a:gd name="T6" fmla="*/ 24 w 24"/>
                <a:gd name="T7" fmla="*/ 197 h 197"/>
                <a:gd name="T8" fmla="*/ 24 w 24"/>
                <a:gd name="T9" fmla="*/ 197 h 197"/>
                <a:gd name="T10" fmla="*/ 24 w 24"/>
                <a:gd name="T11" fmla="*/ 0 h 197"/>
              </a:gdLst>
              <a:ahLst/>
              <a:cxnLst>
                <a:cxn ang="0">
                  <a:pos x="T0" y="T1"/>
                </a:cxn>
                <a:cxn ang="0">
                  <a:pos x="T2" y="T3"/>
                </a:cxn>
                <a:cxn ang="0">
                  <a:pos x="T4" y="T5"/>
                </a:cxn>
                <a:cxn ang="0">
                  <a:pos x="T6" y="T7"/>
                </a:cxn>
                <a:cxn ang="0">
                  <a:pos x="T8" y="T9"/>
                </a:cxn>
                <a:cxn ang="0">
                  <a:pos x="T10" y="T11"/>
                </a:cxn>
              </a:cxnLst>
              <a:rect l="0" t="0" r="r" b="b"/>
              <a:pathLst>
                <a:path w="24" h="197">
                  <a:moveTo>
                    <a:pt x="24" y="0"/>
                  </a:moveTo>
                  <a:lnTo>
                    <a:pt x="0" y="0"/>
                  </a:lnTo>
                  <a:lnTo>
                    <a:pt x="24" y="0"/>
                  </a:lnTo>
                  <a:lnTo>
                    <a:pt x="24" y="197"/>
                  </a:lnTo>
                  <a:lnTo>
                    <a:pt x="24" y="197"/>
                  </a:lnTo>
                  <a:lnTo>
                    <a:pt x="24" y="0"/>
                  </a:lnTo>
                  <a:close/>
                </a:path>
              </a:pathLst>
            </a:custGeom>
            <a:solidFill>
              <a:schemeClr val="bg1"/>
            </a:solidFill>
            <a:ln>
              <a:noFill/>
            </a:ln>
          </p:spPr>
          <p:txBody>
            <a:bodyPr vert="horz" wrap="square" lIns="91440" tIns="45720" rIns="91440" bIns="45720" numCol="1" anchor="t" anchorCtr="0" compatLnSpc="1"/>
            <a:lstStyle/>
            <a:p>
              <a:endParaRPr lang="zh-CN" altLang="en-US" sz="1400"/>
            </a:p>
          </p:txBody>
        </p:sp>
        <p:sp>
          <p:nvSpPr>
            <p:cNvPr id="55" name="Freeform 52"/>
            <p:cNvSpPr/>
            <p:nvPr/>
          </p:nvSpPr>
          <p:spPr bwMode="auto">
            <a:xfrm>
              <a:off x="3742707" y="3634026"/>
              <a:ext cx="38100" cy="377884"/>
            </a:xfrm>
            <a:custGeom>
              <a:avLst/>
              <a:gdLst>
                <a:gd name="T0" fmla="*/ 24 w 24"/>
                <a:gd name="T1" fmla="*/ 0 h 197"/>
                <a:gd name="T2" fmla="*/ 0 w 24"/>
                <a:gd name="T3" fmla="*/ 0 h 197"/>
                <a:gd name="T4" fmla="*/ 24 w 24"/>
                <a:gd name="T5" fmla="*/ 0 h 197"/>
                <a:gd name="T6" fmla="*/ 24 w 24"/>
                <a:gd name="T7" fmla="*/ 197 h 197"/>
                <a:gd name="T8" fmla="*/ 24 w 24"/>
                <a:gd name="T9" fmla="*/ 197 h 197"/>
                <a:gd name="T10" fmla="*/ 24 w 24"/>
                <a:gd name="T11" fmla="*/ 0 h 197"/>
              </a:gdLst>
              <a:ahLst/>
              <a:cxnLst>
                <a:cxn ang="0">
                  <a:pos x="T0" y="T1"/>
                </a:cxn>
                <a:cxn ang="0">
                  <a:pos x="T2" y="T3"/>
                </a:cxn>
                <a:cxn ang="0">
                  <a:pos x="T4" y="T5"/>
                </a:cxn>
                <a:cxn ang="0">
                  <a:pos x="T6" y="T7"/>
                </a:cxn>
                <a:cxn ang="0">
                  <a:pos x="T8" y="T9"/>
                </a:cxn>
                <a:cxn ang="0">
                  <a:pos x="T10" y="T11"/>
                </a:cxn>
              </a:cxnLst>
              <a:rect l="0" t="0" r="r" b="b"/>
              <a:pathLst>
                <a:path w="24" h="197">
                  <a:moveTo>
                    <a:pt x="24" y="0"/>
                  </a:moveTo>
                  <a:lnTo>
                    <a:pt x="0" y="0"/>
                  </a:lnTo>
                  <a:lnTo>
                    <a:pt x="24" y="0"/>
                  </a:lnTo>
                  <a:lnTo>
                    <a:pt x="24" y="197"/>
                  </a:lnTo>
                  <a:lnTo>
                    <a:pt x="24" y="197"/>
                  </a:lnTo>
                  <a:lnTo>
                    <a:pt x="24" y="0"/>
                  </a:lnTo>
                </a:path>
              </a:pathLst>
            </a:custGeom>
            <a:solidFill>
              <a:schemeClr val="bg1"/>
            </a:solidFill>
            <a:ln>
              <a:noFill/>
            </a:ln>
          </p:spPr>
          <p:txBody>
            <a:bodyPr vert="horz" wrap="square" lIns="91440" tIns="45720" rIns="91440" bIns="45720" numCol="1" anchor="t" anchorCtr="0" compatLnSpc="1"/>
            <a:lstStyle/>
            <a:p>
              <a:endParaRPr lang="zh-CN" altLang="en-US" sz="1400"/>
            </a:p>
          </p:txBody>
        </p:sp>
        <p:sp>
          <p:nvSpPr>
            <p:cNvPr id="66" name="Freeform 32"/>
            <p:cNvSpPr/>
            <p:nvPr/>
          </p:nvSpPr>
          <p:spPr bwMode="auto">
            <a:xfrm rot="16200000">
              <a:off x="3445079" y="3739553"/>
              <a:ext cx="260437" cy="166828"/>
            </a:xfrm>
            <a:custGeom>
              <a:avLst/>
              <a:gdLst>
                <a:gd name="T0" fmla="*/ 281 w 281"/>
                <a:gd name="T1" fmla="*/ 0 h 90"/>
                <a:gd name="T2" fmla="*/ 139 w 281"/>
                <a:gd name="T3" fmla="*/ 90 h 90"/>
                <a:gd name="T4" fmla="*/ 0 w 281"/>
                <a:gd name="T5" fmla="*/ 3 h 90"/>
                <a:gd name="T6" fmla="*/ 0 w 281"/>
                <a:gd name="T7" fmla="*/ 0 h 90"/>
                <a:gd name="T8" fmla="*/ 281 w 281"/>
                <a:gd name="T9" fmla="*/ 0 h 90"/>
                <a:gd name="T10" fmla="*/ 281 w 281"/>
                <a:gd name="T11" fmla="*/ 0 h 90"/>
              </a:gdLst>
              <a:ahLst/>
              <a:cxnLst>
                <a:cxn ang="0">
                  <a:pos x="T0" y="T1"/>
                </a:cxn>
                <a:cxn ang="0">
                  <a:pos x="T2" y="T3"/>
                </a:cxn>
                <a:cxn ang="0">
                  <a:pos x="T4" y="T5"/>
                </a:cxn>
                <a:cxn ang="0">
                  <a:pos x="T6" y="T7"/>
                </a:cxn>
                <a:cxn ang="0">
                  <a:pos x="T8" y="T9"/>
                </a:cxn>
                <a:cxn ang="0">
                  <a:pos x="T10" y="T11"/>
                </a:cxn>
              </a:cxnLst>
              <a:rect l="0" t="0" r="r" b="b"/>
              <a:pathLst>
                <a:path w="281" h="90">
                  <a:moveTo>
                    <a:pt x="281" y="0"/>
                  </a:moveTo>
                  <a:lnTo>
                    <a:pt x="139" y="90"/>
                  </a:lnTo>
                  <a:lnTo>
                    <a:pt x="0" y="3"/>
                  </a:lnTo>
                  <a:lnTo>
                    <a:pt x="0" y="0"/>
                  </a:lnTo>
                  <a:lnTo>
                    <a:pt x="281" y="0"/>
                  </a:lnTo>
                  <a:lnTo>
                    <a:pt x="281" y="0"/>
                  </a:lnTo>
                  <a:close/>
                </a:path>
              </a:pathLst>
            </a:custGeom>
            <a:solidFill>
              <a:schemeClr val="bg1"/>
            </a:solidFill>
            <a:ln>
              <a:noFill/>
            </a:ln>
          </p:spPr>
          <p:txBody>
            <a:bodyPr/>
            <a:lstStyle/>
            <a:p>
              <a:endParaRPr lang="zh-CN" altLang="en-US" sz="1400"/>
            </a:p>
          </p:txBody>
        </p:sp>
        <p:sp>
          <p:nvSpPr>
            <p:cNvPr id="75" name="TextBox 74"/>
            <p:cNvSpPr txBox="1"/>
            <p:nvPr/>
          </p:nvSpPr>
          <p:spPr bwMode="auto">
            <a:xfrm>
              <a:off x="3780804" y="3627155"/>
              <a:ext cx="4523254" cy="373576"/>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anose="020B0503020204020204" pitchFamily="34" charset="-122"/>
                  <a:ea typeface="微软雅黑" panose="020B0503020204020204" pitchFamily="34" charset="-122"/>
                  <a:cs typeface="Arial" panose="020B0604020202020204" pitchFamily="34" charset="0"/>
                </a:defRPr>
              </a:lvl1pPr>
            </a:lstStyle>
            <a:p>
              <a:r>
                <a:rPr lang="en-US" altLang="zh-CN" sz="1600" dirty="0">
                  <a:solidFill>
                    <a:schemeClr val="accent1"/>
                  </a:solidFill>
                  <a:latin typeface="Times New Roman" panose="02020603050405020304" pitchFamily="18" charset="0"/>
                  <a:cs typeface="Times New Roman" panose="02020603050405020304" pitchFamily="18" charset="0"/>
                </a:rPr>
                <a:t>Ⅴ. Question and answer session</a:t>
              </a:r>
              <a:endParaRPr lang="zh-CN" altLang="en-US" sz="1600" dirty="0">
                <a:solidFill>
                  <a:schemeClr val="accent1"/>
                </a:solidFill>
                <a:latin typeface="Times New Roman" panose="02020603050405020304" pitchFamily="18" charset="0"/>
                <a:cs typeface="Times New Roman" panose="02020603050405020304" pitchFamily="18" charset="0"/>
              </a:endParaRPr>
            </a:p>
          </p:txBody>
        </p:sp>
        <p:cxnSp>
          <p:nvCxnSpPr>
            <p:cNvPr id="76" name="直接连接符 75"/>
            <p:cNvCxnSpPr/>
            <p:nvPr/>
          </p:nvCxnSpPr>
          <p:spPr>
            <a:xfrm>
              <a:off x="3995936" y="3991379"/>
              <a:ext cx="4104456" cy="0"/>
            </a:xfrm>
            <a:prstGeom prst="line">
              <a:avLst/>
            </a:prstGeom>
            <a:solidFill>
              <a:srgbClr val="070606"/>
            </a:solidFill>
            <a:ln w="15875">
              <a:solidFill>
                <a:schemeClr val="bg1"/>
              </a:solidFill>
              <a:round/>
            </a:ln>
          </p:spPr>
        </p:cxnSp>
      </p:grpSp>
      <p:grpSp>
        <p:nvGrpSpPr>
          <p:cNvPr id="77" name="组合 76"/>
          <p:cNvGrpSpPr/>
          <p:nvPr/>
        </p:nvGrpSpPr>
        <p:grpSpPr bwMode="auto">
          <a:xfrm>
            <a:off x="1508388" y="2067694"/>
            <a:ext cx="1447942" cy="1351945"/>
            <a:chOff x="4546391" y="1178555"/>
            <a:chExt cx="1191378" cy="1111613"/>
          </a:xfrm>
        </p:grpSpPr>
        <p:sp>
          <p:nvSpPr>
            <p:cNvPr id="78" name="Freeform 552"/>
            <p:cNvSpPr/>
            <p:nvPr/>
          </p:nvSpPr>
          <p:spPr bwMode="auto">
            <a:xfrm>
              <a:off x="4546391" y="1178555"/>
              <a:ext cx="1098796" cy="1111613"/>
            </a:xfrm>
            <a:custGeom>
              <a:avLst/>
              <a:gdLst>
                <a:gd name="T0" fmla="*/ 2147483647 w 177"/>
                <a:gd name="T1" fmla="*/ 0 h 179"/>
                <a:gd name="T2" fmla="*/ 2147483647 w 177"/>
                <a:gd name="T3" fmla="*/ 0 h 179"/>
                <a:gd name="T4" fmla="*/ 2147483647 w 177"/>
                <a:gd name="T5" fmla="*/ 0 h 179"/>
                <a:gd name="T6" fmla="*/ 0 w 177"/>
                <a:gd name="T7" fmla="*/ 2147483647 h 179"/>
                <a:gd name="T8" fmla="*/ 0 w 177"/>
                <a:gd name="T9" fmla="*/ 2147483647 h 179"/>
                <a:gd name="T10" fmla="*/ 0 w 177"/>
                <a:gd name="T11" fmla="*/ 2147483647 h 179"/>
                <a:gd name="T12" fmla="*/ 0 w 177"/>
                <a:gd name="T13" fmla="*/ 2147483647 h 179"/>
                <a:gd name="T14" fmla="*/ 2147483647 w 177"/>
                <a:gd name="T15" fmla="*/ 2147483647 h 179"/>
                <a:gd name="T16" fmla="*/ 2147483647 w 177"/>
                <a:gd name="T17" fmla="*/ 2147483647 h 179"/>
                <a:gd name="T18" fmla="*/ 2147483647 w 177"/>
                <a:gd name="T19" fmla="*/ 2147483647 h 179"/>
                <a:gd name="T20" fmla="*/ 2147483647 w 177"/>
                <a:gd name="T21" fmla="*/ 2147483647 h 179"/>
                <a:gd name="T22" fmla="*/ 2147483647 w 177"/>
                <a:gd name="T23" fmla="*/ 2147483647 h 179"/>
                <a:gd name="T24" fmla="*/ 2147483647 w 177"/>
                <a:gd name="T25" fmla="*/ 2147483647 h 179"/>
                <a:gd name="T26" fmla="*/ 2147483647 w 177"/>
                <a:gd name="T27" fmla="*/ 0 h 179"/>
                <a:gd name="T28" fmla="*/ 2147483647 w 177"/>
                <a:gd name="T29" fmla="*/ 0 h 1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77" h="179">
                  <a:moveTo>
                    <a:pt x="119" y="0"/>
                  </a:moveTo>
                  <a:cubicBezTo>
                    <a:pt x="60" y="0"/>
                    <a:pt x="60" y="0"/>
                    <a:pt x="60" y="0"/>
                  </a:cubicBezTo>
                  <a:cubicBezTo>
                    <a:pt x="58" y="0"/>
                    <a:pt x="58" y="0"/>
                    <a:pt x="58" y="0"/>
                  </a:cubicBezTo>
                  <a:cubicBezTo>
                    <a:pt x="26" y="0"/>
                    <a:pt x="0" y="26"/>
                    <a:pt x="0" y="58"/>
                  </a:cubicBezTo>
                  <a:cubicBezTo>
                    <a:pt x="0" y="96"/>
                    <a:pt x="0" y="96"/>
                    <a:pt x="0" y="96"/>
                  </a:cubicBezTo>
                  <a:cubicBezTo>
                    <a:pt x="0" y="121"/>
                    <a:pt x="0" y="121"/>
                    <a:pt x="0" y="121"/>
                  </a:cubicBezTo>
                  <a:cubicBezTo>
                    <a:pt x="0" y="179"/>
                    <a:pt x="0" y="179"/>
                    <a:pt x="0" y="179"/>
                  </a:cubicBezTo>
                  <a:cubicBezTo>
                    <a:pt x="58" y="179"/>
                    <a:pt x="58" y="179"/>
                    <a:pt x="58" y="179"/>
                  </a:cubicBezTo>
                  <a:cubicBezTo>
                    <a:pt x="116" y="179"/>
                    <a:pt x="116" y="179"/>
                    <a:pt x="116" y="179"/>
                  </a:cubicBezTo>
                  <a:cubicBezTo>
                    <a:pt x="119" y="179"/>
                    <a:pt x="119" y="179"/>
                    <a:pt x="119" y="179"/>
                  </a:cubicBezTo>
                  <a:cubicBezTo>
                    <a:pt x="151" y="179"/>
                    <a:pt x="177" y="153"/>
                    <a:pt x="177" y="121"/>
                  </a:cubicBezTo>
                  <a:cubicBezTo>
                    <a:pt x="177" y="83"/>
                    <a:pt x="177" y="83"/>
                    <a:pt x="177" y="83"/>
                  </a:cubicBezTo>
                  <a:cubicBezTo>
                    <a:pt x="177" y="58"/>
                    <a:pt x="177" y="58"/>
                    <a:pt x="177" y="58"/>
                  </a:cubicBezTo>
                  <a:cubicBezTo>
                    <a:pt x="177" y="0"/>
                    <a:pt x="177" y="0"/>
                    <a:pt x="177" y="0"/>
                  </a:cubicBezTo>
                  <a:lnTo>
                    <a:pt x="119" y="0"/>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9" name="矩形 1"/>
            <p:cNvSpPr>
              <a:spLocks noChangeArrowheads="1"/>
            </p:cNvSpPr>
            <p:nvPr/>
          </p:nvSpPr>
          <p:spPr bwMode="auto">
            <a:xfrm>
              <a:off x="4553915" y="1449199"/>
              <a:ext cx="1183854" cy="4768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50000"/>
                </a:lnSpc>
                <a:spcBef>
                  <a:spcPts val="1000"/>
                </a:spcBef>
              </a:pPr>
              <a:r>
                <a:rPr lang="en-US" altLang="zh-CN" sz="24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Directory</a:t>
              </a:r>
              <a:endParaRPr lang="zh-CN" altLang="en-US" sz="2400"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mc:AlternateContent xmlns:mc="http://schemas.openxmlformats.org/markup-compatibility/2006" xmlns:p14="http://schemas.microsoft.com/office/powerpoint/2010/main">
    <mc:Choice Requires="p14">
      <p:transition spd="slow" p14:dur="900" advClick="0" advTm="5000">
        <p14:warp dir="in"/>
      </p:transition>
    </mc:Choice>
    <mc:Fallback xmlns="">
      <p:transition spd="slow" advClick="0" advTm="5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p:cTn id="7" dur="500" fill="hold"/>
                                        <p:tgtEl>
                                          <p:spTgt spid="77"/>
                                        </p:tgtEl>
                                        <p:attrNameLst>
                                          <p:attrName>ppt_w</p:attrName>
                                        </p:attrNameLst>
                                      </p:cBhvr>
                                      <p:tavLst>
                                        <p:tav tm="0">
                                          <p:val>
                                            <p:fltVal val="0"/>
                                          </p:val>
                                        </p:tav>
                                        <p:tav tm="100000">
                                          <p:val>
                                            <p:strVal val="#ppt_w"/>
                                          </p:val>
                                        </p:tav>
                                      </p:tavLst>
                                    </p:anim>
                                    <p:anim calcmode="lin" valueType="num">
                                      <p:cBhvr>
                                        <p:cTn id="8" dur="500" fill="hold"/>
                                        <p:tgtEl>
                                          <p:spTgt spid="77"/>
                                        </p:tgtEl>
                                        <p:attrNameLst>
                                          <p:attrName>ppt_h</p:attrName>
                                        </p:attrNameLst>
                                      </p:cBhvr>
                                      <p:tavLst>
                                        <p:tav tm="0">
                                          <p:val>
                                            <p:fltVal val="0"/>
                                          </p:val>
                                        </p:tav>
                                        <p:tav tm="100000">
                                          <p:val>
                                            <p:strVal val="#ppt_h"/>
                                          </p:val>
                                        </p:tav>
                                      </p:tavLst>
                                    </p:anim>
                                    <p:animEffect transition="in" filter="fade">
                                      <p:cBhvr>
                                        <p:cTn id="9" dur="500"/>
                                        <p:tgtEl>
                                          <p:spTgt spid="77"/>
                                        </p:tgtEl>
                                      </p:cBhvr>
                                    </p:animEffect>
                                  </p:childTnLst>
                                </p:cTn>
                              </p:par>
                            </p:childTnLst>
                          </p:cTn>
                        </p:par>
                        <p:par>
                          <p:cTn id="10" fill="hold">
                            <p:stCondLst>
                              <p:cond delay="500"/>
                            </p:stCondLst>
                            <p:childTnLst>
                              <p:par>
                                <p:cTn id="11" presetID="12" presetClass="entr" presetSubtype="8"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p:tgtEl>
                                          <p:spTgt spid="6"/>
                                        </p:tgtEl>
                                        <p:attrNameLst>
                                          <p:attrName>ppt_x</p:attrName>
                                        </p:attrNameLst>
                                      </p:cBhvr>
                                      <p:tavLst>
                                        <p:tav tm="0">
                                          <p:val>
                                            <p:strVal val="#ppt_x-#ppt_w*1.125000"/>
                                          </p:val>
                                        </p:tav>
                                        <p:tav tm="100000">
                                          <p:val>
                                            <p:strVal val="#ppt_x"/>
                                          </p:val>
                                        </p:tav>
                                      </p:tavLst>
                                    </p:anim>
                                    <p:animEffect transition="in" filter="wipe(right)">
                                      <p:cBhvr>
                                        <p:cTn id="14" dur="500"/>
                                        <p:tgtEl>
                                          <p:spTgt spid="6"/>
                                        </p:tgtEl>
                                      </p:cBhvr>
                                    </p:animEffect>
                                  </p:childTnLst>
                                </p:cTn>
                              </p:par>
                            </p:childTnLst>
                          </p:cTn>
                        </p:par>
                        <p:par>
                          <p:cTn id="15" fill="hold">
                            <p:stCondLst>
                              <p:cond delay="1000"/>
                            </p:stCondLst>
                            <p:childTnLst>
                              <p:par>
                                <p:cTn id="16" presetID="12" presetClass="entr" presetSubtype="8"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p:tgtEl>
                                          <p:spTgt spid="7"/>
                                        </p:tgtEl>
                                        <p:attrNameLst>
                                          <p:attrName>ppt_x</p:attrName>
                                        </p:attrNameLst>
                                      </p:cBhvr>
                                      <p:tavLst>
                                        <p:tav tm="0">
                                          <p:val>
                                            <p:strVal val="#ppt_x-#ppt_w*1.125000"/>
                                          </p:val>
                                        </p:tav>
                                        <p:tav tm="100000">
                                          <p:val>
                                            <p:strVal val="#ppt_x"/>
                                          </p:val>
                                        </p:tav>
                                      </p:tavLst>
                                    </p:anim>
                                    <p:animEffect transition="in" filter="wipe(right)">
                                      <p:cBhvr>
                                        <p:cTn id="19" dur="500"/>
                                        <p:tgtEl>
                                          <p:spTgt spid="7"/>
                                        </p:tgtEl>
                                      </p:cBhvr>
                                    </p:animEffect>
                                  </p:childTnLst>
                                </p:cTn>
                              </p:par>
                            </p:childTnLst>
                          </p:cTn>
                        </p:par>
                        <p:par>
                          <p:cTn id="20" fill="hold">
                            <p:stCondLst>
                              <p:cond delay="1500"/>
                            </p:stCondLst>
                            <p:childTnLst>
                              <p:par>
                                <p:cTn id="21" presetID="12" presetClass="entr" presetSubtype="8"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p:tgtEl>
                                          <p:spTgt spid="8"/>
                                        </p:tgtEl>
                                        <p:attrNameLst>
                                          <p:attrName>ppt_x</p:attrName>
                                        </p:attrNameLst>
                                      </p:cBhvr>
                                      <p:tavLst>
                                        <p:tav tm="0">
                                          <p:val>
                                            <p:strVal val="#ppt_x-#ppt_w*1.125000"/>
                                          </p:val>
                                        </p:tav>
                                        <p:tav tm="100000">
                                          <p:val>
                                            <p:strVal val="#ppt_x"/>
                                          </p:val>
                                        </p:tav>
                                      </p:tavLst>
                                    </p:anim>
                                    <p:animEffect transition="in" filter="wipe(right)">
                                      <p:cBhvr>
                                        <p:cTn id="24" dur="500"/>
                                        <p:tgtEl>
                                          <p:spTgt spid="8"/>
                                        </p:tgtEl>
                                      </p:cBhvr>
                                    </p:animEffect>
                                  </p:childTnLst>
                                </p:cTn>
                              </p:par>
                            </p:childTnLst>
                          </p:cTn>
                        </p:par>
                        <p:par>
                          <p:cTn id="25" fill="hold">
                            <p:stCondLst>
                              <p:cond delay="2000"/>
                            </p:stCondLst>
                            <p:childTnLst>
                              <p:par>
                                <p:cTn id="26" presetID="12" presetClass="entr" presetSubtype="8" fill="hold"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p:tgtEl>
                                          <p:spTgt spid="9"/>
                                        </p:tgtEl>
                                        <p:attrNameLst>
                                          <p:attrName>ppt_x</p:attrName>
                                        </p:attrNameLst>
                                      </p:cBhvr>
                                      <p:tavLst>
                                        <p:tav tm="0">
                                          <p:val>
                                            <p:strVal val="#ppt_x-#ppt_w*1.125000"/>
                                          </p:val>
                                        </p:tav>
                                        <p:tav tm="100000">
                                          <p:val>
                                            <p:strVal val="#ppt_x"/>
                                          </p:val>
                                        </p:tav>
                                      </p:tavLst>
                                    </p:anim>
                                    <p:animEffect transition="in" filter="wipe(right)">
                                      <p:cBhvr>
                                        <p:cTn id="29" dur="500"/>
                                        <p:tgtEl>
                                          <p:spTgt spid="9"/>
                                        </p:tgtEl>
                                      </p:cBhvr>
                                    </p:animEffect>
                                  </p:childTnLst>
                                </p:cTn>
                              </p:par>
                            </p:childTnLst>
                          </p:cTn>
                        </p:par>
                        <p:par>
                          <p:cTn id="30" fill="hold">
                            <p:stCondLst>
                              <p:cond delay="2500"/>
                            </p:stCondLst>
                            <p:childTnLst>
                              <p:par>
                                <p:cTn id="31" presetID="12" presetClass="entr" presetSubtype="8"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p:tgtEl>
                                          <p:spTgt spid="10"/>
                                        </p:tgtEl>
                                        <p:attrNameLst>
                                          <p:attrName>ppt_x</p:attrName>
                                        </p:attrNameLst>
                                      </p:cBhvr>
                                      <p:tavLst>
                                        <p:tav tm="0">
                                          <p:val>
                                            <p:strVal val="#ppt_x-#ppt_w*1.125000"/>
                                          </p:val>
                                        </p:tav>
                                        <p:tav tm="100000">
                                          <p:val>
                                            <p:strVal val="#ppt_x"/>
                                          </p:val>
                                        </p:tav>
                                      </p:tavLst>
                                    </p:anim>
                                    <p:animEffect transition="in" filter="wipe(right)">
                                      <p:cBhvr>
                                        <p:cTn id="3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0011F-F6AC-F0B3-F3CF-D08FC9F5D3F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65C5BBB-7F08-D79F-636F-CDE127E796E2}"/>
              </a:ext>
            </a:extLst>
          </p:cNvPr>
          <p:cNvSpPr txBox="1"/>
          <p:nvPr/>
        </p:nvSpPr>
        <p:spPr>
          <a:xfrm>
            <a:off x="2987824" y="2248584"/>
            <a:ext cx="3168352" cy="646331"/>
          </a:xfrm>
          <a:prstGeom prst="rect">
            <a:avLst/>
          </a:prstGeom>
          <a:noFill/>
        </p:spPr>
        <p:txBody>
          <a:bodyPr wrap="square" rtlCol="0">
            <a:spAutoFit/>
          </a:bodyPr>
          <a:lstStyle/>
          <a:p>
            <a:r>
              <a:rPr lang="en-US" altLang="zh-CN" sz="3600" b="1" dirty="0">
                <a:solidFill>
                  <a:srgbClr val="080808"/>
                </a:solidFill>
                <a:latin typeface="Times New Roman" panose="02020603050405020304" pitchFamily="18" charset="0"/>
                <a:cs typeface="Times New Roman" panose="02020603050405020304" pitchFamily="18" charset="0"/>
              </a:rPr>
              <a:t>Ⅰ. Introduction</a:t>
            </a:r>
            <a:endParaRPr lang="zh-CN" altLang="en-US" sz="3600" dirty="0">
              <a:solidFill>
                <a:srgbClr val="080808"/>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F5DFE4E2-F03C-B595-0D9C-1DB69FAC7183}"/>
              </a:ext>
            </a:extLst>
          </p:cNvPr>
          <p:cNvSpPr/>
          <p:nvPr/>
        </p:nvSpPr>
        <p:spPr>
          <a:xfrm>
            <a:off x="251520" y="4587974"/>
            <a:ext cx="757364" cy="338554"/>
          </a:xfrm>
          <a:prstGeom prst="rect">
            <a:avLst/>
          </a:prstGeom>
          <a:noFill/>
        </p:spPr>
        <p:txBody>
          <a:bodyPr wrap="square" lIns="91440" tIns="45720" rIns="91440" bIns="45720">
            <a:spAutoFit/>
          </a:bodyPr>
          <a:lstStyle/>
          <a:p>
            <a:pPr algn="ctr"/>
            <a:r>
              <a:rPr lang="en-US" altLang="zh-CN"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Page 1</a:t>
            </a:r>
            <a:endParaRPr lang="zh-CN" altLang="en-US"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631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AFAC7-F4CB-CF8A-D996-E73FF4B8A19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1C540436-747E-54C2-0D91-811D264FCCBB}"/>
              </a:ext>
            </a:extLst>
          </p:cNvPr>
          <p:cNvSpPr txBox="1"/>
          <p:nvPr/>
        </p:nvSpPr>
        <p:spPr>
          <a:xfrm>
            <a:off x="683568" y="411510"/>
            <a:ext cx="1711553" cy="369332"/>
          </a:xfrm>
          <a:prstGeom prst="rect">
            <a:avLst/>
          </a:prstGeom>
          <a:noFill/>
        </p:spPr>
        <p:txBody>
          <a:bodyPr wrap="square" rtlCol="0">
            <a:spAutoFit/>
          </a:bodyPr>
          <a:lstStyle/>
          <a:p>
            <a:pPr algn="just"/>
            <a:r>
              <a:rPr lang="en-US" altLang="zh-CN" dirty="0">
                <a:solidFill>
                  <a:srgbClr val="080808"/>
                </a:solidFill>
                <a:latin typeface="+mj-lt"/>
                <a:cs typeface="Times New Roman" panose="02020603050405020304" pitchFamily="18" charset="0"/>
              </a:rPr>
              <a:t>Ⅰ.</a:t>
            </a:r>
            <a:r>
              <a:rPr lang="zh-CN" altLang="en-US" dirty="0">
                <a:solidFill>
                  <a:srgbClr val="080808"/>
                </a:solidFill>
                <a:latin typeface="+mj-lt"/>
                <a:cs typeface="Times New Roman" panose="02020603050405020304" pitchFamily="18" charset="0"/>
              </a:rPr>
              <a:t> </a:t>
            </a:r>
            <a:r>
              <a:rPr lang="en-US" altLang="zh-CN" dirty="0">
                <a:solidFill>
                  <a:srgbClr val="080808"/>
                </a:solidFill>
                <a:latin typeface="+mj-lt"/>
                <a:cs typeface="Times New Roman" panose="02020603050405020304" pitchFamily="18" charset="0"/>
              </a:rPr>
              <a:t>Introduction</a:t>
            </a:r>
            <a:endParaRPr lang="zh-CN" altLang="en-US" dirty="0">
              <a:solidFill>
                <a:srgbClr val="080808"/>
              </a:solidFill>
              <a:latin typeface="+mj-lt"/>
              <a:cs typeface="Times New Roman" panose="02020603050405020304" pitchFamily="18" charset="0"/>
            </a:endParaRPr>
          </a:p>
        </p:txBody>
      </p:sp>
      <p:cxnSp>
        <p:nvCxnSpPr>
          <p:cNvPr id="5" name="直接连接符 4">
            <a:extLst>
              <a:ext uri="{FF2B5EF4-FFF2-40B4-BE49-F238E27FC236}">
                <a16:creationId xmlns:a16="http://schemas.microsoft.com/office/drawing/2014/main" id="{93B6F81E-B40A-4A05-2F52-A4C4864F8ECD}"/>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文本框 7">
            <a:extLst>
              <a:ext uri="{FF2B5EF4-FFF2-40B4-BE49-F238E27FC236}">
                <a16:creationId xmlns:a16="http://schemas.microsoft.com/office/drawing/2014/main" id="{9A7376C7-26F5-2C55-C331-B070C69BABC1}"/>
              </a:ext>
            </a:extLst>
          </p:cNvPr>
          <p:cNvSpPr txBox="1"/>
          <p:nvPr/>
        </p:nvSpPr>
        <p:spPr>
          <a:xfrm>
            <a:off x="755576" y="1203598"/>
            <a:ext cx="5544616" cy="2585323"/>
          </a:xfrm>
          <a:prstGeom prst="rect">
            <a:avLst/>
          </a:prstGeom>
          <a:noFill/>
        </p:spPr>
        <p:txBody>
          <a:bodyPr wrap="square" rtlCol="0">
            <a:spAutoFit/>
          </a:bodyPr>
          <a:lstStyle/>
          <a:p>
            <a:r>
              <a:rPr lang="en-US" altLang="zh-CN" dirty="0">
                <a:solidFill>
                  <a:srgbClr val="080808"/>
                </a:solidFill>
                <a:latin typeface="Times New Roman" panose="02020603050405020304" pitchFamily="18" charset="0"/>
                <a:cs typeface="Times New Roman" panose="02020603050405020304" pitchFamily="18" charset="0"/>
              </a:rPr>
              <a:t>Peter Suber</a:t>
            </a:r>
          </a:p>
          <a:p>
            <a:endParaRPr lang="en-US" altLang="zh-CN" dirty="0">
              <a:solidFill>
                <a:srgbClr val="080808"/>
              </a:solidFill>
              <a:latin typeface="Times New Roman" panose="02020603050405020304" pitchFamily="18" charset="0"/>
              <a:cs typeface="Times New Roman" panose="02020603050405020304" pitchFamily="18" charset="0"/>
            </a:endParaRPr>
          </a:p>
          <a:p>
            <a:r>
              <a:rPr lang="en-US" altLang="zh-CN" dirty="0">
                <a:solidFill>
                  <a:srgbClr val="080808"/>
                </a:solidFill>
                <a:latin typeface="Times New Roman" panose="02020603050405020304" pitchFamily="18" charset="0"/>
                <a:cs typeface="Times New Roman" panose="02020603050405020304" pitchFamily="18" charset="0"/>
              </a:rPr>
              <a:t>·Earlham College</a:t>
            </a:r>
            <a:r>
              <a:rPr lang="zh-CN" altLang="en-US" dirty="0">
                <a:solidFill>
                  <a:srgbClr val="080808"/>
                </a:solidFill>
                <a:latin typeface="Times New Roman" panose="02020603050405020304" pitchFamily="18" charset="0"/>
                <a:cs typeface="Times New Roman" panose="02020603050405020304" pitchFamily="18" charset="0"/>
              </a:rPr>
              <a:t>，</a:t>
            </a:r>
            <a:r>
              <a:rPr lang="en-US" altLang="zh-CN" dirty="0">
                <a:solidFill>
                  <a:srgbClr val="080808"/>
                </a:solidFill>
                <a:latin typeface="Times New Roman" panose="02020603050405020304" pitchFamily="18" charset="0"/>
                <a:cs typeface="Times New Roman" panose="02020603050405020304" pitchFamily="18" charset="0"/>
              </a:rPr>
              <a:t>Dept. of Philosophy</a:t>
            </a:r>
          </a:p>
          <a:p>
            <a:endParaRPr lang="en-US" altLang="zh-CN" dirty="0">
              <a:solidFill>
                <a:srgbClr val="080808"/>
              </a:solidFill>
              <a:latin typeface="Times New Roman" panose="02020603050405020304" pitchFamily="18" charset="0"/>
              <a:cs typeface="Times New Roman" panose="02020603050405020304" pitchFamily="18" charset="0"/>
            </a:endParaRPr>
          </a:p>
          <a:p>
            <a:r>
              <a:rPr lang="en-US" altLang="zh-CN" dirty="0">
                <a:solidFill>
                  <a:srgbClr val="080808"/>
                </a:solidFill>
                <a:latin typeface="Times New Roman" panose="02020603050405020304" pitchFamily="18" charset="0"/>
                <a:cs typeface="Times New Roman" panose="02020603050405020304" pitchFamily="18" charset="0"/>
              </a:rPr>
              <a:t>·Harvard University</a:t>
            </a:r>
          </a:p>
          <a:p>
            <a:r>
              <a:rPr lang="en-US" altLang="zh-CN" dirty="0">
                <a:solidFill>
                  <a:srgbClr val="080808"/>
                </a:solidFill>
                <a:latin typeface="Times New Roman" panose="02020603050405020304" pitchFamily="18" charset="0"/>
                <a:cs typeface="Times New Roman" panose="02020603050405020304" pitchFamily="18" charset="0"/>
              </a:rPr>
              <a:t> Harvard U. Berkman Center for Internet &amp; Society</a:t>
            </a:r>
          </a:p>
          <a:p>
            <a:r>
              <a:rPr lang="en-US" altLang="zh-CN" dirty="0">
                <a:solidFill>
                  <a:srgbClr val="080808"/>
                </a:solidFill>
                <a:latin typeface="Times New Roman" panose="02020603050405020304" pitchFamily="18" charset="0"/>
                <a:cs typeface="Times New Roman" panose="02020603050405020304" pitchFamily="18" charset="0"/>
              </a:rPr>
              <a:t> Harvard Open Access Project</a:t>
            </a:r>
          </a:p>
          <a:p>
            <a:r>
              <a:rPr lang="en-US" altLang="zh-CN" dirty="0">
                <a:solidFill>
                  <a:srgbClr val="080808"/>
                </a:solidFill>
                <a:latin typeface="Times New Roman" panose="02020603050405020304" pitchFamily="18" charset="0"/>
                <a:cs typeface="Times New Roman" panose="02020603050405020304" pitchFamily="18" charset="0"/>
              </a:rPr>
              <a:t> Harvard Office of Scholarly Communication</a:t>
            </a:r>
          </a:p>
          <a:p>
            <a:r>
              <a:rPr lang="en-US" altLang="zh-CN" dirty="0">
                <a:solidFill>
                  <a:srgbClr val="080808"/>
                </a:solidFill>
                <a:latin typeface="Times New Roman" panose="02020603050405020304" pitchFamily="18" charset="0"/>
                <a:cs typeface="Times New Roman" panose="02020603050405020304" pitchFamily="18" charset="0"/>
              </a:rPr>
              <a:t>·http://</a:t>
            </a:r>
            <a:r>
              <a:rPr lang="en-US" altLang="zh-CN" dirty="0" err="1">
                <a:solidFill>
                  <a:srgbClr val="080808"/>
                </a:solidFill>
                <a:latin typeface="Times New Roman" panose="02020603050405020304" pitchFamily="18" charset="0"/>
                <a:cs typeface="Times New Roman" panose="02020603050405020304" pitchFamily="18" charset="0"/>
              </a:rPr>
              <a:t>cyber.Law.Harvard.edu</a:t>
            </a:r>
            <a:r>
              <a:rPr lang="en-US" altLang="zh-CN" dirty="0">
                <a:solidFill>
                  <a:srgbClr val="080808"/>
                </a:solidFill>
                <a:latin typeface="Times New Roman" panose="02020603050405020304" pitchFamily="18" charset="0"/>
                <a:cs typeface="Times New Roman" panose="02020603050405020304" pitchFamily="18" charset="0"/>
              </a:rPr>
              <a:t>/~</a:t>
            </a:r>
            <a:r>
              <a:rPr lang="en-US" altLang="zh-CN" dirty="0" err="1">
                <a:solidFill>
                  <a:srgbClr val="080808"/>
                </a:solidFill>
                <a:latin typeface="Times New Roman" panose="02020603050405020304" pitchFamily="18" charset="0"/>
                <a:cs typeface="Times New Roman" panose="02020603050405020304" pitchFamily="18" charset="0"/>
              </a:rPr>
              <a:t>psuber</a:t>
            </a:r>
            <a:r>
              <a:rPr lang="en-US" altLang="zh-CN" dirty="0">
                <a:solidFill>
                  <a:srgbClr val="080808"/>
                </a:solidFill>
                <a:latin typeface="Times New Roman" panose="02020603050405020304" pitchFamily="18" charset="0"/>
                <a:cs typeface="Times New Roman" panose="02020603050405020304" pitchFamily="18" charset="0"/>
              </a:rPr>
              <a:t>/wiki/</a:t>
            </a:r>
            <a:r>
              <a:rPr lang="en-US" altLang="zh-CN" dirty="0" err="1">
                <a:solidFill>
                  <a:srgbClr val="080808"/>
                </a:solidFill>
                <a:latin typeface="Times New Roman" panose="02020603050405020304" pitchFamily="18" charset="0"/>
                <a:cs typeface="Times New Roman" panose="02020603050405020304" pitchFamily="18" charset="0"/>
              </a:rPr>
              <a:t>Peter_Suber</a:t>
            </a:r>
            <a:endParaRPr lang="zh-CN" altLang="en-US" dirty="0">
              <a:solidFill>
                <a:srgbClr val="080808"/>
              </a:solidFill>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07215837-FA71-5290-577D-A83CA3B34C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79497" y="1203598"/>
            <a:ext cx="2376264" cy="2525176"/>
          </a:xfrm>
          <a:prstGeom prst="rect">
            <a:avLst/>
          </a:prstGeom>
        </p:spPr>
      </p:pic>
      <p:sp>
        <p:nvSpPr>
          <p:cNvPr id="12" name="矩形 11">
            <a:extLst>
              <a:ext uri="{FF2B5EF4-FFF2-40B4-BE49-F238E27FC236}">
                <a16:creationId xmlns:a16="http://schemas.microsoft.com/office/drawing/2014/main" id="{3CFAC0CD-0739-0501-F189-0066189384A5}"/>
              </a:ext>
            </a:extLst>
          </p:cNvPr>
          <p:cNvSpPr/>
          <p:nvPr/>
        </p:nvSpPr>
        <p:spPr>
          <a:xfrm>
            <a:off x="251520" y="4587974"/>
            <a:ext cx="757364" cy="338554"/>
          </a:xfrm>
          <a:prstGeom prst="rect">
            <a:avLst/>
          </a:prstGeom>
          <a:noFill/>
        </p:spPr>
        <p:txBody>
          <a:bodyPr wrap="square" lIns="91440" tIns="45720" rIns="91440" bIns="45720">
            <a:spAutoFit/>
          </a:bodyPr>
          <a:lstStyle/>
          <a:p>
            <a:pPr algn="ctr"/>
            <a:r>
              <a:rPr lang="en-US" altLang="zh-CN"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Page 2</a:t>
            </a:r>
            <a:endParaRPr lang="zh-CN" altLang="en-US"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089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01B9A-E918-BAF2-C487-A4815C578C0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C3F37AF-3367-353F-9543-A0E897D128AE}"/>
              </a:ext>
            </a:extLst>
          </p:cNvPr>
          <p:cNvSpPr txBox="1"/>
          <p:nvPr/>
        </p:nvSpPr>
        <p:spPr>
          <a:xfrm>
            <a:off x="683568" y="411510"/>
            <a:ext cx="1711553" cy="369332"/>
          </a:xfrm>
          <a:prstGeom prst="rect">
            <a:avLst/>
          </a:prstGeom>
          <a:noFill/>
        </p:spPr>
        <p:txBody>
          <a:bodyPr wrap="square" rtlCol="0">
            <a:spAutoFit/>
          </a:bodyPr>
          <a:lstStyle/>
          <a:p>
            <a:pPr algn="just"/>
            <a:r>
              <a:rPr lang="en-US" altLang="zh-CN" dirty="0">
                <a:solidFill>
                  <a:srgbClr val="080808"/>
                </a:solidFill>
                <a:latin typeface="+mj-lt"/>
                <a:cs typeface="Times New Roman" panose="02020603050405020304" pitchFamily="18" charset="0"/>
              </a:rPr>
              <a:t>Ⅰ.</a:t>
            </a:r>
            <a:r>
              <a:rPr lang="zh-CN" altLang="en-US" dirty="0">
                <a:solidFill>
                  <a:srgbClr val="080808"/>
                </a:solidFill>
                <a:latin typeface="+mj-lt"/>
                <a:cs typeface="Times New Roman" panose="02020603050405020304" pitchFamily="18" charset="0"/>
              </a:rPr>
              <a:t> </a:t>
            </a:r>
            <a:r>
              <a:rPr lang="en-US" altLang="zh-CN" dirty="0">
                <a:solidFill>
                  <a:srgbClr val="080808"/>
                </a:solidFill>
                <a:latin typeface="+mj-lt"/>
                <a:cs typeface="Times New Roman" panose="02020603050405020304" pitchFamily="18" charset="0"/>
              </a:rPr>
              <a:t>Introduction</a:t>
            </a:r>
            <a:endParaRPr lang="zh-CN" altLang="en-US" dirty="0">
              <a:solidFill>
                <a:srgbClr val="080808"/>
              </a:solidFill>
              <a:latin typeface="+mj-lt"/>
              <a:cs typeface="Times New Roman" panose="02020603050405020304" pitchFamily="18" charset="0"/>
            </a:endParaRPr>
          </a:p>
        </p:txBody>
      </p:sp>
      <p:cxnSp>
        <p:nvCxnSpPr>
          <p:cNvPr id="5" name="直接连接符 4">
            <a:extLst>
              <a:ext uri="{FF2B5EF4-FFF2-40B4-BE49-F238E27FC236}">
                <a16:creationId xmlns:a16="http://schemas.microsoft.com/office/drawing/2014/main" id="{BE9A5835-D2E7-F6B2-0103-CA24F26EB422}"/>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文本框 7">
            <a:extLst>
              <a:ext uri="{FF2B5EF4-FFF2-40B4-BE49-F238E27FC236}">
                <a16:creationId xmlns:a16="http://schemas.microsoft.com/office/drawing/2014/main" id="{E36D5294-983A-48CA-7C33-7DC71EE4527F}"/>
              </a:ext>
            </a:extLst>
          </p:cNvPr>
          <p:cNvSpPr txBox="1"/>
          <p:nvPr/>
        </p:nvSpPr>
        <p:spPr>
          <a:xfrm>
            <a:off x="683568" y="2110085"/>
            <a:ext cx="7416824" cy="923330"/>
          </a:xfrm>
          <a:prstGeom prst="rect">
            <a:avLst/>
          </a:prstGeom>
          <a:noFill/>
        </p:spPr>
        <p:txBody>
          <a:bodyPr wrap="square" rtlCol="0">
            <a:spAutoFit/>
          </a:bodyPr>
          <a:lstStyle/>
          <a:p>
            <a:r>
              <a:rPr lang="en-US" altLang="zh-CN" dirty="0">
                <a:solidFill>
                  <a:srgbClr val="080808"/>
                </a:solidFill>
                <a:latin typeface="Times New Roman" panose="02020603050405020304" pitchFamily="18" charset="0"/>
                <a:cs typeface="Times New Roman" panose="02020603050405020304" pitchFamily="18" charset="0"/>
              </a:rPr>
              <a:t>There are many kinds of implication. We may use the ‘if..., then...’construction to indicate definitional, causal, or logical relations.</a:t>
            </a:r>
          </a:p>
          <a:p>
            <a:pPr algn="r"/>
            <a:r>
              <a:rPr lang="en-US" altLang="zh-CN" dirty="0">
                <a:solidFill>
                  <a:srgbClr val="080808"/>
                </a:solidFill>
                <a:latin typeface="Times New Roman" panose="02020603050405020304" pitchFamily="18" charset="0"/>
                <a:cs typeface="Times New Roman" panose="02020603050405020304" pitchFamily="18" charset="0"/>
              </a:rPr>
              <a:t>——Peter Suber</a:t>
            </a:r>
            <a:endParaRPr lang="zh-CN" altLang="en-US" dirty="0">
              <a:solidFill>
                <a:srgbClr val="080808"/>
              </a:solidFill>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8AFEED96-253D-4874-DFC5-69FCD4F7B3C3}"/>
              </a:ext>
            </a:extLst>
          </p:cNvPr>
          <p:cNvSpPr/>
          <p:nvPr/>
        </p:nvSpPr>
        <p:spPr>
          <a:xfrm>
            <a:off x="251520" y="4587974"/>
            <a:ext cx="757364" cy="338554"/>
          </a:xfrm>
          <a:prstGeom prst="rect">
            <a:avLst/>
          </a:prstGeom>
          <a:noFill/>
        </p:spPr>
        <p:txBody>
          <a:bodyPr wrap="square" lIns="91440" tIns="45720" rIns="91440" bIns="45720">
            <a:spAutoFit/>
          </a:bodyPr>
          <a:lstStyle/>
          <a:p>
            <a:pPr algn="ctr"/>
            <a:r>
              <a:rPr lang="en-US" altLang="zh-CN"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Page 3</a:t>
            </a:r>
            <a:endParaRPr lang="zh-CN" altLang="en-US"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7819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A61BD-CC1D-53D4-653C-40B7AA6E6C1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7F6CD88-5694-6546-6335-BBECF072F0D3}"/>
              </a:ext>
            </a:extLst>
          </p:cNvPr>
          <p:cNvSpPr txBox="1"/>
          <p:nvPr/>
        </p:nvSpPr>
        <p:spPr>
          <a:xfrm>
            <a:off x="683568" y="411510"/>
            <a:ext cx="1711553" cy="369332"/>
          </a:xfrm>
          <a:prstGeom prst="rect">
            <a:avLst/>
          </a:prstGeom>
          <a:noFill/>
        </p:spPr>
        <p:txBody>
          <a:bodyPr wrap="square" rtlCol="0">
            <a:spAutoFit/>
          </a:bodyPr>
          <a:lstStyle/>
          <a:p>
            <a:pPr algn="just"/>
            <a:r>
              <a:rPr lang="en-US" altLang="zh-CN" dirty="0">
                <a:solidFill>
                  <a:srgbClr val="080808"/>
                </a:solidFill>
                <a:latin typeface="+mj-lt"/>
                <a:cs typeface="Times New Roman" panose="02020603050405020304" pitchFamily="18" charset="0"/>
              </a:rPr>
              <a:t>Ⅰ.</a:t>
            </a:r>
            <a:r>
              <a:rPr lang="zh-CN" altLang="en-US" dirty="0">
                <a:solidFill>
                  <a:srgbClr val="080808"/>
                </a:solidFill>
                <a:latin typeface="+mj-lt"/>
                <a:cs typeface="Times New Roman" panose="02020603050405020304" pitchFamily="18" charset="0"/>
              </a:rPr>
              <a:t> </a:t>
            </a:r>
            <a:r>
              <a:rPr lang="en-US" altLang="zh-CN" dirty="0">
                <a:solidFill>
                  <a:srgbClr val="080808"/>
                </a:solidFill>
                <a:latin typeface="+mj-lt"/>
                <a:cs typeface="Times New Roman" panose="02020603050405020304" pitchFamily="18" charset="0"/>
              </a:rPr>
              <a:t>Introduction</a:t>
            </a:r>
            <a:endParaRPr lang="zh-CN" altLang="en-US" dirty="0">
              <a:solidFill>
                <a:srgbClr val="080808"/>
              </a:solidFill>
              <a:latin typeface="+mj-lt"/>
              <a:cs typeface="Times New Roman" panose="02020603050405020304" pitchFamily="18" charset="0"/>
            </a:endParaRPr>
          </a:p>
        </p:txBody>
      </p:sp>
      <p:cxnSp>
        <p:nvCxnSpPr>
          <p:cNvPr id="5" name="直接连接符 4">
            <a:extLst>
              <a:ext uri="{FF2B5EF4-FFF2-40B4-BE49-F238E27FC236}">
                <a16:creationId xmlns:a16="http://schemas.microsoft.com/office/drawing/2014/main" id="{D6888544-1670-530F-18E8-2377832463E9}"/>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pic>
        <p:nvPicPr>
          <p:cNvPr id="2" name="图片 1">
            <a:extLst>
              <a:ext uri="{FF2B5EF4-FFF2-40B4-BE49-F238E27FC236}">
                <a16:creationId xmlns:a16="http://schemas.microsoft.com/office/drawing/2014/main" id="{9B8D7364-CE81-7563-CE56-7E74A20E37D4}"/>
              </a:ext>
            </a:extLst>
          </p:cNvPr>
          <p:cNvPicPr>
            <a:picLocks noChangeAspect="1"/>
          </p:cNvPicPr>
          <p:nvPr/>
        </p:nvPicPr>
        <p:blipFill>
          <a:blip r:embed="rId2"/>
          <a:stretch>
            <a:fillRect/>
          </a:stretch>
        </p:blipFill>
        <p:spPr>
          <a:xfrm>
            <a:off x="2814575" y="1355090"/>
            <a:ext cx="3298825" cy="2433320"/>
          </a:xfrm>
          <a:prstGeom prst="rect">
            <a:avLst/>
          </a:prstGeom>
          <a:noFill/>
          <a:ln>
            <a:noFill/>
          </a:ln>
        </p:spPr>
      </p:pic>
      <p:sp>
        <p:nvSpPr>
          <p:cNvPr id="6" name="文本框 5">
            <a:extLst>
              <a:ext uri="{FF2B5EF4-FFF2-40B4-BE49-F238E27FC236}">
                <a16:creationId xmlns:a16="http://schemas.microsoft.com/office/drawing/2014/main" id="{95079CA6-D062-1868-6902-3471D2BCC2D3}"/>
              </a:ext>
            </a:extLst>
          </p:cNvPr>
          <p:cNvSpPr txBox="1"/>
          <p:nvPr/>
        </p:nvSpPr>
        <p:spPr>
          <a:xfrm>
            <a:off x="2285746" y="4011910"/>
            <a:ext cx="4356484" cy="369332"/>
          </a:xfrm>
          <a:prstGeom prst="rect">
            <a:avLst/>
          </a:prstGeom>
          <a:noFill/>
        </p:spPr>
        <p:txBody>
          <a:bodyPr wrap="square" rtlCol="0">
            <a:spAutoFit/>
          </a:bodyPr>
          <a:lstStyle/>
          <a:p>
            <a:r>
              <a:rPr lang="en-US" altLang="zh-CN" dirty="0">
                <a:solidFill>
                  <a:srgbClr val="080808"/>
                </a:solidFill>
                <a:latin typeface="Times New Roman" panose="02020603050405020304" pitchFamily="18" charset="0"/>
                <a:cs typeface="Times New Roman" panose="02020603050405020304" pitchFamily="18" charset="0"/>
              </a:rPr>
              <a:t>Table 1</a:t>
            </a:r>
            <a:r>
              <a:rPr lang="zh-CN" altLang="en-US" dirty="0">
                <a:solidFill>
                  <a:srgbClr val="080808"/>
                </a:solidFill>
                <a:latin typeface="Times New Roman" panose="02020603050405020304" pitchFamily="18" charset="0"/>
                <a:cs typeface="Times New Roman" panose="02020603050405020304" pitchFamily="18" charset="0"/>
              </a:rPr>
              <a:t>：</a:t>
            </a:r>
            <a:r>
              <a:rPr lang="en-US" altLang="zh-CN" dirty="0">
                <a:solidFill>
                  <a:srgbClr val="080808"/>
                </a:solidFill>
                <a:latin typeface="Times New Roman" panose="02020603050405020304" pitchFamily="18" charset="0"/>
                <a:cs typeface="Times New Roman" panose="02020603050405020304" pitchFamily="18" charset="0"/>
              </a:rPr>
              <a:t>Truth-table for material implication</a:t>
            </a:r>
            <a:endParaRPr lang="zh-CN" altLang="en-US" dirty="0">
              <a:solidFill>
                <a:srgbClr val="080808"/>
              </a:soli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56873F23-5B96-0911-3B81-8F6D020011DF}"/>
              </a:ext>
            </a:extLst>
          </p:cNvPr>
          <p:cNvSpPr/>
          <p:nvPr/>
        </p:nvSpPr>
        <p:spPr>
          <a:xfrm>
            <a:off x="251520" y="4587974"/>
            <a:ext cx="757364" cy="338554"/>
          </a:xfrm>
          <a:prstGeom prst="rect">
            <a:avLst/>
          </a:prstGeom>
          <a:noFill/>
        </p:spPr>
        <p:txBody>
          <a:bodyPr wrap="square" lIns="91440" tIns="45720" rIns="91440" bIns="45720">
            <a:spAutoFit/>
          </a:bodyPr>
          <a:lstStyle/>
          <a:p>
            <a:pPr algn="ctr"/>
            <a:r>
              <a:rPr lang="en-US" altLang="zh-CN"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Page 4</a:t>
            </a:r>
            <a:endParaRPr lang="zh-CN" altLang="en-US"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0614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B74AA-ED8F-5422-B9B4-EBEB89F4DB4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2A0C44C-900C-88E3-41B5-2C6892BE021A}"/>
              </a:ext>
            </a:extLst>
          </p:cNvPr>
          <p:cNvSpPr txBox="1"/>
          <p:nvPr/>
        </p:nvSpPr>
        <p:spPr>
          <a:xfrm>
            <a:off x="683568" y="411510"/>
            <a:ext cx="1711553" cy="369332"/>
          </a:xfrm>
          <a:prstGeom prst="rect">
            <a:avLst/>
          </a:prstGeom>
          <a:noFill/>
        </p:spPr>
        <p:txBody>
          <a:bodyPr wrap="square" rtlCol="0">
            <a:spAutoFit/>
          </a:bodyPr>
          <a:lstStyle/>
          <a:p>
            <a:pPr algn="just"/>
            <a:r>
              <a:rPr lang="en-US" altLang="zh-CN" dirty="0">
                <a:solidFill>
                  <a:srgbClr val="080808"/>
                </a:solidFill>
                <a:latin typeface="+mj-lt"/>
                <a:cs typeface="Times New Roman" panose="02020603050405020304" pitchFamily="18" charset="0"/>
              </a:rPr>
              <a:t>Ⅰ.</a:t>
            </a:r>
            <a:r>
              <a:rPr lang="zh-CN" altLang="en-US" dirty="0">
                <a:solidFill>
                  <a:srgbClr val="080808"/>
                </a:solidFill>
                <a:latin typeface="+mj-lt"/>
                <a:cs typeface="Times New Roman" panose="02020603050405020304" pitchFamily="18" charset="0"/>
              </a:rPr>
              <a:t> </a:t>
            </a:r>
            <a:r>
              <a:rPr lang="en-US" altLang="zh-CN" dirty="0">
                <a:solidFill>
                  <a:srgbClr val="080808"/>
                </a:solidFill>
                <a:latin typeface="+mj-lt"/>
                <a:cs typeface="Times New Roman" panose="02020603050405020304" pitchFamily="18" charset="0"/>
              </a:rPr>
              <a:t>Introduction</a:t>
            </a:r>
            <a:endParaRPr lang="zh-CN" altLang="en-US" dirty="0">
              <a:solidFill>
                <a:srgbClr val="080808"/>
              </a:solidFill>
              <a:latin typeface="+mj-lt"/>
              <a:cs typeface="Times New Roman" panose="02020603050405020304" pitchFamily="18" charset="0"/>
            </a:endParaRPr>
          </a:p>
        </p:txBody>
      </p:sp>
      <p:cxnSp>
        <p:nvCxnSpPr>
          <p:cNvPr id="5" name="直接连接符 4">
            <a:extLst>
              <a:ext uri="{FF2B5EF4-FFF2-40B4-BE49-F238E27FC236}">
                <a16:creationId xmlns:a16="http://schemas.microsoft.com/office/drawing/2014/main" id="{5D4AE9DB-545F-E1CE-C074-1BFD49116B6C}"/>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文本框 7">
            <a:extLst>
              <a:ext uri="{FF2B5EF4-FFF2-40B4-BE49-F238E27FC236}">
                <a16:creationId xmlns:a16="http://schemas.microsoft.com/office/drawing/2014/main" id="{48810CB6-0838-2844-80E3-1AE1355723E6}"/>
              </a:ext>
            </a:extLst>
          </p:cNvPr>
          <p:cNvSpPr txBox="1"/>
          <p:nvPr/>
        </p:nvSpPr>
        <p:spPr>
          <a:xfrm>
            <a:off x="1457654" y="1602254"/>
            <a:ext cx="6228692" cy="1938992"/>
          </a:xfrm>
          <a:prstGeom prst="rect">
            <a:avLst/>
          </a:prstGeom>
          <a:noFill/>
        </p:spPr>
        <p:txBody>
          <a:bodyPr wrap="square" rtlCol="0">
            <a:spAutoFit/>
          </a:bodyPr>
          <a:lstStyle/>
          <a:p>
            <a:r>
              <a:rPr lang="en-US" altLang="zh-CN" sz="2400" dirty="0">
                <a:solidFill>
                  <a:srgbClr val="080808"/>
                </a:solidFill>
                <a:latin typeface="Times New Roman" panose="02020603050405020304" pitchFamily="18" charset="0"/>
                <a:cs typeface="Times New Roman" panose="02020603050405020304" pitchFamily="18" charset="0"/>
              </a:rPr>
              <a:t>If the moon is made of green cheese, then life exists on other planets.</a:t>
            </a:r>
          </a:p>
          <a:p>
            <a:endParaRPr lang="en-US" altLang="zh-CN" sz="2400" dirty="0">
              <a:solidFill>
                <a:srgbClr val="080808"/>
              </a:solidFill>
              <a:latin typeface="Times New Roman" panose="02020603050405020304" pitchFamily="18" charset="0"/>
              <a:cs typeface="Times New Roman" panose="02020603050405020304" pitchFamily="18" charset="0"/>
            </a:endParaRPr>
          </a:p>
          <a:p>
            <a:r>
              <a:rPr lang="en-US" altLang="zh-CN" sz="2400" dirty="0">
                <a:solidFill>
                  <a:srgbClr val="080808"/>
                </a:solidFill>
                <a:latin typeface="Times New Roman" panose="02020603050405020304" pitchFamily="18" charset="0"/>
                <a:cs typeface="Times New Roman" panose="02020603050405020304" pitchFamily="18" charset="0"/>
              </a:rPr>
              <a:t>If life exists on other planets, then life exists on earth.</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
        <p:nvSpPr>
          <p:cNvPr id="6" name="矩形 5">
            <a:extLst>
              <a:ext uri="{FF2B5EF4-FFF2-40B4-BE49-F238E27FC236}">
                <a16:creationId xmlns:a16="http://schemas.microsoft.com/office/drawing/2014/main" id="{CDF98F26-3E4A-70CA-B25C-FB3884595CFE}"/>
              </a:ext>
            </a:extLst>
          </p:cNvPr>
          <p:cNvSpPr/>
          <p:nvPr/>
        </p:nvSpPr>
        <p:spPr>
          <a:xfrm>
            <a:off x="251520" y="4587974"/>
            <a:ext cx="757364" cy="338554"/>
          </a:xfrm>
          <a:prstGeom prst="rect">
            <a:avLst/>
          </a:prstGeom>
          <a:noFill/>
        </p:spPr>
        <p:txBody>
          <a:bodyPr wrap="square" lIns="91440" tIns="45720" rIns="91440" bIns="45720">
            <a:spAutoFit/>
          </a:bodyPr>
          <a:lstStyle/>
          <a:p>
            <a:pPr algn="ctr"/>
            <a:r>
              <a:rPr lang="en-US" altLang="zh-CN"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Page 5</a:t>
            </a:r>
            <a:endParaRPr lang="zh-CN" altLang="en-US"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143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55B6B-B98C-F6EF-6083-F73AEABEA09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DF23A79-0EFC-C620-CF8C-72DCEA693069}"/>
              </a:ext>
            </a:extLst>
          </p:cNvPr>
          <p:cNvSpPr txBox="1"/>
          <p:nvPr/>
        </p:nvSpPr>
        <p:spPr>
          <a:xfrm>
            <a:off x="1115616" y="2248584"/>
            <a:ext cx="6912768" cy="646331"/>
          </a:xfrm>
          <a:prstGeom prst="rect">
            <a:avLst/>
          </a:prstGeom>
          <a:noFill/>
        </p:spPr>
        <p:txBody>
          <a:bodyPr wrap="square" rtlCol="0">
            <a:spAutoFit/>
          </a:bodyPr>
          <a:lstStyle/>
          <a:p>
            <a:r>
              <a:rPr lang="en-US" altLang="zh-CN" sz="3600" b="1" dirty="0">
                <a:solidFill>
                  <a:srgbClr val="080808"/>
                </a:solidFill>
                <a:latin typeface="Times New Roman" panose="02020603050405020304" pitchFamily="18" charset="0"/>
                <a:cs typeface="Times New Roman" panose="02020603050405020304" pitchFamily="18" charset="0"/>
              </a:rPr>
              <a:t>Ⅱ. The price of truth-functionality</a:t>
            </a:r>
          </a:p>
        </p:txBody>
      </p:sp>
      <p:sp>
        <p:nvSpPr>
          <p:cNvPr id="3" name="矩形 2">
            <a:extLst>
              <a:ext uri="{FF2B5EF4-FFF2-40B4-BE49-F238E27FC236}">
                <a16:creationId xmlns:a16="http://schemas.microsoft.com/office/drawing/2014/main" id="{B7C4FA8A-AB49-28AC-EFF9-D3A714AD7F8E}"/>
              </a:ext>
            </a:extLst>
          </p:cNvPr>
          <p:cNvSpPr/>
          <p:nvPr/>
        </p:nvSpPr>
        <p:spPr>
          <a:xfrm>
            <a:off x="251520" y="4587974"/>
            <a:ext cx="757364" cy="338554"/>
          </a:xfrm>
          <a:prstGeom prst="rect">
            <a:avLst/>
          </a:prstGeom>
          <a:noFill/>
        </p:spPr>
        <p:txBody>
          <a:bodyPr wrap="square" lIns="91440" tIns="45720" rIns="91440" bIns="45720">
            <a:spAutoFit/>
          </a:bodyPr>
          <a:lstStyle/>
          <a:p>
            <a:pPr algn="ctr"/>
            <a:r>
              <a:rPr lang="en-US" altLang="zh-CN"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Page 6</a:t>
            </a:r>
            <a:endParaRPr lang="zh-CN" altLang="en-US"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6994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D0083-E2B5-5B1C-71BC-51E6CA50E766}"/>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0500DE6-C869-5AA7-1A41-0511686C2E2A}"/>
              </a:ext>
            </a:extLst>
          </p:cNvPr>
          <p:cNvSpPr txBox="1"/>
          <p:nvPr/>
        </p:nvSpPr>
        <p:spPr>
          <a:xfrm>
            <a:off x="683568" y="411510"/>
            <a:ext cx="3456384" cy="369332"/>
          </a:xfrm>
          <a:prstGeom prst="rect">
            <a:avLst/>
          </a:prstGeom>
          <a:noFill/>
        </p:spPr>
        <p:txBody>
          <a:bodyPr wrap="square" rtlCol="0">
            <a:spAutoFit/>
          </a:bodyPr>
          <a:lstStyle/>
          <a:p>
            <a:pPr algn="just"/>
            <a:r>
              <a:rPr lang="en-US" altLang="zh-CN" dirty="0">
                <a:solidFill>
                  <a:srgbClr val="080808"/>
                </a:solidFill>
                <a:latin typeface="+mj-lt"/>
                <a:cs typeface="Times New Roman" panose="02020603050405020304" pitchFamily="18" charset="0"/>
              </a:rPr>
              <a:t>Ⅱ. The price of truth-functionality</a:t>
            </a:r>
          </a:p>
        </p:txBody>
      </p:sp>
      <p:cxnSp>
        <p:nvCxnSpPr>
          <p:cNvPr id="5" name="直接连接符 4">
            <a:extLst>
              <a:ext uri="{FF2B5EF4-FFF2-40B4-BE49-F238E27FC236}">
                <a16:creationId xmlns:a16="http://schemas.microsoft.com/office/drawing/2014/main" id="{716222F2-0DC3-580C-F51E-FDB5910D4EB5}"/>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文本框 7">
            <a:extLst>
              <a:ext uri="{FF2B5EF4-FFF2-40B4-BE49-F238E27FC236}">
                <a16:creationId xmlns:a16="http://schemas.microsoft.com/office/drawing/2014/main" id="{8F688944-0C5B-0138-D6AB-2CA93EEF0C8F}"/>
              </a:ext>
            </a:extLst>
          </p:cNvPr>
          <p:cNvSpPr txBox="1"/>
          <p:nvPr/>
        </p:nvSpPr>
        <p:spPr>
          <a:xfrm>
            <a:off x="1097614" y="1232922"/>
            <a:ext cx="6948772" cy="2677656"/>
          </a:xfrm>
          <a:prstGeom prst="rect">
            <a:avLst/>
          </a:prstGeom>
          <a:noFill/>
        </p:spPr>
        <p:txBody>
          <a:bodyPr wrap="square" rtlCol="0">
            <a:spAutoFit/>
          </a:bodyPr>
          <a:lstStyle/>
          <a:p>
            <a:pPr algn="just"/>
            <a:r>
              <a:rPr lang="en-US" altLang="zh-CN" sz="2400" dirty="0">
                <a:solidFill>
                  <a:srgbClr val="080808"/>
                </a:solidFill>
                <a:latin typeface="Times New Roman" panose="02020603050405020304" pitchFamily="18" charset="0"/>
                <a:cs typeface="Times New Roman" panose="02020603050405020304" pitchFamily="18" charset="0"/>
              </a:rPr>
              <a:t>Why would we adopt a type of implication with such counter-intuitive results</a:t>
            </a:r>
            <a:r>
              <a:rPr lang="zh-CN" altLang="en-US" sz="2400" dirty="0">
                <a:solidFill>
                  <a:srgbClr val="080808"/>
                </a:solidFill>
                <a:latin typeface="Times New Roman" panose="02020603050405020304" pitchFamily="18" charset="0"/>
                <a:cs typeface="Times New Roman" panose="02020603050405020304" pitchFamily="18" charset="0"/>
              </a:rPr>
              <a:t>？</a:t>
            </a:r>
            <a:endParaRPr lang="en-US" altLang="zh-CN" sz="2400" dirty="0">
              <a:solidFill>
                <a:srgbClr val="080808"/>
              </a:solidFill>
              <a:latin typeface="Times New Roman" panose="02020603050405020304" pitchFamily="18" charset="0"/>
              <a:cs typeface="Times New Roman" panose="02020603050405020304" pitchFamily="18" charset="0"/>
            </a:endParaRPr>
          </a:p>
          <a:p>
            <a:pPr algn="just"/>
            <a:endParaRPr lang="en-US" altLang="zh-CN" sz="2400" dirty="0">
              <a:solidFill>
                <a:srgbClr val="080808"/>
              </a:solidFill>
              <a:latin typeface="Times New Roman" panose="02020603050405020304" pitchFamily="18" charset="0"/>
              <a:cs typeface="Times New Roman" panose="02020603050405020304" pitchFamily="18" charset="0"/>
            </a:endParaRPr>
          </a:p>
          <a:p>
            <a:pPr algn="just"/>
            <a:r>
              <a:rPr lang="en-US" altLang="zh-CN" sz="2400" dirty="0">
                <a:solidFill>
                  <a:srgbClr val="080808"/>
                </a:solidFill>
                <a:latin typeface="Times New Roman" panose="02020603050405020304" pitchFamily="18" charset="0"/>
                <a:cs typeface="Times New Roman" panose="02020603050405020304" pitchFamily="18" charset="0"/>
              </a:rPr>
              <a:t>Because we want a truth-functional kind of implication.</a:t>
            </a:r>
          </a:p>
          <a:p>
            <a:pPr algn="just"/>
            <a:endParaRPr lang="en-US" altLang="zh-CN" sz="2400" dirty="0">
              <a:solidFill>
                <a:srgbClr val="080808"/>
              </a:solidFill>
              <a:latin typeface="Times New Roman" panose="02020603050405020304" pitchFamily="18" charset="0"/>
              <a:cs typeface="Times New Roman" panose="02020603050405020304" pitchFamily="18" charset="0"/>
            </a:endParaRPr>
          </a:p>
          <a:p>
            <a:pPr algn="just"/>
            <a:r>
              <a:rPr lang="en-US" altLang="zh-CN" sz="2400" dirty="0">
                <a:solidFill>
                  <a:srgbClr val="080808"/>
                </a:solidFill>
                <a:latin typeface="Times New Roman" panose="02020603050405020304" pitchFamily="18" charset="0"/>
                <a:cs typeface="Times New Roman" panose="02020603050405020304" pitchFamily="18" charset="0"/>
              </a:rPr>
              <a:t>But what is a truth function kind of implication? What's the use of it then?</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C2709692-47C7-BB77-F113-65AD2765BCA9}"/>
              </a:ext>
            </a:extLst>
          </p:cNvPr>
          <p:cNvSpPr/>
          <p:nvPr/>
        </p:nvSpPr>
        <p:spPr>
          <a:xfrm>
            <a:off x="251520" y="4587974"/>
            <a:ext cx="757364" cy="338554"/>
          </a:xfrm>
          <a:prstGeom prst="rect">
            <a:avLst/>
          </a:prstGeom>
          <a:noFill/>
        </p:spPr>
        <p:txBody>
          <a:bodyPr wrap="square" lIns="91440" tIns="45720" rIns="91440" bIns="45720">
            <a:spAutoFit/>
          </a:bodyPr>
          <a:lstStyle/>
          <a:p>
            <a:pPr algn="ctr"/>
            <a:r>
              <a:rPr lang="en-US" altLang="zh-CN"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Page 7</a:t>
            </a:r>
            <a:endParaRPr lang="zh-CN" altLang="en-US"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1628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686B4-2881-05B3-BB48-3003FB7DE5D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C05E499-6814-4B99-8ED6-FA82C40537D6}"/>
              </a:ext>
            </a:extLst>
          </p:cNvPr>
          <p:cNvSpPr txBox="1"/>
          <p:nvPr/>
        </p:nvSpPr>
        <p:spPr>
          <a:xfrm>
            <a:off x="683568" y="411510"/>
            <a:ext cx="3456384" cy="369332"/>
          </a:xfrm>
          <a:prstGeom prst="rect">
            <a:avLst/>
          </a:prstGeom>
          <a:noFill/>
        </p:spPr>
        <p:txBody>
          <a:bodyPr wrap="square" rtlCol="0">
            <a:spAutoFit/>
          </a:bodyPr>
          <a:lstStyle/>
          <a:p>
            <a:pPr algn="just"/>
            <a:r>
              <a:rPr lang="en-US" altLang="zh-CN" dirty="0">
                <a:solidFill>
                  <a:srgbClr val="080808"/>
                </a:solidFill>
                <a:latin typeface="+mj-lt"/>
                <a:cs typeface="Times New Roman" panose="02020603050405020304" pitchFamily="18" charset="0"/>
              </a:rPr>
              <a:t>Ⅱ. The price of truth-functionality</a:t>
            </a:r>
          </a:p>
        </p:txBody>
      </p:sp>
      <p:cxnSp>
        <p:nvCxnSpPr>
          <p:cNvPr id="5" name="直接连接符 4">
            <a:extLst>
              <a:ext uri="{FF2B5EF4-FFF2-40B4-BE49-F238E27FC236}">
                <a16:creationId xmlns:a16="http://schemas.microsoft.com/office/drawing/2014/main" id="{AFCA9859-B917-2A0F-3374-E974552DFC6B}"/>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文本框 7">
            <a:extLst>
              <a:ext uri="{FF2B5EF4-FFF2-40B4-BE49-F238E27FC236}">
                <a16:creationId xmlns:a16="http://schemas.microsoft.com/office/drawing/2014/main" id="{46408991-979D-60F7-C4FC-5C4D89BF4776}"/>
              </a:ext>
            </a:extLst>
          </p:cNvPr>
          <p:cNvSpPr txBox="1"/>
          <p:nvPr/>
        </p:nvSpPr>
        <p:spPr>
          <a:xfrm>
            <a:off x="998603" y="1786920"/>
            <a:ext cx="7146794" cy="2308324"/>
          </a:xfrm>
          <a:prstGeom prst="rect">
            <a:avLst/>
          </a:prstGeom>
          <a:noFill/>
        </p:spPr>
        <p:txBody>
          <a:bodyPr wrap="square" rtlCol="0">
            <a:spAutoFit/>
          </a:bodyPr>
          <a:lstStyle/>
          <a:p>
            <a:pPr algn="just"/>
            <a:r>
              <a:rPr lang="en-US" altLang="zh-CN" sz="2400" b="1" dirty="0">
                <a:solidFill>
                  <a:srgbClr val="080808"/>
                </a:solidFill>
                <a:latin typeface="Times New Roman" panose="02020603050405020304" pitchFamily="18" charset="0"/>
                <a:cs typeface="Times New Roman" panose="02020603050405020304" pitchFamily="18" charset="0"/>
              </a:rPr>
              <a:t>Key point</a:t>
            </a:r>
            <a:r>
              <a:rPr lang="zh-CN" altLang="en-US" sz="2400" b="1" dirty="0">
                <a:solidFill>
                  <a:srgbClr val="080808"/>
                </a:solidFill>
                <a:latin typeface="Times New Roman" panose="02020603050405020304" pitchFamily="18" charset="0"/>
                <a:cs typeface="Times New Roman" panose="02020603050405020304" pitchFamily="18" charset="0"/>
              </a:rPr>
              <a:t>：</a:t>
            </a:r>
            <a:r>
              <a:rPr lang="en-US" altLang="zh-CN" sz="2400" b="1" dirty="0">
                <a:solidFill>
                  <a:srgbClr val="080808"/>
                </a:solidFill>
                <a:latin typeface="Times New Roman" panose="02020603050405020304" pitchFamily="18" charset="0"/>
                <a:cs typeface="Times New Roman" panose="02020603050405020304" pitchFamily="18" charset="0"/>
              </a:rPr>
              <a:t>What is the price of truth-functionality?</a:t>
            </a:r>
          </a:p>
          <a:p>
            <a:pPr algn="just"/>
            <a:endParaRPr lang="en-US" altLang="zh-CN" sz="2400" dirty="0">
              <a:solidFill>
                <a:srgbClr val="080808"/>
              </a:solidFill>
              <a:latin typeface="Times New Roman" panose="02020603050405020304" pitchFamily="18" charset="0"/>
              <a:cs typeface="Times New Roman" panose="02020603050405020304" pitchFamily="18" charset="0"/>
            </a:endParaRPr>
          </a:p>
          <a:p>
            <a:pPr algn="just"/>
            <a:r>
              <a:rPr lang="en-US" altLang="zh-CN" sz="2400" dirty="0">
                <a:solidFill>
                  <a:srgbClr val="080808"/>
                </a:solidFill>
                <a:latin typeface="Times New Roman" panose="02020603050405020304" pitchFamily="18" charset="0"/>
                <a:cs typeface="Times New Roman" panose="02020603050405020304" pitchFamily="18" charset="0"/>
              </a:rPr>
              <a:t>The price of truth-functionality is that the relevancy between the antecedent and the consequent will be lost. If all that matters about a statement is its truth value, then all content is disregarded.</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
        <p:nvSpPr>
          <p:cNvPr id="2" name="矩形 1">
            <a:extLst>
              <a:ext uri="{FF2B5EF4-FFF2-40B4-BE49-F238E27FC236}">
                <a16:creationId xmlns:a16="http://schemas.microsoft.com/office/drawing/2014/main" id="{4EF1AF54-279B-E3F4-70C5-7D8200E12C9F}"/>
              </a:ext>
            </a:extLst>
          </p:cNvPr>
          <p:cNvSpPr/>
          <p:nvPr/>
        </p:nvSpPr>
        <p:spPr>
          <a:xfrm>
            <a:off x="251520" y="4587974"/>
            <a:ext cx="864096" cy="338554"/>
          </a:xfrm>
          <a:prstGeom prst="rect">
            <a:avLst/>
          </a:prstGeom>
          <a:noFill/>
        </p:spPr>
        <p:txBody>
          <a:bodyPr wrap="square" lIns="91440" tIns="45720" rIns="91440" bIns="45720">
            <a:spAutoFit/>
          </a:bodyPr>
          <a:lstStyle/>
          <a:p>
            <a:pPr algn="ctr"/>
            <a:r>
              <a:rPr lang="en-US" altLang="zh-CN"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Page 8</a:t>
            </a:r>
            <a:endParaRPr lang="zh-CN" altLang="en-US" sz="1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8732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05802-343D-F4B7-6CE1-EA8721E7481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E0C59AA-917F-5B42-589B-C4845A950157}"/>
              </a:ext>
            </a:extLst>
          </p:cNvPr>
          <p:cNvSpPr txBox="1"/>
          <p:nvPr/>
        </p:nvSpPr>
        <p:spPr>
          <a:xfrm>
            <a:off x="683568" y="411510"/>
            <a:ext cx="3456384"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Ⅱ. The price of truth-functionality</a:t>
            </a:r>
          </a:p>
        </p:txBody>
      </p:sp>
      <p:cxnSp>
        <p:nvCxnSpPr>
          <p:cNvPr id="5" name="直接连接符 4">
            <a:extLst>
              <a:ext uri="{FF2B5EF4-FFF2-40B4-BE49-F238E27FC236}">
                <a16:creationId xmlns:a16="http://schemas.microsoft.com/office/drawing/2014/main" id="{88F19B79-6BE7-483D-BC56-A237B4B7DBE5}"/>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文本框 7">
            <a:extLst>
              <a:ext uri="{FF2B5EF4-FFF2-40B4-BE49-F238E27FC236}">
                <a16:creationId xmlns:a16="http://schemas.microsoft.com/office/drawing/2014/main" id="{BEBC7DA7-FC34-9712-4FC4-D1C08C387A2E}"/>
              </a:ext>
            </a:extLst>
          </p:cNvPr>
          <p:cNvSpPr txBox="1"/>
          <p:nvPr/>
        </p:nvSpPr>
        <p:spPr>
          <a:xfrm>
            <a:off x="1097614" y="1091114"/>
            <a:ext cx="6948772" cy="34163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The paradoxes disturb us because the truth-value of one component can determine the truth-value of the whole compound, regardless of the truth-value or content of the other. That is, they disturb us precisely because of this loss of mutual relevancy. This state of affairs disturbs some logicians too. They have developed so-called</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relevance logics</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in which the antecedent and consequent of conditionals must somehow bear on the same subject.</a:t>
            </a:r>
            <a:endPar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8BB62902-9705-1ACB-6F9F-F24F175B07F1}"/>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9</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89080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26F27-3DB3-6DD7-87A1-E6666CC3524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F01E94EA-76C8-9CEA-E644-AF906DAE7111}"/>
              </a:ext>
            </a:extLst>
          </p:cNvPr>
          <p:cNvSpPr txBox="1"/>
          <p:nvPr/>
        </p:nvSpPr>
        <p:spPr>
          <a:xfrm>
            <a:off x="683568" y="411510"/>
            <a:ext cx="3456384"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Ⅱ. The price of truth-functionality</a:t>
            </a:r>
          </a:p>
        </p:txBody>
      </p:sp>
      <p:cxnSp>
        <p:nvCxnSpPr>
          <p:cNvPr id="5" name="直接连接符 4">
            <a:extLst>
              <a:ext uri="{FF2B5EF4-FFF2-40B4-BE49-F238E27FC236}">
                <a16:creationId xmlns:a16="http://schemas.microsoft.com/office/drawing/2014/main" id="{68C653C9-7B52-E135-5D5D-F650BF667A2C}"/>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文本框 7">
            <a:extLst>
              <a:ext uri="{FF2B5EF4-FFF2-40B4-BE49-F238E27FC236}">
                <a16:creationId xmlns:a16="http://schemas.microsoft.com/office/drawing/2014/main" id="{6014FEEF-D762-F2DB-7F0E-2084F1539C13}"/>
              </a:ext>
            </a:extLst>
          </p:cNvPr>
          <p:cNvSpPr txBox="1"/>
          <p:nvPr/>
        </p:nvSpPr>
        <p:spPr>
          <a:xfrm>
            <a:off x="1097614" y="1786920"/>
            <a:ext cx="6948772" cy="193899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1.1 p is</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It rained yesterday.</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q is</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The ground outside was wet yesterday.</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p entails q.</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.2</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 p is</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It rained yesterday.</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q is</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The ground outside is wet today. </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p does not entail q.</a:t>
            </a:r>
            <a:endPar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2" name="矩形 1">
            <a:extLst>
              <a:ext uri="{FF2B5EF4-FFF2-40B4-BE49-F238E27FC236}">
                <a16:creationId xmlns:a16="http://schemas.microsoft.com/office/drawing/2014/main" id="{3A94C0E1-9DFE-E5B6-9B8A-A020B32BF4EB}"/>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10</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70853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983BE-81C4-C6EA-B7C7-E33A961E4C0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AE4A08A-851B-707F-8417-A246E8351AE0}"/>
              </a:ext>
            </a:extLst>
          </p:cNvPr>
          <p:cNvSpPr txBox="1"/>
          <p:nvPr/>
        </p:nvSpPr>
        <p:spPr>
          <a:xfrm>
            <a:off x="683568" y="411510"/>
            <a:ext cx="3456384"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Ⅱ. The price of truth-functionality</a:t>
            </a:r>
          </a:p>
        </p:txBody>
      </p:sp>
      <p:cxnSp>
        <p:nvCxnSpPr>
          <p:cNvPr id="5" name="直接连接符 4">
            <a:extLst>
              <a:ext uri="{FF2B5EF4-FFF2-40B4-BE49-F238E27FC236}">
                <a16:creationId xmlns:a16="http://schemas.microsoft.com/office/drawing/2014/main" id="{5F6DD2BE-8A12-AEA7-9321-F0DB05B5E392}"/>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8" name="文本框 7">
            <a:extLst>
              <a:ext uri="{FF2B5EF4-FFF2-40B4-BE49-F238E27FC236}">
                <a16:creationId xmlns:a16="http://schemas.microsoft.com/office/drawing/2014/main" id="{8A1ED473-3268-891A-806B-70035C1C9F3E}"/>
              </a:ext>
            </a:extLst>
          </p:cNvPr>
          <p:cNvSpPr txBox="1"/>
          <p:nvPr/>
        </p:nvSpPr>
        <p:spPr>
          <a:xfrm>
            <a:off x="1320196" y="1312773"/>
            <a:ext cx="6503608" cy="46166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400" b="1" i="1"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Entailment</a:t>
            </a:r>
            <a:r>
              <a:rPr kumimoji="0" lang="en-US" altLang="zh-CN" sz="2400" i="1"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 The Logic of Relevance and Necessity</a:t>
            </a:r>
            <a:r>
              <a:rPr lang="en-US" altLang="zh-CN" sz="2400"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2" name="矩形 1">
            <a:extLst>
              <a:ext uri="{FF2B5EF4-FFF2-40B4-BE49-F238E27FC236}">
                <a16:creationId xmlns:a16="http://schemas.microsoft.com/office/drawing/2014/main" id="{A7851B24-401F-3263-D993-7E56E7953026}"/>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11</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7DA67F0E-1C30-1391-2EB9-C51FA0DD6B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86115" y="1919787"/>
            <a:ext cx="1892129" cy="2522838"/>
          </a:xfrm>
          <a:prstGeom prst="rect">
            <a:avLst/>
          </a:prstGeom>
        </p:spPr>
      </p:pic>
      <p:pic>
        <p:nvPicPr>
          <p:cNvPr id="9" name="图片 8">
            <a:extLst>
              <a:ext uri="{FF2B5EF4-FFF2-40B4-BE49-F238E27FC236}">
                <a16:creationId xmlns:a16="http://schemas.microsoft.com/office/drawing/2014/main" id="{FFD370BA-EE56-4091-E433-3C3D1F08C7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92280" y="1919787"/>
            <a:ext cx="1892129" cy="2522838"/>
          </a:xfrm>
          <a:prstGeom prst="rect">
            <a:avLst/>
          </a:prstGeom>
        </p:spPr>
      </p:pic>
      <p:sp>
        <p:nvSpPr>
          <p:cNvPr id="10" name="文本框 9">
            <a:extLst>
              <a:ext uri="{FF2B5EF4-FFF2-40B4-BE49-F238E27FC236}">
                <a16:creationId xmlns:a16="http://schemas.microsoft.com/office/drawing/2014/main" id="{23864179-3A7F-3F05-EC52-938203723192}"/>
              </a:ext>
            </a:extLst>
          </p:cNvPr>
          <p:cNvSpPr txBox="1"/>
          <p:nvPr/>
        </p:nvSpPr>
        <p:spPr>
          <a:xfrm>
            <a:off x="827584" y="2243652"/>
            <a:ext cx="4392488" cy="156966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zh-CN" sz="2400"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By Alan Ross Anderson and Nuel </a:t>
            </a:r>
            <a:r>
              <a:rPr lang="en-US" altLang="zh-CN" sz="2400" dirty="0" err="1">
                <a:solidFill>
                  <a:srgbClr val="080808"/>
                </a:solidFill>
                <a:latin typeface="Times New Roman" panose="02020603050405020304" pitchFamily="18" charset="0"/>
                <a:ea typeface="宋体" panose="02010600030101010101" pitchFamily="2" charset="-122"/>
                <a:cs typeface="Times New Roman" panose="02020603050405020304" pitchFamily="18" charset="0"/>
              </a:rPr>
              <a:t>D.Belnap,Jr</a:t>
            </a:r>
            <a:r>
              <a:rPr lang="en-US" altLang="zh-CN" sz="2400" dirty="0">
                <a:solidFill>
                  <a:srgbClr val="080808"/>
                </a:solidFill>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Princeton University Press, Vol. 1, 1975</a:t>
            </a:r>
            <a:r>
              <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rPr>
              <a:t>Vol. 2 (with J. Michael Dunn), 1993.</a:t>
            </a:r>
            <a:endParaRPr kumimoji="0" lang="zh-CN" altLang="en-US" sz="2400" i="0" u="none" strike="noStrike" kern="1200" cap="none" spc="0" normalizeH="0" baseline="0" noProof="0" dirty="0">
              <a:ln>
                <a:noFill/>
              </a:ln>
              <a:solidFill>
                <a:srgbClr val="080808"/>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566726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CF189-3B69-68F6-AF76-0AD9E99C3C7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8EF7D1F-0A3E-3D97-64F4-91AF65569E73}"/>
              </a:ext>
            </a:extLst>
          </p:cNvPr>
          <p:cNvSpPr txBox="1"/>
          <p:nvPr/>
        </p:nvSpPr>
        <p:spPr>
          <a:xfrm>
            <a:off x="881590" y="2248584"/>
            <a:ext cx="7380820" cy="646331"/>
          </a:xfrm>
          <a:prstGeom prst="rect">
            <a:avLst/>
          </a:prstGeom>
          <a:noFill/>
        </p:spPr>
        <p:txBody>
          <a:bodyPr wrap="square" rtlCol="0">
            <a:spAutoFit/>
          </a:bodyPr>
          <a:lstStyle/>
          <a:p>
            <a:r>
              <a:rPr lang="en-US" altLang="zh-CN" sz="3600" b="1" dirty="0">
                <a:solidFill>
                  <a:srgbClr val="080808"/>
                </a:solidFill>
                <a:latin typeface="Times New Roman" panose="02020603050405020304" pitchFamily="18" charset="0"/>
                <a:cs typeface="Times New Roman" panose="02020603050405020304" pitchFamily="18" charset="0"/>
              </a:rPr>
              <a:t>Ⅲ. Only somewhat counter-intuitive</a:t>
            </a:r>
          </a:p>
        </p:txBody>
      </p:sp>
      <p:sp>
        <p:nvSpPr>
          <p:cNvPr id="3" name="矩形 2">
            <a:extLst>
              <a:ext uri="{FF2B5EF4-FFF2-40B4-BE49-F238E27FC236}">
                <a16:creationId xmlns:a16="http://schemas.microsoft.com/office/drawing/2014/main" id="{2A531D26-067D-D092-145D-DA2E342B8D69}"/>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12</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0397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B3D0A-1C16-1552-0E84-4ADD91BA623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EE5E5EF-6055-FADD-4F3A-B642E629E2FE}"/>
              </a:ext>
            </a:extLst>
          </p:cNvPr>
          <p:cNvSpPr txBox="1"/>
          <p:nvPr/>
        </p:nvSpPr>
        <p:spPr>
          <a:xfrm>
            <a:off x="683568" y="411510"/>
            <a:ext cx="360040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Ⅲ. Only somewhat counter-intuitive</a:t>
            </a:r>
          </a:p>
        </p:txBody>
      </p:sp>
      <p:cxnSp>
        <p:nvCxnSpPr>
          <p:cNvPr id="5" name="直接连接符 4">
            <a:extLst>
              <a:ext uri="{FF2B5EF4-FFF2-40B4-BE49-F238E27FC236}">
                <a16:creationId xmlns:a16="http://schemas.microsoft.com/office/drawing/2014/main" id="{E5E3CFC8-AF6D-F7A6-1449-7588DDF14FD2}"/>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B8D78DDA-CC3F-825A-E548-1B142A289B70}"/>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13</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EE216B51-8975-E11C-824A-D94B830B8155}"/>
              </a:ext>
            </a:extLst>
          </p:cNvPr>
          <p:cNvPicPr>
            <a:picLocks noChangeAspect="1"/>
          </p:cNvPicPr>
          <p:nvPr/>
        </p:nvPicPr>
        <p:blipFill>
          <a:blip r:embed="rId2"/>
          <a:stretch>
            <a:fillRect/>
          </a:stretch>
        </p:blipFill>
        <p:spPr>
          <a:xfrm>
            <a:off x="2829560" y="1307782"/>
            <a:ext cx="3484880" cy="2527935"/>
          </a:xfrm>
          <a:prstGeom prst="rect">
            <a:avLst/>
          </a:prstGeom>
          <a:noFill/>
          <a:ln>
            <a:noFill/>
          </a:ln>
        </p:spPr>
      </p:pic>
    </p:spTree>
    <p:extLst>
      <p:ext uri="{BB962C8B-B14F-4D97-AF65-F5344CB8AC3E}">
        <p14:creationId xmlns:p14="http://schemas.microsoft.com/office/powerpoint/2010/main" val="1275150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F0A83-A831-B2BD-A092-495C6785B1E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7A5F193-78CA-B869-43F7-44469809ECD0}"/>
              </a:ext>
            </a:extLst>
          </p:cNvPr>
          <p:cNvSpPr txBox="1"/>
          <p:nvPr/>
        </p:nvSpPr>
        <p:spPr>
          <a:xfrm>
            <a:off x="683568" y="411510"/>
            <a:ext cx="360040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Ⅲ. Only somewhat counter-intuitive</a:t>
            </a:r>
          </a:p>
        </p:txBody>
      </p:sp>
      <p:cxnSp>
        <p:nvCxnSpPr>
          <p:cNvPr id="5" name="直接连接符 4">
            <a:extLst>
              <a:ext uri="{FF2B5EF4-FFF2-40B4-BE49-F238E27FC236}">
                <a16:creationId xmlns:a16="http://schemas.microsoft.com/office/drawing/2014/main" id="{FF04581E-88B5-F6BD-DFFF-0B993C5D11C3}"/>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743ED775-7427-1AD4-E036-5EC0177422AF}"/>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14</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19CB7DD9-4B54-67D2-A829-841ADE2AD566}"/>
              </a:ext>
            </a:extLst>
          </p:cNvPr>
          <p:cNvSpPr txBox="1"/>
          <p:nvPr/>
        </p:nvSpPr>
        <p:spPr>
          <a:xfrm>
            <a:off x="359532" y="1007606"/>
            <a:ext cx="8424936" cy="3416320"/>
          </a:xfrm>
          <a:prstGeom prst="rect">
            <a:avLst/>
          </a:prstGeom>
          <a:noFill/>
        </p:spPr>
        <p:txBody>
          <a:bodyPr wrap="square" rtlCol="0">
            <a:spAutoFit/>
          </a:bodyPr>
          <a:lstStyle/>
          <a:p>
            <a:pPr algn="just"/>
            <a:r>
              <a:rPr lang="en-US" altLang="zh-CN" sz="2400" dirty="0">
                <a:solidFill>
                  <a:srgbClr val="080808"/>
                </a:solidFill>
                <a:latin typeface="Times New Roman" panose="02020603050405020304" pitchFamily="18" charset="0"/>
                <a:cs typeface="Times New Roman" panose="02020603050405020304" pitchFamily="18" charset="0"/>
              </a:rPr>
              <a:t>• In case 1, I am healthy and I come to class. I have clearly kept my promise; the conditional is true. </a:t>
            </a:r>
          </a:p>
          <a:p>
            <a:pPr algn="just"/>
            <a:r>
              <a:rPr lang="en-US" altLang="zh-CN" sz="2400" dirty="0">
                <a:solidFill>
                  <a:srgbClr val="080808"/>
                </a:solidFill>
                <a:latin typeface="Times New Roman" panose="02020603050405020304" pitchFamily="18" charset="0"/>
                <a:cs typeface="Times New Roman" panose="02020603050405020304" pitchFamily="18" charset="0"/>
              </a:rPr>
              <a:t>• In case 2, I am healthy, but I have decided to stay home and read magazines. I have broken my promise; the conditional is false. </a:t>
            </a:r>
          </a:p>
          <a:p>
            <a:pPr algn="just"/>
            <a:r>
              <a:rPr lang="en-US" altLang="zh-CN" sz="2400" dirty="0">
                <a:solidFill>
                  <a:srgbClr val="080808"/>
                </a:solidFill>
                <a:latin typeface="Times New Roman" panose="02020603050405020304" pitchFamily="18" charset="0"/>
                <a:cs typeface="Times New Roman" panose="02020603050405020304" pitchFamily="18" charset="0"/>
              </a:rPr>
              <a:t>• In case 3, I am not healthy, but I have come to class anyway. I am sneezing all over you, and you're not happy about it, but I did not violate my promise; the conditional is true. </a:t>
            </a:r>
          </a:p>
          <a:p>
            <a:pPr algn="just"/>
            <a:r>
              <a:rPr lang="en-US" altLang="zh-CN" sz="2400" dirty="0">
                <a:solidFill>
                  <a:srgbClr val="080808"/>
                </a:solidFill>
                <a:latin typeface="Times New Roman" panose="02020603050405020304" pitchFamily="18" charset="0"/>
                <a:cs typeface="Times New Roman" panose="02020603050405020304" pitchFamily="18" charset="0"/>
              </a:rPr>
              <a:t>• In case 4, I am not healthy, and I did not come to class. I did not violate my promise; the conditional is true.</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9566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65923-D297-47B5-40AB-DAF42B68B18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F3465C0-77FA-D9EE-D397-F776D6851A03}"/>
              </a:ext>
            </a:extLst>
          </p:cNvPr>
          <p:cNvSpPr txBox="1"/>
          <p:nvPr/>
        </p:nvSpPr>
        <p:spPr>
          <a:xfrm>
            <a:off x="683568" y="411510"/>
            <a:ext cx="360040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Ⅲ. Only somewhat counter-intuitive</a:t>
            </a:r>
          </a:p>
        </p:txBody>
      </p:sp>
      <p:cxnSp>
        <p:nvCxnSpPr>
          <p:cNvPr id="5" name="直接连接符 4">
            <a:extLst>
              <a:ext uri="{FF2B5EF4-FFF2-40B4-BE49-F238E27FC236}">
                <a16:creationId xmlns:a16="http://schemas.microsoft.com/office/drawing/2014/main" id="{4F8B6532-096A-C1FD-DFF1-D49C0E3FDA8C}"/>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B28C6EC9-93B0-55E4-7542-BE6F6F152BF5}"/>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15</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3356D179-00DC-F2FF-23EB-8965DC510BA2}"/>
              </a:ext>
            </a:extLst>
          </p:cNvPr>
          <p:cNvSpPr txBox="1"/>
          <p:nvPr/>
        </p:nvSpPr>
        <p:spPr>
          <a:xfrm>
            <a:off x="1871700" y="1971585"/>
            <a:ext cx="5400600" cy="1200329"/>
          </a:xfrm>
          <a:prstGeom prst="rect">
            <a:avLst/>
          </a:prstGeom>
          <a:noFill/>
        </p:spPr>
        <p:txBody>
          <a:bodyPr wrap="square" rtlCol="0">
            <a:spAutoFit/>
          </a:bodyPr>
          <a:lstStyle/>
          <a:p>
            <a:pPr algn="just"/>
            <a:r>
              <a:rPr lang="en-US" altLang="zh-CN" sz="2400" dirty="0">
                <a:solidFill>
                  <a:srgbClr val="080808"/>
                </a:solidFill>
                <a:latin typeface="Times New Roman" panose="02020603050405020304" pitchFamily="18" charset="0"/>
                <a:cs typeface="Times New Roman" panose="02020603050405020304" pitchFamily="18" charset="0"/>
              </a:rPr>
              <a:t>If n is a perfect square, then n is not prime.</a:t>
            </a:r>
          </a:p>
          <a:p>
            <a:pPr algn="just"/>
            <a:endParaRPr lang="en-US" altLang="zh-CN" sz="2400" dirty="0">
              <a:solidFill>
                <a:srgbClr val="080808"/>
              </a:solidFill>
              <a:latin typeface="Times New Roman" panose="02020603050405020304" pitchFamily="18" charset="0"/>
              <a:cs typeface="Times New Roman" panose="02020603050405020304" pitchFamily="18" charset="0"/>
            </a:endParaRPr>
          </a:p>
          <a:p>
            <a:pPr algn="just"/>
            <a:r>
              <a:rPr lang="en-US" altLang="zh-CN" sz="2400" dirty="0">
                <a:solidFill>
                  <a:srgbClr val="080808"/>
                </a:solidFill>
                <a:latin typeface="Times New Roman" panose="02020603050405020304" pitchFamily="18" charset="0"/>
                <a:cs typeface="Times New Roman" panose="02020603050405020304" pitchFamily="18" charset="0"/>
              </a:rPr>
              <a:t>If 3 is a perfect square, then 3 is not prime.</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2258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B5ED6-45ED-49DD-D2E8-A7BD705172E0}"/>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312CD7D-8CFF-773B-FBB5-8455FA6FC01C}"/>
              </a:ext>
            </a:extLst>
          </p:cNvPr>
          <p:cNvSpPr txBox="1"/>
          <p:nvPr/>
        </p:nvSpPr>
        <p:spPr>
          <a:xfrm>
            <a:off x="683568" y="411510"/>
            <a:ext cx="360040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Ⅲ. Only somewhat counter-intuitive</a:t>
            </a:r>
          </a:p>
        </p:txBody>
      </p:sp>
      <p:cxnSp>
        <p:nvCxnSpPr>
          <p:cNvPr id="5" name="直接连接符 4">
            <a:extLst>
              <a:ext uri="{FF2B5EF4-FFF2-40B4-BE49-F238E27FC236}">
                <a16:creationId xmlns:a16="http://schemas.microsoft.com/office/drawing/2014/main" id="{C01CA3A8-FF66-CEB9-4044-17CD8DF80B2F}"/>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D62C921F-68E5-D17C-E5EC-6F92B7E506B3}"/>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1</a:t>
            </a:r>
            <a:r>
              <a:rPr lang="en-US" altLang="zh-CN" sz="1600" b="1"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97919055-898C-F953-0E42-3D9A7BB26609}"/>
              </a:ext>
            </a:extLst>
          </p:cNvPr>
          <p:cNvSpPr txBox="1"/>
          <p:nvPr/>
        </p:nvSpPr>
        <p:spPr>
          <a:xfrm>
            <a:off x="179512" y="922076"/>
            <a:ext cx="8784976" cy="3785652"/>
          </a:xfrm>
          <a:prstGeom prst="rect">
            <a:avLst/>
          </a:prstGeom>
          <a:noFill/>
        </p:spPr>
        <p:txBody>
          <a:bodyPr wrap="square" rtlCol="0">
            <a:spAutoFit/>
          </a:bodyPr>
          <a:lstStyle/>
          <a:p>
            <a:pPr algn="just"/>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1</a:t>
            </a:r>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The perversity of material implication is deliberate, for it is the only way to get truth-functionality. </a:t>
            </a:r>
          </a:p>
          <a:p>
            <a:pPr algn="just"/>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2</a:t>
            </a:r>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The perversity violates only our ordinary expectations, not any logical principles. </a:t>
            </a:r>
          </a:p>
          <a:p>
            <a:pPr algn="just"/>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3</a:t>
            </a:r>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For material implication, despite its perversity, suffices to capture the logically essential core of meaning in ordinary uses of implication. </a:t>
            </a:r>
          </a:p>
          <a:p>
            <a:pPr algn="just"/>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4</a:t>
            </a:r>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The counter-intuitive material implication distorts nothing essential and, because it is truth-functional, allows us to test the validity of arguments that contain implication statements.</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1101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BEED-4884-AFC4-471E-6F2B8EF2054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6BCF452-10CE-510F-1687-233B7421869C}"/>
              </a:ext>
            </a:extLst>
          </p:cNvPr>
          <p:cNvSpPr txBox="1"/>
          <p:nvPr/>
        </p:nvSpPr>
        <p:spPr>
          <a:xfrm>
            <a:off x="1619672" y="2248584"/>
            <a:ext cx="5904656" cy="646331"/>
          </a:xfrm>
          <a:prstGeom prst="rect">
            <a:avLst/>
          </a:prstGeom>
          <a:noFill/>
        </p:spPr>
        <p:txBody>
          <a:bodyPr wrap="square" rtlCol="0">
            <a:spAutoFit/>
          </a:bodyPr>
          <a:lstStyle/>
          <a:p>
            <a:r>
              <a:rPr lang="en-US" altLang="zh-CN" sz="3600" b="1" dirty="0">
                <a:solidFill>
                  <a:srgbClr val="080808"/>
                </a:solidFill>
                <a:latin typeface="Times New Roman" panose="02020603050405020304" pitchFamily="18" charset="0"/>
                <a:cs typeface="Times New Roman" panose="02020603050405020304" pitchFamily="18" charset="0"/>
              </a:rPr>
              <a:t>Ⅳ. Application to arguments</a:t>
            </a:r>
          </a:p>
        </p:txBody>
      </p:sp>
      <p:sp>
        <p:nvSpPr>
          <p:cNvPr id="3" name="矩形 2">
            <a:extLst>
              <a:ext uri="{FF2B5EF4-FFF2-40B4-BE49-F238E27FC236}">
                <a16:creationId xmlns:a16="http://schemas.microsoft.com/office/drawing/2014/main" id="{0E0A47BE-2E30-D90C-CDEF-63AC455223D2}"/>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17</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23242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CF947-C6F0-C724-FE51-3AC13A152AF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F50F451-8501-70EC-920B-ACDFEEFDD41A}"/>
              </a:ext>
            </a:extLst>
          </p:cNvPr>
          <p:cNvSpPr txBox="1"/>
          <p:nvPr/>
        </p:nvSpPr>
        <p:spPr>
          <a:xfrm>
            <a:off x="683568" y="411510"/>
            <a:ext cx="288032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Ⅳ. Application to arguments</a:t>
            </a:r>
          </a:p>
        </p:txBody>
      </p:sp>
      <p:cxnSp>
        <p:nvCxnSpPr>
          <p:cNvPr id="5" name="直接连接符 4">
            <a:extLst>
              <a:ext uri="{FF2B5EF4-FFF2-40B4-BE49-F238E27FC236}">
                <a16:creationId xmlns:a16="http://schemas.microsoft.com/office/drawing/2014/main" id="{EF756100-564D-4213-8740-09A2467606A9}"/>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19AC01D2-834B-5D47-D835-ABCDB2F3D5B2}"/>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a:t>
            </a:r>
            <a:r>
              <a:rPr lang="en-US" altLang="zh-CN" sz="1600" b="1"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552055E4-92E6-2F71-50E3-FB9A8EF2B835}"/>
              </a:ext>
            </a:extLst>
          </p:cNvPr>
          <p:cNvSpPr txBox="1"/>
          <p:nvPr/>
        </p:nvSpPr>
        <p:spPr>
          <a:xfrm>
            <a:off x="1115616" y="1007606"/>
            <a:ext cx="6912768" cy="3416320"/>
          </a:xfrm>
          <a:prstGeom prst="rect">
            <a:avLst/>
          </a:prstGeom>
          <a:noFill/>
        </p:spPr>
        <p:txBody>
          <a:bodyPr wrap="square" rtlCol="0">
            <a:spAutoFit/>
          </a:bodyPr>
          <a:lstStyle/>
          <a:p>
            <a:pPr algn="just"/>
            <a:r>
              <a:rPr lang="en-US" altLang="zh-CN" sz="2400" dirty="0">
                <a:solidFill>
                  <a:srgbClr val="080808"/>
                </a:solidFill>
                <a:latin typeface="Times New Roman" panose="02020603050405020304" pitchFamily="18" charset="0"/>
                <a:cs typeface="Times New Roman" panose="02020603050405020304" pitchFamily="18" charset="0"/>
              </a:rPr>
              <a:t>Conditional statements have corresponding arguments, just as arguments have corresponding conditionals.</a:t>
            </a:r>
          </a:p>
          <a:p>
            <a:pPr algn="just"/>
            <a:endParaRPr lang="en-US" altLang="zh-CN" sz="2400" dirty="0">
              <a:solidFill>
                <a:srgbClr val="080808"/>
              </a:solidFill>
              <a:latin typeface="Times New Roman" panose="02020603050405020304" pitchFamily="18" charset="0"/>
              <a:cs typeface="Times New Roman" panose="02020603050405020304" pitchFamily="18" charset="0"/>
            </a:endParaRPr>
          </a:p>
          <a:p>
            <a:pPr algn="just"/>
            <a:r>
              <a:rPr lang="en-US" altLang="zh-CN" sz="2400" dirty="0">
                <a:solidFill>
                  <a:srgbClr val="080808"/>
                </a:solidFill>
                <a:latin typeface="Times New Roman" panose="02020603050405020304" pitchFamily="18" charset="0"/>
                <a:cs typeface="Times New Roman" panose="02020603050405020304" pitchFamily="18" charset="0"/>
              </a:rPr>
              <a:t>Argument: </a:t>
            </a:r>
          </a:p>
          <a:p>
            <a:pPr algn="just"/>
            <a:r>
              <a:rPr lang="en-US" altLang="zh-CN" sz="2400" dirty="0">
                <a:solidFill>
                  <a:srgbClr val="080808"/>
                </a:solidFill>
                <a:latin typeface="Times New Roman" panose="02020603050405020304" pitchFamily="18" charset="0"/>
                <a:cs typeface="Times New Roman" panose="02020603050405020304" pitchFamily="18" charset="0"/>
              </a:rPr>
              <a:t>Premise 1: All humans will die.</a:t>
            </a:r>
          </a:p>
          <a:p>
            <a:pPr algn="just"/>
            <a:r>
              <a:rPr lang="en-US" altLang="zh-CN" sz="2400" dirty="0">
                <a:solidFill>
                  <a:srgbClr val="080808"/>
                </a:solidFill>
                <a:latin typeface="Times New Roman" panose="02020603050405020304" pitchFamily="18" charset="0"/>
                <a:cs typeface="Times New Roman" panose="02020603050405020304" pitchFamily="18" charset="0"/>
              </a:rPr>
              <a:t>Premise 2: Socrates is a human.</a:t>
            </a:r>
          </a:p>
          <a:p>
            <a:pPr algn="just"/>
            <a:r>
              <a:rPr lang="en-US" altLang="zh-CN" sz="2400" dirty="0">
                <a:solidFill>
                  <a:srgbClr val="080808"/>
                </a:solidFill>
                <a:latin typeface="Times New Roman" panose="02020603050405020304" pitchFamily="18" charset="0"/>
                <a:cs typeface="Times New Roman" panose="02020603050405020304" pitchFamily="18" charset="0"/>
              </a:rPr>
              <a:t>Conclusion: Socrates will die.</a:t>
            </a:r>
          </a:p>
          <a:p>
            <a:pPr algn="just"/>
            <a:r>
              <a:rPr lang="en-US" altLang="zh-CN" sz="2400" dirty="0">
                <a:solidFill>
                  <a:srgbClr val="080808"/>
                </a:solidFill>
                <a:latin typeface="Times New Roman" panose="02020603050405020304" pitchFamily="18" charset="0"/>
                <a:cs typeface="Times New Roman" panose="02020603050405020304" pitchFamily="18" charset="0"/>
              </a:rPr>
              <a:t>Corresponding conditional statement: If a person is a human, then that person will die.</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1284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35EFC-FDE6-A49A-98E8-3B28EE17F97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009BE10-2504-79CB-E50C-EB80A3D65E4E}"/>
              </a:ext>
            </a:extLst>
          </p:cNvPr>
          <p:cNvSpPr txBox="1"/>
          <p:nvPr/>
        </p:nvSpPr>
        <p:spPr>
          <a:xfrm>
            <a:off x="683568" y="411510"/>
            <a:ext cx="288032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Ⅳ. Application to arguments</a:t>
            </a:r>
          </a:p>
        </p:txBody>
      </p:sp>
      <p:cxnSp>
        <p:nvCxnSpPr>
          <p:cNvPr id="5" name="直接连接符 4">
            <a:extLst>
              <a:ext uri="{FF2B5EF4-FFF2-40B4-BE49-F238E27FC236}">
                <a16:creationId xmlns:a16="http://schemas.microsoft.com/office/drawing/2014/main" id="{6854CA9B-5BE4-79CC-D191-B9947DFF4E87}"/>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7F329EE6-3681-E975-B262-60631275F2ED}"/>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a:t>
            </a:r>
            <a:r>
              <a:rPr lang="en-US" altLang="zh-CN" sz="1600" b="1"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C95FFFE6-622A-E170-C74E-93541B3EBFB5}"/>
              </a:ext>
            </a:extLst>
          </p:cNvPr>
          <p:cNvSpPr txBox="1"/>
          <p:nvPr/>
        </p:nvSpPr>
        <p:spPr>
          <a:xfrm>
            <a:off x="971600" y="1602254"/>
            <a:ext cx="7200800" cy="1938992"/>
          </a:xfrm>
          <a:prstGeom prst="rect">
            <a:avLst/>
          </a:prstGeom>
          <a:noFill/>
        </p:spPr>
        <p:txBody>
          <a:bodyPr wrap="square" rtlCol="0">
            <a:spAutoFit/>
          </a:bodyPr>
          <a:lstStyle/>
          <a:p>
            <a:pPr algn="just"/>
            <a:r>
              <a:rPr lang="en-US" altLang="zh-CN" sz="2400" dirty="0">
                <a:solidFill>
                  <a:srgbClr val="080808"/>
                </a:solidFill>
                <a:latin typeface="Times New Roman" panose="02020603050405020304" pitchFamily="18" charset="0"/>
                <a:cs typeface="Times New Roman" panose="02020603050405020304" pitchFamily="18" charset="0"/>
              </a:rPr>
              <a:t>Argument:</a:t>
            </a:r>
          </a:p>
          <a:p>
            <a:pPr algn="just"/>
            <a:r>
              <a:rPr lang="en-US" altLang="zh-CN" sz="2400" dirty="0">
                <a:solidFill>
                  <a:srgbClr val="080808"/>
                </a:solidFill>
                <a:latin typeface="Times New Roman" panose="02020603050405020304" pitchFamily="18" charset="0"/>
                <a:cs typeface="Times New Roman" panose="02020603050405020304" pitchFamily="18" charset="0"/>
              </a:rPr>
              <a:t>Premise 1: If A and B, then C.</a:t>
            </a:r>
          </a:p>
          <a:p>
            <a:pPr algn="just"/>
            <a:r>
              <a:rPr lang="en-US" altLang="zh-CN" sz="2400" dirty="0">
                <a:solidFill>
                  <a:srgbClr val="080808"/>
                </a:solidFill>
                <a:latin typeface="Times New Roman" panose="02020603050405020304" pitchFamily="18" charset="0"/>
                <a:cs typeface="Times New Roman" panose="02020603050405020304" pitchFamily="18" charset="0"/>
              </a:rPr>
              <a:t>Premise 2: Both A and B have occurred.</a:t>
            </a:r>
          </a:p>
          <a:p>
            <a:pPr algn="just"/>
            <a:r>
              <a:rPr lang="en-US" altLang="zh-CN" sz="2400" dirty="0">
                <a:solidFill>
                  <a:srgbClr val="080808"/>
                </a:solidFill>
                <a:latin typeface="Times New Roman" panose="02020603050405020304" pitchFamily="18" charset="0"/>
                <a:cs typeface="Times New Roman" panose="02020603050405020304" pitchFamily="18" charset="0"/>
              </a:rPr>
              <a:t>Conclusion: C will occur.</a:t>
            </a:r>
          </a:p>
          <a:p>
            <a:pPr algn="just"/>
            <a:r>
              <a:rPr lang="en-US" altLang="zh-CN" sz="2400" dirty="0">
                <a:solidFill>
                  <a:srgbClr val="080808"/>
                </a:solidFill>
                <a:latin typeface="Times New Roman" panose="02020603050405020304" pitchFamily="18" charset="0"/>
                <a:cs typeface="Times New Roman" panose="02020603050405020304" pitchFamily="18" charset="0"/>
              </a:rPr>
              <a:t>Corresponding conditional statement: If A and B, then C.</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14501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9B3D7-7CAF-7A92-2333-CC9ECD6ED46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9948429-433B-B6E4-298D-B757BCDB18C5}"/>
              </a:ext>
            </a:extLst>
          </p:cNvPr>
          <p:cNvSpPr txBox="1"/>
          <p:nvPr/>
        </p:nvSpPr>
        <p:spPr>
          <a:xfrm>
            <a:off x="683568" y="411510"/>
            <a:ext cx="288032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Ⅳ. Application to arguments</a:t>
            </a:r>
          </a:p>
        </p:txBody>
      </p:sp>
      <p:cxnSp>
        <p:nvCxnSpPr>
          <p:cNvPr id="5" name="直接连接符 4">
            <a:extLst>
              <a:ext uri="{FF2B5EF4-FFF2-40B4-BE49-F238E27FC236}">
                <a16:creationId xmlns:a16="http://schemas.microsoft.com/office/drawing/2014/main" id="{6D75F14F-E1B5-F280-CA81-6DBA8B818D66}"/>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501976A5-54B7-D40C-7ADB-D89144C959A0}"/>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20</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9B378524-7CE0-9161-AE47-12985C29DDD3}"/>
              </a:ext>
            </a:extLst>
          </p:cNvPr>
          <p:cNvSpPr txBox="1"/>
          <p:nvPr/>
        </p:nvSpPr>
        <p:spPr>
          <a:xfrm>
            <a:off x="971600" y="1192272"/>
            <a:ext cx="7200800" cy="3046988"/>
          </a:xfrm>
          <a:prstGeom prst="rect">
            <a:avLst/>
          </a:prstGeom>
          <a:noFill/>
        </p:spPr>
        <p:txBody>
          <a:bodyPr wrap="square" rtlCol="0">
            <a:spAutoFit/>
          </a:bodyPr>
          <a:lstStyle/>
          <a:p>
            <a:pPr algn="just"/>
            <a:r>
              <a:rPr lang="en-US" altLang="zh-CN" sz="2400" dirty="0">
                <a:solidFill>
                  <a:srgbClr val="080808"/>
                </a:solidFill>
                <a:latin typeface="Times New Roman" panose="02020603050405020304" pitchFamily="18" charset="0"/>
                <a:cs typeface="Times New Roman" panose="02020603050405020304" pitchFamily="18" charset="0"/>
              </a:rPr>
              <a:t>How far do the paradoxes of material implication carry over to the corresponding arguments?</a:t>
            </a:r>
          </a:p>
          <a:p>
            <a:pPr algn="just"/>
            <a:endParaRPr lang="en-US" altLang="zh-CN" sz="2400" dirty="0">
              <a:solidFill>
                <a:srgbClr val="080808"/>
              </a:solidFill>
              <a:latin typeface="Times New Roman" panose="02020603050405020304" pitchFamily="18" charset="0"/>
              <a:cs typeface="Times New Roman" panose="02020603050405020304" pitchFamily="18" charset="0"/>
            </a:endParaRPr>
          </a:p>
          <a:p>
            <a:pPr algn="just"/>
            <a:r>
              <a:rPr lang="en-US" altLang="zh-CN" sz="2400" dirty="0">
                <a:solidFill>
                  <a:srgbClr val="080808"/>
                </a:solidFill>
                <a:latin typeface="Times New Roman" panose="02020603050405020304" pitchFamily="18" charset="0"/>
                <a:cs typeface="Times New Roman" panose="02020603050405020304" pitchFamily="18" charset="0"/>
              </a:rPr>
              <a:t>The answer is that they carry over only in a special sense, and not in a simple or straightforward way. The specific meaning here refers to the meaning of truth functions, while the simple or direct approach is meant for the general case or in everyday language.</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7758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745E7-74C9-9F50-DE35-8B160B76FE5A}"/>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8FD3998-F3C0-995D-3384-3AC755D744DB}"/>
              </a:ext>
            </a:extLst>
          </p:cNvPr>
          <p:cNvSpPr txBox="1"/>
          <p:nvPr/>
        </p:nvSpPr>
        <p:spPr>
          <a:xfrm>
            <a:off x="683568" y="411510"/>
            <a:ext cx="288032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Ⅳ. Application to arguments</a:t>
            </a:r>
          </a:p>
        </p:txBody>
      </p:sp>
      <p:cxnSp>
        <p:nvCxnSpPr>
          <p:cNvPr id="5" name="直接连接符 4">
            <a:extLst>
              <a:ext uri="{FF2B5EF4-FFF2-40B4-BE49-F238E27FC236}">
                <a16:creationId xmlns:a16="http://schemas.microsoft.com/office/drawing/2014/main" id="{40CFD8AE-2F2B-4FB9-42FE-1B16C911D6D6}"/>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7ABB77FF-1007-C9D4-C96B-16F0F7D7BD37}"/>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21</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AF961898-52BB-82E7-932D-7E5193B7ABE4}"/>
              </a:ext>
            </a:extLst>
          </p:cNvPr>
          <p:cNvSpPr txBox="1"/>
          <p:nvPr/>
        </p:nvSpPr>
        <p:spPr>
          <a:xfrm>
            <a:off x="683568" y="1376938"/>
            <a:ext cx="7776864" cy="2677656"/>
          </a:xfrm>
          <a:prstGeom prst="rect">
            <a:avLst/>
          </a:prstGeom>
          <a:noFill/>
        </p:spPr>
        <p:txBody>
          <a:bodyPr wrap="square" rtlCol="0">
            <a:spAutoFit/>
          </a:bodyPr>
          <a:lstStyle/>
          <a:p>
            <a:pPr algn="just"/>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1</a:t>
            </a:r>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If the conjunction of the premises of an argument is a contradiction, then the argument will be valid. = If the premises are necessarily false, then the argument will be valid.</a:t>
            </a:r>
          </a:p>
          <a:p>
            <a:pPr algn="just"/>
            <a:endParaRPr lang="en-US" altLang="zh-CN" sz="2400" dirty="0">
              <a:solidFill>
                <a:srgbClr val="080808"/>
              </a:solidFill>
              <a:latin typeface="Times New Roman" panose="02020603050405020304" pitchFamily="18" charset="0"/>
              <a:cs typeface="Times New Roman" panose="02020603050405020304" pitchFamily="18" charset="0"/>
            </a:endParaRPr>
          </a:p>
          <a:p>
            <a:pPr algn="just"/>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2</a:t>
            </a:r>
            <a:r>
              <a:rPr lang="zh-CN" altLang="en-US" sz="2400" dirty="0">
                <a:solidFill>
                  <a:srgbClr val="080808"/>
                </a:solidFill>
                <a:latin typeface="Times New Roman" panose="02020603050405020304" pitchFamily="18" charset="0"/>
                <a:cs typeface="Times New Roman" panose="02020603050405020304" pitchFamily="18" charset="0"/>
              </a:rPr>
              <a:t>）</a:t>
            </a:r>
            <a:r>
              <a:rPr lang="en-US" altLang="zh-CN" sz="2400" dirty="0">
                <a:solidFill>
                  <a:srgbClr val="080808"/>
                </a:solidFill>
                <a:latin typeface="Times New Roman" panose="02020603050405020304" pitchFamily="18" charset="0"/>
                <a:cs typeface="Times New Roman" panose="02020603050405020304" pitchFamily="18" charset="0"/>
              </a:rPr>
              <a:t>If the conclusion is a tautology, then the argument will be valid. = If the conclusion is necessarily true, then the argument will be valid.</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7521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B71D3-AA17-2ED5-19EB-E2E91FE8233C}"/>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7C41BA9-1F1E-9F8F-4430-1D22BB3788A5}"/>
              </a:ext>
            </a:extLst>
          </p:cNvPr>
          <p:cNvSpPr txBox="1"/>
          <p:nvPr/>
        </p:nvSpPr>
        <p:spPr>
          <a:xfrm>
            <a:off x="1385646" y="2248584"/>
            <a:ext cx="6372708" cy="646331"/>
          </a:xfrm>
          <a:prstGeom prst="rect">
            <a:avLst/>
          </a:prstGeom>
          <a:noFill/>
        </p:spPr>
        <p:txBody>
          <a:bodyPr wrap="square" rtlCol="0">
            <a:spAutoFit/>
          </a:bodyPr>
          <a:lstStyle/>
          <a:p>
            <a:r>
              <a:rPr lang="en-US" altLang="zh-CN" sz="3600" b="1" dirty="0">
                <a:solidFill>
                  <a:srgbClr val="080808"/>
                </a:solidFill>
                <a:latin typeface="Times New Roman" panose="02020603050405020304" pitchFamily="18" charset="0"/>
                <a:cs typeface="Times New Roman" panose="02020603050405020304" pitchFamily="18" charset="0"/>
              </a:rPr>
              <a:t>Ⅴ. Question and answer session</a:t>
            </a:r>
          </a:p>
        </p:txBody>
      </p:sp>
      <p:sp>
        <p:nvSpPr>
          <p:cNvPr id="3" name="矩形 2">
            <a:extLst>
              <a:ext uri="{FF2B5EF4-FFF2-40B4-BE49-F238E27FC236}">
                <a16:creationId xmlns:a16="http://schemas.microsoft.com/office/drawing/2014/main" id="{0879CA09-4182-470D-9BDD-9098EBA662EF}"/>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2</a:t>
            </a:r>
            <a:r>
              <a:rPr lang="en-US" altLang="zh-CN" sz="1600" b="1"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12527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CC010-7B0D-B375-F526-E53CFE09C213}"/>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846F314-B5B2-FDB2-E296-650A8B1D6BFA}"/>
              </a:ext>
            </a:extLst>
          </p:cNvPr>
          <p:cNvSpPr txBox="1"/>
          <p:nvPr/>
        </p:nvSpPr>
        <p:spPr>
          <a:xfrm>
            <a:off x="683568" y="411510"/>
            <a:ext cx="324036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Ⅴ. Question and answer session</a:t>
            </a:r>
          </a:p>
        </p:txBody>
      </p:sp>
      <p:cxnSp>
        <p:nvCxnSpPr>
          <p:cNvPr id="5" name="直接连接符 4">
            <a:extLst>
              <a:ext uri="{FF2B5EF4-FFF2-40B4-BE49-F238E27FC236}">
                <a16:creationId xmlns:a16="http://schemas.microsoft.com/office/drawing/2014/main" id="{F3E6505A-97F5-1430-736D-C275C4A8A073}"/>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5181D6B0-9140-A766-9BC4-DD1B36A6546B}"/>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23</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E5786291-C6E7-1282-4456-AA8EA8219D67}"/>
              </a:ext>
            </a:extLst>
          </p:cNvPr>
          <p:cNvSpPr txBox="1"/>
          <p:nvPr/>
        </p:nvSpPr>
        <p:spPr>
          <a:xfrm>
            <a:off x="809582" y="1786920"/>
            <a:ext cx="7524836" cy="1569660"/>
          </a:xfrm>
          <a:prstGeom prst="rect">
            <a:avLst/>
          </a:prstGeom>
          <a:noFill/>
        </p:spPr>
        <p:txBody>
          <a:bodyPr wrap="square" rtlCol="0">
            <a:spAutoFit/>
          </a:bodyPr>
          <a:lstStyle/>
          <a:p>
            <a:pPr algn="just"/>
            <a:r>
              <a:rPr lang="en-US" altLang="zh-CN" sz="2400" dirty="0">
                <a:solidFill>
                  <a:srgbClr val="080808"/>
                </a:solidFill>
                <a:latin typeface="Times New Roman" panose="02020603050405020304" pitchFamily="18" charset="0"/>
                <a:cs typeface="Times New Roman" panose="02020603050405020304" pitchFamily="18" charset="0"/>
              </a:rPr>
              <a:t>We know that simple material implication cannot fully convey the entailment relationships in natural language. So, can natural language be completely expressed by some other logical system?</a:t>
            </a:r>
            <a:endParaRPr lang="zh-CN" altLang="en-US" sz="24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6231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412B5-6892-4828-F5A4-C06793AF3154}"/>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BF0B328-0EBA-3B13-8341-E743BF651D91}"/>
              </a:ext>
            </a:extLst>
          </p:cNvPr>
          <p:cNvSpPr txBox="1"/>
          <p:nvPr/>
        </p:nvSpPr>
        <p:spPr>
          <a:xfrm>
            <a:off x="683568" y="411510"/>
            <a:ext cx="3240360"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80808"/>
                </a:solidFill>
                <a:effectLst/>
                <a:uLnTx/>
                <a:uFillTx/>
                <a:latin typeface="Calibri"/>
                <a:ea typeface="宋体" panose="02010600030101010101" pitchFamily="2" charset="-122"/>
                <a:cs typeface="Times New Roman" panose="02020603050405020304" pitchFamily="18" charset="0"/>
              </a:rPr>
              <a:t>Ⅴ. Question and answer session</a:t>
            </a:r>
          </a:p>
        </p:txBody>
      </p:sp>
      <p:cxnSp>
        <p:nvCxnSpPr>
          <p:cNvPr id="5" name="直接连接符 4">
            <a:extLst>
              <a:ext uri="{FF2B5EF4-FFF2-40B4-BE49-F238E27FC236}">
                <a16:creationId xmlns:a16="http://schemas.microsoft.com/office/drawing/2014/main" id="{5723D766-9D4A-4964-4583-16B9DC784BC8}"/>
              </a:ext>
            </a:extLst>
          </p:cNvPr>
          <p:cNvCxnSpPr>
            <a:cxnSpLocks/>
          </p:cNvCxnSpPr>
          <p:nvPr/>
        </p:nvCxnSpPr>
        <p:spPr>
          <a:xfrm>
            <a:off x="755576" y="843558"/>
            <a:ext cx="7416824" cy="0"/>
          </a:xfrm>
          <a:prstGeom prst="line">
            <a:avLst/>
          </a:prstGeom>
        </p:spPr>
        <p:style>
          <a:lnRef idx="2">
            <a:schemeClr val="accent6"/>
          </a:lnRef>
          <a:fillRef idx="0">
            <a:schemeClr val="accent6"/>
          </a:fillRef>
          <a:effectRef idx="1">
            <a:schemeClr val="accent6"/>
          </a:effectRef>
          <a:fontRef idx="minor">
            <a:schemeClr val="tx1"/>
          </a:fontRef>
        </p:style>
      </p:cxnSp>
      <p:sp>
        <p:nvSpPr>
          <p:cNvPr id="2" name="矩形 1">
            <a:extLst>
              <a:ext uri="{FF2B5EF4-FFF2-40B4-BE49-F238E27FC236}">
                <a16:creationId xmlns:a16="http://schemas.microsoft.com/office/drawing/2014/main" id="{C6EACDDB-A09E-4F33-D6CB-856306D23E19}"/>
              </a:ext>
            </a:extLst>
          </p:cNvPr>
          <p:cNvSpPr/>
          <p:nvPr/>
        </p:nvSpPr>
        <p:spPr>
          <a:xfrm>
            <a:off x="251520" y="4587974"/>
            <a:ext cx="864096" cy="338554"/>
          </a:xfrm>
          <a:prstGeom prst="rect">
            <a:avLst/>
          </a:prstGeom>
          <a:noFill/>
        </p:spPr>
        <p:txBody>
          <a:bodyPr wrap="squar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rPr>
              <a:t>Page 24</a:t>
            </a:r>
            <a:endParaRPr kumimoji="0" lang="zh-CN" altLang="en-US" sz="1600" b="1" i="0" u="none" strike="noStrike" kern="1200" cap="none" spc="0" normalizeH="0" baseline="0" noProof="0" dirty="0">
              <a:ln w="12700">
                <a:solidFill>
                  <a:srgbClr val="B09D96">
                    <a:lumMod val="75000"/>
                  </a:srgbClr>
                </a:solidFill>
                <a:prstDash val="solid"/>
              </a:ln>
              <a:pattFill prst="dkUpDiag">
                <a:fgClr>
                  <a:srgbClr val="B09D96"/>
                </a:fgClr>
                <a:bgClr>
                  <a:srgbClr val="B09D96">
                    <a:lumMod val="20000"/>
                    <a:lumOff val="80000"/>
                  </a:srgbClr>
                </a:bgClr>
              </a:pattFill>
              <a:effectLst>
                <a:outerShdw dist="38100" dir="2640000" algn="bl" rotWithShape="0">
                  <a:srgbClr val="B09D96">
                    <a:lumMod val="75000"/>
                  </a:srgbClr>
                </a:outerShdw>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0EB077C7-3273-4CD6-F2F0-611C4481D3CF}"/>
              </a:ext>
            </a:extLst>
          </p:cNvPr>
          <p:cNvSpPr txBox="1"/>
          <p:nvPr/>
        </p:nvSpPr>
        <p:spPr>
          <a:xfrm>
            <a:off x="1610671" y="1925419"/>
            <a:ext cx="5922658" cy="646331"/>
          </a:xfrm>
          <a:prstGeom prst="rect">
            <a:avLst/>
          </a:prstGeom>
          <a:noFill/>
        </p:spPr>
        <p:txBody>
          <a:bodyPr wrap="square" rtlCol="0">
            <a:spAutoFit/>
          </a:bodyPr>
          <a:lstStyle/>
          <a:p>
            <a:pPr algn="just"/>
            <a:r>
              <a:rPr lang="en-US" altLang="zh-CN" sz="3600" dirty="0">
                <a:solidFill>
                  <a:srgbClr val="080808"/>
                </a:solidFill>
                <a:latin typeface="Times New Roman" panose="02020603050405020304" pitchFamily="18" charset="0"/>
                <a:cs typeface="Times New Roman" panose="02020603050405020304" pitchFamily="18" charset="0"/>
              </a:rPr>
              <a:t>Audience Questioning Session</a:t>
            </a:r>
            <a:endParaRPr lang="zh-CN" altLang="en-US" sz="3600" dirty="0">
              <a:solidFill>
                <a:srgbClr val="08080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91028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E82DB-7AC9-5BA0-F7B8-DA8B8A0FB38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7469BEBA-5487-ABB5-8DE9-07F3D5CB0030}"/>
              </a:ext>
            </a:extLst>
          </p:cNvPr>
          <p:cNvSpPr txBox="1"/>
          <p:nvPr/>
        </p:nvSpPr>
        <p:spPr>
          <a:xfrm>
            <a:off x="3347808" y="2248584"/>
            <a:ext cx="2448272" cy="646331"/>
          </a:xfrm>
          <a:prstGeom prst="rect">
            <a:avLst/>
          </a:prstGeom>
          <a:noFill/>
        </p:spPr>
        <p:txBody>
          <a:bodyPr wrap="square" rtlCol="0">
            <a:spAutoFit/>
          </a:bodyPr>
          <a:lstStyle/>
          <a:p>
            <a:r>
              <a:rPr lang="en-US" altLang="zh-CN" sz="3600" b="1" dirty="0">
                <a:solidFill>
                  <a:srgbClr val="080808"/>
                </a:solidFill>
                <a:latin typeface="Times New Roman" panose="02020603050405020304" pitchFamily="18" charset="0"/>
                <a:cs typeface="Times New Roman" panose="02020603050405020304" pitchFamily="18" charset="0"/>
              </a:rPr>
              <a:t>Thank you!</a:t>
            </a:r>
            <a:endParaRPr lang="zh-CN" altLang="en-US" sz="3600" dirty="0">
              <a:solidFill>
                <a:srgbClr val="080808"/>
              </a:solidFill>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819186BD-5ED5-A150-2A4C-CD0CA75A2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5505" y="568066"/>
            <a:ext cx="6912878" cy="2075692"/>
          </a:xfrm>
          <a:prstGeom prst="rect">
            <a:avLst/>
          </a:prstGeom>
        </p:spPr>
      </p:pic>
      <p:pic>
        <p:nvPicPr>
          <p:cNvPr id="11" name="图片 10">
            <a:extLst>
              <a:ext uri="{FF2B5EF4-FFF2-40B4-BE49-F238E27FC236}">
                <a16:creationId xmlns:a16="http://schemas.microsoft.com/office/drawing/2014/main" id="{31B62285-6083-D5C0-EF91-6E0302A0E0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1115505" y="2643758"/>
            <a:ext cx="6912878" cy="2075692"/>
          </a:xfrm>
          <a:prstGeom prst="rect">
            <a:avLst/>
          </a:prstGeom>
        </p:spPr>
      </p:pic>
    </p:spTree>
    <p:extLst>
      <p:ext uri="{BB962C8B-B14F-4D97-AF65-F5344CB8AC3E}">
        <p14:creationId xmlns:p14="http://schemas.microsoft.com/office/powerpoint/2010/main" val="129151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er吧|PPT爱好者之家">
  <a:themeElements>
    <a:clrScheme name="自定义 1620">
      <a:dk1>
        <a:srgbClr val="B09D96"/>
      </a:dk1>
      <a:lt1>
        <a:srgbClr val="B09D96"/>
      </a:lt1>
      <a:dk2>
        <a:srgbClr val="B09D96"/>
      </a:dk2>
      <a:lt2>
        <a:srgbClr val="B09D96"/>
      </a:lt2>
      <a:accent1>
        <a:srgbClr val="080808"/>
      </a:accent1>
      <a:accent2>
        <a:srgbClr val="080808"/>
      </a:accent2>
      <a:accent3>
        <a:srgbClr val="080808"/>
      </a:accent3>
      <a:accent4>
        <a:srgbClr val="080808"/>
      </a:accent4>
      <a:accent5>
        <a:srgbClr val="080808"/>
      </a:accent5>
      <a:accent6>
        <a:srgbClr val="080808"/>
      </a:accent6>
      <a:hlink>
        <a:srgbClr val="080808"/>
      </a:hlink>
      <a:folHlink>
        <a:srgbClr val="080808"/>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TotalTime>
  <Words>1108</Words>
  <Application>Microsoft Office PowerPoint</Application>
  <PresentationFormat>全屏显示(16:9)</PresentationFormat>
  <Paragraphs>119</Paragraphs>
  <Slides>27</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Arial</vt:lpstr>
      <vt:lpstr>Calibri</vt:lpstr>
      <vt:lpstr>Times New Roman</vt:lpstr>
      <vt:lpstr>PPTer吧|PPT爱好者之家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Rao Chen Hao</dc:creator>
  <cp:lastModifiedBy>晨浩 饶</cp:lastModifiedBy>
  <cp:revision>18</cp:revision>
  <dcterms:created xsi:type="dcterms:W3CDTF">2014-06-06T07:22:00Z</dcterms:created>
  <dcterms:modified xsi:type="dcterms:W3CDTF">2025-10-10T09:37:03Z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408CC8BA78914D31922FFB20485D0C4C</vt:lpwstr>
  </property>
  <property fmtid="{D5CDD505-2E9C-101B-9397-08002B2CF9AE}" pid="3" name="KSOProductBuildVer">
    <vt:lpwstr>2052-11.1.0.11372</vt:lpwstr>
  </property>
</Properties>
</file>