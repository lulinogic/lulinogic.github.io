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3" r:id="rId9"/>
    <p:sldId id="270" r:id="rId10"/>
    <p:sldId id="265" r:id="rId11"/>
    <p:sldId id="266" r:id="rId12"/>
    <p:sldId id="271"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D75043-B227-8B2F-0CBA-26FCEF2BCFD9}" name="Yining Li" initials="YL" userId="fd1e396e7dc23d6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6" d="100"/>
          <a:sy n="86" d="100"/>
        </p:scale>
        <p:origin x="3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ABB5B0-4C25-4EF2-94D7-C1FD6A4DEA79}" type="datetimeFigureOut">
              <a:rPr lang="zh-CN" altLang="en-US" smtClean="0"/>
              <a:t>2026/3/27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052927-F99F-4BC0-85EB-83289615CD2B}" type="slidenum">
              <a:rPr lang="zh-CN" altLang="en-US" smtClean="0"/>
              <a:t>‹#›</a:t>
            </a:fld>
            <a:endParaRPr lang="zh-CN" altLang="en-US"/>
          </a:p>
        </p:txBody>
      </p:sp>
    </p:spTree>
    <p:extLst>
      <p:ext uri="{BB962C8B-B14F-4D97-AF65-F5344CB8AC3E}">
        <p14:creationId xmlns:p14="http://schemas.microsoft.com/office/powerpoint/2010/main" val="2902977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Why is the second one called a “function”? Take p(x) as an example: we must first interpret the denoting phrase “x”, then to substitute all the occurrence of “x” in that proposition, so it would be convenient if we consider the proposition as a function of x.</a:t>
            </a:r>
            <a:endParaRPr lang="zh-CN" altLang="en-US" dirty="0"/>
          </a:p>
        </p:txBody>
      </p:sp>
      <p:sp>
        <p:nvSpPr>
          <p:cNvPr id="4" name="灯片编号占位符 3"/>
          <p:cNvSpPr>
            <a:spLocks noGrp="1"/>
          </p:cNvSpPr>
          <p:nvPr>
            <p:ph type="sldNum" sz="quarter" idx="5"/>
          </p:nvPr>
        </p:nvSpPr>
        <p:spPr/>
        <p:txBody>
          <a:bodyPr/>
          <a:lstStyle/>
          <a:p>
            <a:fld id="{A1052927-F99F-4BC0-85EB-83289615CD2B}" type="slidenum">
              <a:rPr lang="zh-CN" altLang="en-US" smtClean="0"/>
              <a:t>4</a:t>
            </a:fld>
            <a:endParaRPr lang="zh-CN" altLang="en-US"/>
          </a:p>
        </p:txBody>
      </p:sp>
    </p:spTree>
    <p:extLst>
      <p:ext uri="{BB962C8B-B14F-4D97-AF65-F5344CB8AC3E}">
        <p14:creationId xmlns:p14="http://schemas.microsoft.com/office/powerpoint/2010/main" val="4166099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052927-F99F-4BC0-85EB-83289615CD2B}" type="slidenum">
              <a:rPr lang="zh-CN" altLang="en-US" smtClean="0"/>
              <a:t>6</a:t>
            </a:fld>
            <a:endParaRPr lang="zh-CN" altLang="en-US"/>
          </a:p>
        </p:txBody>
      </p:sp>
    </p:spTree>
    <p:extLst>
      <p:ext uri="{BB962C8B-B14F-4D97-AF65-F5344CB8AC3E}">
        <p14:creationId xmlns:p14="http://schemas.microsoft.com/office/powerpoint/2010/main" val="1037672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 overhauled this page and add an additional page (p9) after reading again.</a:t>
            </a:r>
            <a:endParaRPr lang="zh-CN" altLang="en-US" dirty="0"/>
          </a:p>
        </p:txBody>
      </p:sp>
      <p:sp>
        <p:nvSpPr>
          <p:cNvPr id="4" name="灯片编号占位符 3"/>
          <p:cNvSpPr>
            <a:spLocks noGrp="1"/>
          </p:cNvSpPr>
          <p:nvPr>
            <p:ph type="sldNum" sz="quarter" idx="5"/>
          </p:nvPr>
        </p:nvSpPr>
        <p:spPr/>
        <p:txBody>
          <a:bodyPr/>
          <a:lstStyle/>
          <a:p>
            <a:fld id="{A1052927-F99F-4BC0-85EB-83289615CD2B}" type="slidenum">
              <a:rPr lang="zh-CN" altLang="en-US" smtClean="0"/>
              <a:t>7</a:t>
            </a:fld>
            <a:endParaRPr lang="zh-CN" altLang="en-US"/>
          </a:p>
        </p:txBody>
      </p:sp>
    </p:spTree>
    <p:extLst>
      <p:ext uri="{BB962C8B-B14F-4D97-AF65-F5344CB8AC3E}">
        <p14:creationId xmlns:p14="http://schemas.microsoft.com/office/powerpoint/2010/main" val="3452673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Russell does not satisfy with the solution given by Frege, for his system cannot resolve the remaining two puzzles. </a:t>
            </a:r>
          </a:p>
          <a:p>
            <a:r>
              <a:rPr lang="en-US" altLang="zh-CN" dirty="0"/>
              <a:t>Russell’s final goal is to develop an advanced analyzing system, where denoting phrases can be diminished, thus the puzzle of null denotation, as well as the puzzle of excluded middle, can be resolved.</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1052927-F99F-4BC0-85EB-83289615CD2B}" type="slidenum">
              <a:rPr lang="zh-CN" altLang="en-US" smtClean="0"/>
              <a:t>9</a:t>
            </a:fld>
            <a:endParaRPr lang="zh-CN" altLang="en-US"/>
          </a:p>
        </p:txBody>
      </p:sp>
    </p:spTree>
    <p:extLst>
      <p:ext uri="{BB962C8B-B14F-4D97-AF65-F5344CB8AC3E}">
        <p14:creationId xmlns:p14="http://schemas.microsoft.com/office/powerpoint/2010/main" val="973496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begin with, let’s see what Russell concludes from analyzing the denoting phrase “the first line of Gray‘s Elegy”</a:t>
            </a:r>
            <a:r>
              <a:rPr lang="zh-CN" altLang="en-US" dirty="0"/>
              <a:t>。很显然，这一页的内容可以解决“指称对象不存在”的问题</a:t>
            </a:r>
            <a:r>
              <a:rPr lang="en-US" altLang="zh-CN" dirty="0"/>
              <a:t>——</a:t>
            </a:r>
            <a:r>
              <a:rPr lang="zh-CN" altLang="en-US" dirty="0"/>
              <a:t>我都把指称给翻译没了，指称对象存不存在就根本不重要了。</a:t>
            </a:r>
            <a:endParaRPr lang="en-US" altLang="zh-CN" dirty="0"/>
          </a:p>
          <a:p>
            <a:r>
              <a:rPr lang="zh-CN" altLang="en-US" dirty="0"/>
              <a:t>一般词语，我们都可以在现实中找到对应的</a:t>
            </a:r>
            <a:r>
              <a:rPr lang="en-US" altLang="zh-CN" dirty="0"/>
              <a:t>entity</a:t>
            </a:r>
          </a:p>
          <a:p>
            <a:r>
              <a:rPr lang="en-US" altLang="zh-CN" dirty="0"/>
              <a:t>This is the idea of reduction- since we cannot mention the meaning of an isolated denoting phrase, why can’t we just abandon it?</a:t>
            </a:r>
            <a:endParaRPr lang="zh-CN" altLang="en-US" dirty="0"/>
          </a:p>
        </p:txBody>
      </p:sp>
      <p:sp>
        <p:nvSpPr>
          <p:cNvPr id="4" name="灯片编号占位符 3"/>
          <p:cNvSpPr>
            <a:spLocks noGrp="1"/>
          </p:cNvSpPr>
          <p:nvPr>
            <p:ph type="sldNum" sz="quarter" idx="5"/>
          </p:nvPr>
        </p:nvSpPr>
        <p:spPr/>
        <p:txBody>
          <a:bodyPr/>
          <a:lstStyle/>
          <a:p>
            <a:fld id="{A1052927-F99F-4BC0-85EB-83289615CD2B}" type="slidenum">
              <a:rPr lang="zh-CN" altLang="en-US" smtClean="0"/>
              <a:t>10</a:t>
            </a:fld>
            <a:endParaRPr lang="zh-CN" altLang="en-US"/>
          </a:p>
        </p:txBody>
      </p:sp>
    </p:spTree>
    <p:extLst>
      <p:ext uri="{BB962C8B-B14F-4D97-AF65-F5344CB8AC3E}">
        <p14:creationId xmlns:p14="http://schemas.microsoft.com/office/powerpoint/2010/main" val="3395354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conserve the rule of excluded middle is an attempt on trying to get rid of the ambiguity of natural language, which is very useful in large language models nowadays.(Because a computer only has two digits 1 and 0)</a:t>
            </a:r>
            <a:endParaRPr lang="zh-CN" altLang="en-US" dirty="0"/>
          </a:p>
        </p:txBody>
      </p:sp>
      <p:sp>
        <p:nvSpPr>
          <p:cNvPr id="4" name="灯片编号占位符 3"/>
          <p:cNvSpPr>
            <a:spLocks noGrp="1"/>
          </p:cNvSpPr>
          <p:nvPr>
            <p:ph type="sldNum" sz="quarter" idx="5"/>
          </p:nvPr>
        </p:nvSpPr>
        <p:spPr/>
        <p:txBody>
          <a:bodyPr/>
          <a:lstStyle/>
          <a:p>
            <a:fld id="{A1052927-F99F-4BC0-85EB-83289615CD2B}" type="slidenum">
              <a:rPr lang="zh-CN" altLang="en-US" smtClean="0"/>
              <a:t>11</a:t>
            </a:fld>
            <a:endParaRPr lang="zh-CN" altLang="en-US"/>
          </a:p>
        </p:txBody>
      </p:sp>
    </p:spTree>
    <p:extLst>
      <p:ext uri="{BB962C8B-B14F-4D97-AF65-F5344CB8AC3E}">
        <p14:creationId xmlns:p14="http://schemas.microsoft.com/office/powerpoint/2010/main" val="3212613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I’m going to use the presentation of first predicate logic to demonstrate what Russell is advocating. Recall what we’ve just learnt 2 weeks ago.</a:t>
            </a:r>
            <a:endParaRPr lang="zh-CN" altLang="en-US" dirty="0"/>
          </a:p>
        </p:txBody>
      </p:sp>
      <p:sp>
        <p:nvSpPr>
          <p:cNvPr id="4" name="灯片编号占位符 3"/>
          <p:cNvSpPr>
            <a:spLocks noGrp="1"/>
          </p:cNvSpPr>
          <p:nvPr>
            <p:ph type="sldNum" sz="quarter" idx="5"/>
          </p:nvPr>
        </p:nvSpPr>
        <p:spPr/>
        <p:txBody>
          <a:bodyPr/>
          <a:lstStyle/>
          <a:p>
            <a:fld id="{A1052927-F99F-4BC0-85EB-83289615CD2B}" type="slidenum">
              <a:rPr lang="zh-CN" altLang="en-US" smtClean="0"/>
              <a:t>13</a:t>
            </a:fld>
            <a:endParaRPr lang="zh-CN" altLang="en-US"/>
          </a:p>
        </p:txBody>
      </p:sp>
    </p:spTree>
    <p:extLst>
      <p:ext uri="{BB962C8B-B14F-4D97-AF65-F5344CB8AC3E}">
        <p14:creationId xmlns:p14="http://schemas.microsoft.com/office/powerpoint/2010/main" val="4128350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3912549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3516379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2200594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4269810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3760667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269393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3681645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281000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140017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3056076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A7CDD81-132C-4A7F-AB15-B35F91265BEA}" type="slidenum">
              <a:rPr lang="zh-CN" altLang="en-US" smtClean="0"/>
              <a:t>‹#›</a:t>
            </a:fld>
            <a:endParaRPr lang="zh-CN"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15816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1042935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A7CDD81-132C-4A7F-AB15-B35F91265BEA}" type="slidenum">
              <a:rPr lang="zh-CN" altLang="en-US" smtClean="0"/>
              <a:t>‹#›</a:t>
            </a:fld>
            <a:endParaRPr lang="zh-CN"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021012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1928816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29818787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450907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C34C58E-6F3D-4ADC-8554-63CF6C856CA4}" type="datetimeFigureOut">
              <a:rPr lang="zh-CN" altLang="en-US" smtClean="0"/>
              <a:t>2026/3/27</a:t>
            </a:fld>
            <a:endParaRPr lang="zh-CN"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A7CDD81-132C-4A7F-AB15-B35F91265BEA}" type="slidenum">
              <a:rPr lang="zh-CN" altLang="en-US" smtClean="0"/>
              <a:t>‹#›</a:t>
            </a:fld>
            <a:endParaRPr lang="zh-CN" altLang="en-US"/>
          </a:p>
        </p:txBody>
      </p:sp>
    </p:spTree>
    <p:extLst>
      <p:ext uri="{BB962C8B-B14F-4D97-AF65-F5344CB8AC3E}">
        <p14:creationId xmlns:p14="http://schemas.microsoft.com/office/powerpoint/2010/main" val="13860713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1.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2.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sv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9"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9CBB1-7EE4-4C96-209B-5992A4A99462}"/>
              </a:ext>
            </a:extLst>
          </p:cNvPr>
          <p:cNvSpPr>
            <a:spLocks noGrp="1"/>
          </p:cNvSpPr>
          <p:nvPr>
            <p:ph type="ctrTitle"/>
          </p:nvPr>
        </p:nvSpPr>
        <p:spPr/>
        <p:txBody>
          <a:bodyPr/>
          <a:lstStyle/>
          <a:p>
            <a:pPr algn="ctr"/>
            <a:r>
              <a:rPr lang="en-US" altLang="zh-CN" dirty="0"/>
              <a:t>On Denoting</a:t>
            </a:r>
            <a:endParaRPr lang="zh-CN" altLang="en-US" dirty="0"/>
          </a:p>
        </p:txBody>
      </p:sp>
      <p:sp>
        <p:nvSpPr>
          <p:cNvPr id="3" name="副标题 2">
            <a:extLst>
              <a:ext uri="{FF2B5EF4-FFF2-40B4-BE49-F238E27FC236}">
                <a16:creationId xmlns:a16="http://schemas.microsoft.com/office/drawing/2014/main" id="{3B6EF0EB-EE22-FAF3-AC2E-256FBE02A53F}"/>
              </a:ext>
            </a:extLst>
          </p:cNvPr>
          <p:cNvSpPr>
            <a:spLocks noGrp="1"/>
          </p:cNvSpPr>
          <p:nvPr>
            <p:ph type="subTitle" idx="1"/>
          </p:nvPr>
        </p:nvSpPr>
        <p:spPr/>
        <p:txBody>
          <a:bodyPr/>
          <a:lstStyle/>
          <a:p>
            <a:r>
              <a:rPr lang="en-US" altLang="zh-CN" dirty="0"/>
              <a:t>Written by Bertrand Russell, presented by Yining Li (School of Life and Science)</a:t>
            </a:r>
            <a:endParaRPr lang="zh-CN" altLang="en-US" dirty="0"/>
          </a:p>
        </p:txBody>
      </p:sp>
    </p:spTree>
    <p:extLst>
      <p:ext uri="{BB962C8B-B14F-4D97-AF65-F5344CB8AC3E}">
        <p14:creationId xmlns:p14="http://schemas.microsoft.com/office/powerpoint/2010/main" val="527218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45E294-6DE0-05FA-AF8C-5A11551C338C}"/>
              </a:ext>
            </a:extLst>
          </p:cNvPr>
          <p:cNvSpPr>
            <a:spLocks noGrp="1"/>
          </p:cNvSpPr>
          <p:nvPr>
            <p:ph type="title"/>
          </p:nvPr>
        </p:nvSpPr>
        <p:spPr>
          <a:xfrm>
            <a:off x="667480" y="109749"/>
            <a:ext cx="8596668" cy="1320800"/>
          </a:xfrm>
        </p:spPr>
        <p:txBody>
          <a:bodyPr>
            <a:normAutofit/>
          </a:bodyPr>
          <a:lstStyle/>
          <a:p>
            <a:r>
              <a:rPr lang="en-US" altLang="zh-CN" sz="4800" dirty="0"/>
              <a:t>Contents</a:t>
            </a:r>
            <a:endParaRPr lang="zh-CN" altLang="en-US" sz="4800" dirty="0"/>
          </a:p>
        </p:txBody>
      </p:sp>
      <p:grpSp>
        <p:nvGrpSpPr>
          <p:cNvPr id="37" name="组合 36">
            <a:extLst>
              <a:ext uri="{FF2B5EF4-FFF2-40B4-BE49-F238E27FC236}">
                <a16:creationId xmlns:a16="http://schemas.microsoft.com/office/drawing/2014/main" id="{844F8DA4-033B-7B27-B235-C393A9F6D646}"/>
              </a:ext>
            </a:extLst>
          </p:cNvPr>
          <p:cNvGrpSpPr>
            <a:grpSpLocks noChangeAspect="1"/>
          </p:cNvGrpSpPr>
          <p:nvPr>
            <p:custDataLst>
              <p:tags r:id="rId1"/>
            </p:custDataLst>
          </p:nvPr>
        </p:nvGrpSpPr>
        <p:grpSpPr>
          <a:xfrm>
            <a:off x="745947" y="1184513"/>
            <a:ext cx="10700105" cy="5261969"/>
            <a:chOff x="746298" y="1147904"/>
            <a:chExt cx="10700105" cy="5261969"/>
          </a:xfrm>
        </p:grpSpPr>
        <p:pic>
          <p:nvPicPr>
            <p:cNvPr id="38" name="0" descr="枯萎的树 纯色填充">
              <a:extLst>
                <a:ext uri="{FF2B5EF4-FFF2-40B4-BE49-F238E27FC236}">
                  <a16:creationId xmlns:a16="http://schemas.microsoft.com/office/drawing/2014/main" id="{3AC0D61C-36F9-56B9-D98E-67CD6DEA31A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01646" y="1930401"/>
              <a:ext cx="3988708" cy="4479472"/>
            </a:xfrm>
            <a:prstGeom prst="rect">
              <a:avLst/>
            </a:prstGeom>
          </p:spPr>
        </p:pic>
        <p:grpSp>
          <p:nvGrpSpPr>
            <p:cNvPr id="39" name="组合 1">
              <a:extLst>
                <a:ext uri="{FF2B5EF4-FFF2-40B4-BE49-F238E27FC236}">
                  <a16:creationId xmlns:a16="http://schemas.microsoft.com/office/drawing/2014/main" id="{6986B474-12AC-F53C-939B-800F2D7A6C6D}"/>
                </a:ext>
              </a:extLst>
            </p:cNvPr>
            <p:cNvGrpSpPr/>
            <p:nvPr/>
          </p:nvGrpSpPr>
          <p:grpSpPr>
            <a:xfrm>
              <a:off x="750743" y="1147904"/>
              <a:ext cx="4215422" cy="1774112"/>
              <a:chOff x="796923" y="1273970"/>
              <a:chExt cx="4215422" cy="1774112"/>
            </a:xfrm>
          </p:grpSpPr>
          <p:sp>
            <p:nvSpPr>
              <p:cNvPr id="68" name="1">
                <a:extLst>
                  <a:ext uri="{FF2B5EF4-FFF2-40B4-BE49-F238E27FC236}">
                    <a16:creationId xmlns:a16="http://schemas.microsoft.com/office/drawing/2014/main" id="{45CE9C18-EB17-C7CF-2CD2-F60944DC28DE}"/>
                  </a:ext>
                </a:extLst>
              </p:cNvPr>
              <p:cNvSpPr/>
              <p:nvPr/>
            </p:nvSpPr>
            <p:spPr>
              <a:xfrm>
                <a:off x="4347243" y="2382980"/>
                <a:ext cx="665102" cy="665102"/>
              </a:xfrm>
              <a:prstGeom prst="ellipse">
                <a:avLst/>
              </a:prstGeom>
              <a:solidFill>
                <a:schemeClr val="accent1"/>
              </a:solidFill>
              <a:ln>
                <a:noFill/>
              </a:ln>
              <a:effectLst>
                <a:outerShdw blurRad="50800" dist="38100" dir="2700000" algn="tl"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1">
                <a:extLst>
                  <a:ext uri="{FF2B5EF4-FFF2-40B4-BE49-F238E27FC236}">
                    <a16:creationId xmlns:a16="http://schemas.microsoft.com/office/drawing/2014/main" id="{3EB05A2C-BDCB-FD68-D506-50E0F5F10C69}"/>
                  </a:ext>
                </a:extLst>
              </p:cNvPr>
              <p:cNvSpPr/>
              <p:nvPr/>
            </p:nvSpPr>
            <p:spPr>
              <a:xfrm>
                <a:off x="796923" y="1513448"/>
                <a:ext cx="3368678" cy="1312963"/>
              </a:xfrm>
              <a:prstGeom prst="roundRect">
                <a:avLst>
                  <a:gd name="adj" fmla="val 8842"/>
                </a:avLst>
              </a:prstGeom>
              <a:solidFill>
                <a:schemeClr val="accent1">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1">
                <a:extLst>
                  <a:ext uri="{FF2B5EF4-FFF2-40B4-BE49-F238E27FC236}">
                    <a16:creationId xmlns:a16="http://schemas.microsoft.com/office/drawing/2014/main" id="{BAAD6E2E-68F7-986C-5330-9D9CED62984F}"/>
                  </a:ext>
                </a:extLst>
              </p:cNvPr>
              <p:cNvSpPr/>
              <p:nvPr/>
            </p:nvSpPr>
            <p:spPr>
              <a:xfrm>
                <a:off x="796923" y="1273970"/>
                <a:ext cx="1465987" cy="453231"/>
              </a:xfrm>
              <a:prstGeom prst="roundRect">
                <a:avLst>
                  <a:gd name="adj" fmla="val 14434"/>
                </a:avLst>
              </a:prstGeom>
              <a:solidFill>
                <a:schemeClr val="accent1"/>
              </a:solidFill>
              <a:ln>
                <a:noFill/>
              </a:ln>
              <a:effectLst>
                <a:outerShdw blurRad="50800" dist="38100" dir="2700000" algn="tl"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Body-1">
                <a:extLst>
                  <a:ext uri="{FF2B5EF4-FFF2-40B4-BE49-F238E27FC236}">
                    <a16:creationId xmlns:a16="http://schemas.microsoft.com/office/drawing/2014/main" id="{D9D34B20-214A-9A96-BCB2-B11AC55A2EC9}"/>
                  </a:ext>
                </a:extLst>
              </p:cNvPr>
              <p:cNvSpPr txBox="1"/>
              <p:nvPr>
                <p:custDataLst>
                  <p:tags r:id="rId14"/>
                </p:custDataLst>
              </p:nvPr>
            </p:nvSpPr>
            <p:spPr>
              <a:xfrm>
                <a:off x="950857" y="1717264"/>
                <a:ext cx="3123081" cy="107211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kumimoji="1" lang="en-US" altLang="zh-CN" sz="1400" dirty="0">
                    <a:solidFill>
                      <a:schemeClr val="tx1"/>
                    </a:solidFill>
                    <a:latin typeface="+mn-ea"/>
                    <a:sym typeface="Arial" panose="020B0604020202020204" pitchFamily="34" charset="0"/>
                  </a:rPr>
                  <a:t>Basic knowledge to know before engaging in Russell’s work.</a:t>
                </a:r>
              </a:p>
              <a:p>
                <a:pPr>
                  <a:lnSpc>
                    <a:spcPct val="150000"/>
                  </a:lnSpc>
                </a:pPr>
                <a:r>
                  <a:rPr kumimoji="1" lang="en-US" altLang="zh-CN" sz="1400" dirty="0">
                    <a:latin typeface="+mn-ea"/>
                    <a:sym typeface="Arial" panose="020B0604020202020204" pitchFamily="34" charset="0"/>
                  </a:rPr>
                  <a:t>P479-P480</a:t>
                </a:r>
                <a:endParaRPr kumimoji="1" lang="en-US" altLang="zh-CN" sz="1400" dirty="0">
                  <a:solidFill>
                    <a:schemeClr val="tx1"/>
                  </a:solidFill>
                  <a:latin typeface="+mn-ea"/>
                  <a:sym typeface="Arial" panose="020B0604020202020204" pitchFamily="34" charset="0"/>
                </a:endParaRPr>
              </a:p>
            </p:txBody>
          </p:sp>
          <p:sp>
            <p:nvSpPr>
              <p:cNvPr id="72" name="Title-1">
                <a:extLst>
                  <a:ext uri="{FF2B5EF4-FFF2-40B4-BE49-F238E27FC236}">
                    <a16:creationId xmlns:a16="http://schemas.microsoft.com/office/drawing/2014/main" id="{C71E8EF9-9332-7E69-09B2-8F48E1BCCDD9}"/>
                  </a:ext>
                </a:extLst>
              </p:cNvPr>
              <p:cNvSpPr txBox="1"/>
              <p:nvPr>
                <p:custDataLst>
                  <p:tags r:id="rId15"/>
                </p:custDataLst>
              </p:nvPr>
            </p:nvSpPr>
            <p:spPr>
              <a:xfrm>
                <a:off x="876009" y="1309325"/>
                <a:ext cx="1312315" cy="36933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chemeClr val="bg1"/>
                    </a:solidFill>
                    <a:latin typeface="+mj-ea"/>
                    <a:ea typeface="+mj-ea"/>
                    <a:cs typeface="Arial" panose="020B0604020202020204" pitchFamily="34" charset="0"/>
                  </a:rPr>
                  <a:t>Foundation</a:t>
                </a:r>
                <a:endParaRPr lang="zh-CN" altLang="en-US" b="1" dirty="0">
                  <a:solidFill>
                    <a:schemeClr val="bg1"/>
                  </a:solidFill>
                  <a:latin typeface="+mj-ea"/>
                  <a:ea typeface="+mj-ea"/>
                  <a:cs typeface="Arial" panose="020B0604020202020204" pitchFamily="34" charset="0"/>
                </a:endParaRPr>
              </a:p>
            </p:txBody>
          </p:sp>
          <p:sp>
            <p:nvSpPr>
              <p:cNvPr id="73" name="Index-1">
                <a:extLst>
                  <a:ext uri="{FF2B5EF4-FFF2-40B4-BE49-F238E27FC236}">
                    <a16:creationId xmlns:a16="http://schemas.microsoft.com/office/drawing/2014/main" id="{22917611-2D14-01AD-9BE3-EDC0458B535A}"/>
                  </a:ext>
                </a:extLst>
              </p:cNvPr>
              <p:cNvSpPr txBox="1"/>
              <p:nvPr>
                <p:custDataLst>
                  <p:tags r:id="rId16"/>
                </p:custDataLst>
              </p:nvPr>
            </p:nvSpPr>
            <p:spPr>
              <a:xfrm>
                <a:off x="4444829" y="2540101"/>
                <a:ext cx="488402" cy="36933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chemeClr val="bg1"/>
                    </a:solidFill>
                    <a:latin typeface="+mj-ea"/>
                    <a:ea typeface="+mj-ea"/>
                    <a:cs typeface="Arial" panose="020B0604020202020204" pitchFamily="34" charset="0"/>
                  </a:rPr>
                  <a:t>01</a:t>
                </a:r>
                <a:endParaRPr lang="zh-CN" altLang="en-US" b="1" dirty="0">
                  <a:solidFill>
                    <a:schemeClr val="bg1"/>
                  </a:solidFill>
                  <a:latin typeface="+mj-ea"/>
                  <a:ea typeface="+mj-ea"/>
                  <a:cs typeface="Arial" panose="020B0604020202020204" pitchFamily="34" charset="0"/>
                </a:endParaRPr>
              </a:p>
            </p:txBody>
          </p:sp>
        </p:grpSp>
        <p:grpSp>
          <p:nvGrpSpPr>
            <p:cNvPr id="40" name="组合 2">
              <a:extLst>
                <a:ext uri="{FF2B5EF4-FFF2-40B4-BE49-F238E27FC236}">
                  <a16:creationId xmlns:a16="http://schemas.microsoft.com/office/drawing/2014/main" id="{C61CD6DB-8281-FAAA-68CC-7901D3A4142A}"/>
                </a:ext>
              </a:extLst>
            </p:cNvPr>
            <p:cNvGrpSpPr/>
            <p:nvPr/>
          </p:nvGrpSpPr>
          <p:grpSpPr>
            <a:xfrm>
              <a:off x="7018457" y="1375751"/>
              <a:ext cx="4422103" cy="2117107"/>
              <a:chOff x="-256502" y="1273970"/>
              <a:chExt cx="4422103" cy="2117107"/>
            </a:xfrm>
          </p:grpSpPr>
          <p:sp>
            <p:nvSpPr>
              <p:cNvPr id="62" name="2">
                <a:extLst>
                  <a:ext uri="{FF2B5EF4-FFF2-40B4-BE49-F238E27FC236}">
                    <a16:creationId xmlns:a16="http://schemas.microsoft.com/office/drawing/2014/main" id="{37A5C876-4CAF-0D07-5938-BDC018C22B19}"/>
                  </a:ext>
                </a:extLst>
              </p:cNvPr>
              <p:cNvSpPr/>
              <p:nvPr/>
            </p:nvSpPr>
            <p:spPr>
              <a:xfrm>
                <a:off x="-256502" y="1800558"/>
                <a:ext cx="665102" cy="665102"/>
              </a:xfrm>
              <a:prstGeom prst="ellipse">
                <a:avLst/>
              </a:prstGeom>
              <a:solidFill>
                <a:schemeClr val="accent2"/>
              </a:solidFill>
              <a:ln>
                <a:noFill/>
              </a:ln>
              <a:effectLst>
                <a:outerShdw blurRad="50800" dist="38100" dir="2700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2">
                <a:extLst>
                  <a:ext uri="{FF2B5EF4-FFF2-40B4-BE49-F238E27FC236}">
                    <a16:creationId xmlns:a16="http://schemas.microsoft.com/office/drawing/2014/main" id="{F19DE288-2E01-DCC8-A00A-646EC54AEBBE}"/>
                  </a:ext>
                </a:extLst>
              </p:cNvPr>
              <p:cNvSpPr/>
              <p:nvPr/>
            </p:nvSpPr>
            <p:spPr>
              <a:xfrm>
                <a:off x="796923" y="1513448"/>
                <a:ext cx="3368678" cy="1877629"/>
              </a:xfrm>
              <a:prstGeom prst="roundRect">
                <a:avLst>
                  <a:gd name="adj" fmla="val 8842"/>
                </a:avLst>
              </a:prstGeom>
              <a:solidFill>
                <a:schemeClr val="accent2">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2">
                <a:extLst>
                  <a:ext uri="{FF2B5EF4-FFF2-40B4-BE49-F238E27FC236}">
                    <a16:creationId xmlns:a16="http://schemas.microsoft.com/office/drawing/2014/main" id="{7AB62E65-AE32-74AF-1FF2-25782A614567}"/>
                  </a:ext>
                </a:extLst>
              </p:cNvPr>
              <p:cNvSpPr/>
              <p:nvPr/>
            </p:nvSpPr>
            <p:spPr>
              <a:xfrm>
                <a:off x="2699610" y="1273970"/>
                <a:ext cx="1465987" cy="453231"/>
              </a:xfrm>
              <a:prstGeom prst="roundRect">
                <a:avLst>
                  <a:gd name="adj" fmla="val 14434"/>
                </a:avLst>
              </a:prstGeom>
              <a:solidFill>
                <a:schemeClr val="accent2"/>
              </a:solidFill>
              <a:ln>
                <a:noFill/>
              </a:ln>
              <a:effectLst>
                <a:outerShdw blurRad="50800" dist="38100" dir="2700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Body-2">
                <a:extLst>
                  <a:ext uri="{FF2B5EF4-FFF2-40B4-BE49-F238E27FC236}">
                    <a16:creationId xmlns:a16="http://schemas.microsoft.com/office/drawing/2014/main" id="{6211CB35-F939-391E-C7DA-0A813B06C967}"/>
                  </a:ext>
                </a:extLst>
              </p:cNvPr>
              <p:cNvSpPr txBox="1"/>
              <p:nvPr>
                <p:custDataLst>
                  <p:tags r:id="rId11"/>
                </p:custDataLst>
              </p:nvPr>
            </p:nvSpPr>
            <p:spPr>
              <a:xfrm>
                <a:off x="950857" y="1717264"/>
                <a:ext cx="3123081" cy="107211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kumimoji="1" lang="en-US" altLang="zh-CN" sz="1400" dirty="0">
                    <a:latin typeface="+mn-ea"/>
                    <a:sym typeface="Arial" panose="020B0604020202020204" pitchFamily="34" charset="0"/>
                  </a:rPr>
                  <a:t>Meaning &amp; Denotation.</a:t>
                </a:r>
              </a:p>
              <a:p>
                <a:pPr>
                  <a:lnSpc>
                    <a:spcPct val="150000"/>
                  </a:lnSpc>
                </a:pPr>
                <a:r>
                  <a:rPr kumimoji="1" lang="en-US" altLang="zh-CN" sz="1400" dirty="0">
                    <a:solidFill>
                      <a:schemeClr val="tx1"/>
                    </a:solidFill>
                    <a:latin typeface="+mn-ea"/>
                    <a:sym typeface="Arial" panose="020B0604020202020204" pitchFamily="34" charset="0"/>
                  </a:rPr>
                  <a:t>Explanation of </a:t>
                </a:r>
                <a:r>
                  <a:rPr kumimoji="1" lang="en-US" altLang="zh-CN" sz="1400" i="1" dirty="0">
                    <a:solidFill>
                      <a:schemeClr val="tx1"/>
                    </a:solidFill>
                    <a:latin typeface="+mn-ea"/>
                    <a:sym typeface="Arial" panose="020B0604020202020204" pitchFamily="34" charset="0"/>
                  </a:rPr>
                  <a:t>the Wavery Problem.</a:t>
                </a:r>
              </a:p>
              <a:p>
                <a:pPr>
                  <a:lnSpc>
                    <a:spcPct val="150000"/>
                  </a:lnSpc>
                </a:pPr>
                <a:r>
                  <a:rPr kumimoji="1" lang="en-US" altLang="zh-CN" sz="1400" dirty="0">
                    <a:latin typeface="+mn-ea"/>
                    <a:sym typeface="Arial" panose="020B0604020202020204" pitchFamily="34" charset="0"/>
                  </a:rPr>
                  <a:t>Excurses &amp; Expansion: Russell’s theory of </a:t>
                </a:r>
                <a:r>
                  <a:rPr kumimoji="1" lang="en-US" altLang="zh-CN" sz="1400" i="1" dirty="0">
                    <a:latin typeface="+mn-ea"/>
                    <a:sym typeface="Arial" panose="020B0604020202020204" pitchFamily="34" charset="0"/>
                  </a:rPr>
                  <a:t>analysis of descriptions</a:t>
                </a:r>
                <a:r>
                  <a:rPr kumimoji="1" lang="en-US" altLang="zh-CN" sz="1400" dirty="0">
                    <a:latin typeface="+mn-ea"/>
                    <a:sym typeface="Arial" panose="020B0604020202020204" pitchFamily="34" charset="0"/>
                  </a:rPr>
                  <a:t>.</a:t>
                </a:r>
                <a:endParaRPr kumimoji="1" lang="en-US" altLang="zh-CN" sz="1400" dirty="0">
                  <a:solidFill>
                    <a:schemeClr val="tx1"/>
                  </a:solidFill>
                  <a:latin typeface="+mn-ea"/>
                  <a:sym typeface="Arial" panose="020B0604020202020204" pitchFamily="34" charset="0"/>
                </a:endParaRPr>
              </a:p>
              <a:p>
                <a:pPr>
                  <a:lnSpc>
                    <a:spcPct val="150000"/>
                  </a:lnSpc>
                </a:pPr>
                <a:r>
                  <a:rPr kumimoji="1" lang="en-US" altLang="zh-CN" sz="1400" dirty="0">
                    <a:latin typeface="+mn-ea"/>
                    <a:sym typeface="Arial" panose="020B0604020202020204" pitchFamily="34" charset="0"/>
                  </a:rPr>
                  <a:t>P486-491</a:t>
                </a:r>
                <a:endParaRPr kumimoji="1" lang="en-US" altLang="zh-CN" sz="1400" dirty="0">
                  <a:solidFill>
                    <a:schemeClr val="tx1"/>
                  </a:solidFill>
                  <a:latin typeface="+mn-ea"/>
                  <a:sym typeface="Arial" panose="020B0604020202020204" pitchFamily="34" charset="0"/>
                </a:endParaRPr>
              </a:p>
            </p:txBody>
          </p:sp>
          <p:sp>
            <p:nvSpPr>
              <p:cNvPr id="66" name="Title-2">
                <a:extLst>
                  <a:ext uri="{FF2B5EF4-FFF2-40B4-BE49-F238E27FC236}">
                    <a16:creationId xmlns:a16="http://schemas.microsoft.com/office/drawing/2014/main" id="{8EB2B510-734A-9E44-CC6C-AA0048E362AB}"/>
                  </a:ext>
                </a:extLst>
              </p:cNvPr>
              <p:cNvSpPr txBox="1"/>
              <p:nvPr>
                <p:custDataLst>
                  <p:tags r:id="rId12"/>
                </p:custDataLst>
              </p:nvPr>
            </p:nvSpPr>
            <p:spPr>
              <a:xfrm>
                <a:off x="2848837" y="1309325"/>
                <a:ext cx="1316760" cy="36933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chemeClr val="bg1"/>
                    </a:solidFill>
                    <a:latin typeface="+mj-ea"/>
                    <a:ea typeface="+mj-ea"/>
                    <a:cs typeface="Arial" panose="020B0604020202020204" pitchFamily="34" charset="0"/>
                  </a:rPr>
                  <a:t>Analyzation</a:t>
                </a:r>
                <a:endParaRPr lang="zh-CN" altLang="en-US" b="1" dirty="0">
                  <a:solidFill>
                    <a:schemeClr val="bg1"/>
                  </a:solidFill>
                  <a:latin typeface="+mj-ea"/>
                  <a:ea typeface="+mj-ea"/>
                  <a:cs typeface="Arial" panose="020B0604020202020204" pitchFamily="34" charset="0"/>
                </a:endParaRPr>
              </a:p>
            </p:txBody>
          </p:sp>
          <p:sp>
            <p:nvSpPr>
              <p:cNvPr id="67" name="Index-2">
                <a:extLst>
                  <a:ext uri="{FF2B5EF4-FFF2-40B4-BE49-F238E27FC236}">
                    <a16:creationId xmlns:a16="http://schemas.microsoft.com/office/drawing/2014/main" id="{D5C42F37-AD80-C391-ADB4-2D3BCC023B5B}"/>
                  </a:ext>
                </a:extLst>
              </p:cNvPr>
              <p:cNvSpPr txBox="1"/>
              <p:nvPr>
                <p:custDataLst>
                  <p:tags r:id="rId13"/>
                </p:custDataLst>
              </p:nvPr>
            </p:nvSpPr>
            <p:spPr>
              <a:xfrm>
                <a:off x="-158916" y="1957679"/>
                <a:ext cx="488402" cy="36933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chemeClr val="bg1"/>
                    </a:solidFill>
                    <a:latin typeface="+mj-ea"/>
                    <a:ea typeface="+mj-ea"/>
                    <a:cs typeface="Arial" panose="020B0604020202020204" pitchFamily="34" charset="0"/>
                  </a:rPr>
                  <a:t>04</a:t>
                </a:r>
                <a:endParaRPr lang="zh-CN" altLang="en-US" b="1" dirty="0">
                  <a:solidFill>
                    <a:schemeClr val="bg1"/>
                  </a:solidFill>
                  <a:latin typeface="+mj-ea"/>
                  <a:ea typeface="+mj-ea"/>
                  <a:cs typeface="Arial" panose="020B0604020202020204" pitchFamily="34" charset="0"/>
                </a:endParaRPr>
              </a:p>
            </p:txBody>
          </p:sp>
        </p:grpSp>
        <p:grpSp>
          <p:nvGrpSpPr>
            <p:cNvPr id="41" name="组合 3">
              <a:extLst>
                <a:ext uri="{FF2B5EF4-FFF2-40B4-BE49-F238E27FC236}">
                  <a16:creationId xmlns:a16="http://schemas.microsoft.com/office/drawing/2014/main" id="{9435A210-9DDD-91B1-D627-7EA60F53EB36}"/>
                </a:ext>
              </a:extLst>
            </p:cNvPr>
            <p:cNvGrpSpPr/>
            <p:nvPr/>
          </p:nvGrpSpPr>
          <p:grpSpPr>
            <a:xfrm>
              <a:off x="750743" y="2866089"/>
              <a:ext cx="4169242" cy="1552441"/>
              <a:chOff x="796923" y="1273970"/>
              <a:chExt cx="4169242" cy="1552441"/>
            </a:xfrm>
          </p:grpSpPr>
          <p:sp>
            <p:nvSpPr>
              <p:cNvPr id="56" name="3">
                <a:extLst>
                  <a:ext uri="{FF2B5EF4-FFF2-40B4-BE49-F238E27FC236}">
                    <a16:creationId xmlns:a16="http://schemas.microsoft.com/office/drawing/2014/main" id="{9C0D23E2-1192-43D1-9E98-07066BE1DBDB}"/>
                  </a:ext>
                </a:extLst>
              </p:cNvPr>
              <p:cNvSpPr/>
              <p:nvPr/>
            </p:nvSpPr>
            <p:spPr>
              <a:xfrm>
                <a:off x="4301063" y="1570182"/>
                <a:ext cx="665102" cy="665102"/>
              </a:xfrm>
              <a:prstGeom prst="ellipse">
                <a:avLst/>
              </a:prstGeom>
              <a:solidFill>
                <a:schemeClr val="accent3"/>
              </a:solidFill>
              <a:ln>
                <a:noFill/>
              </a:ln>
              <a:effectLst>
                <a:outerShdw blurRad="50800" dist="38100" dir="2700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3">
                <a:extLst>
                  <a:ext uri="{FF2B5EF4-FFF2-40B4-BE49-F238E27FC236}">
                    <a16:creationId xmlns:a16="http://schemas.microsoft.com/office/drawing/2014/main" id="{433641CF-AE0A-0BE6-1516-64A50C615FDA}"/>
                  </a:ext>
                </a:extLst>
              </p:cNvPr>
              <p:cNvSpPr/>
              <p:nvPr/>
            </p:nvSpPr>
            <p:spPr>
              <a:xfrm>
                <a:off x="796923" y="1513448"/>
                <a:ext cx="3368678" cy="1312963"/>
              </a:xfrm>
              <a:prstGeom prst="roundRect">
                <a:avLst>
                  <a:gd name="adj" fmla="val 8842"/>
                </a:avLst>
              </a:prstGeom>
              <a:solidFill>
                <a:schemeClr val="accent3">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3">
                <a:extLst>
                  <a:ext uri="{FF2B5EF4-FFF2-40B4-BE49-F238E27FC236}">
                    <a16:creationId xmlns:a16="http://schemas.microsoft.com/office/drawing/2014/main" id="{EA3D3526-F41B-D663-4750-4717EF865541}"/>
                  </a:ext>
                </a:extLst>
              </p:cNvPr>
              <p:cNvSpPr/>
              <p:nvPr/>
            </p:nvSpPr>
            <p:spPr>
              <a:xfrm>
                <a:off x="796923" y="1273970"/>
                <a:ext cx="1465987" cy="453231"/>
              </a:xfrm>
              <a:prstGeom prst="roundRect">
                <a:avLst>
                  <a:gd name="adj" fmla="val 14434"/>
                </a:avLst>
              </a:prstGeom>
              <a:solidFill>
                <a:schemeClr val="accent3"/>
              </a:solidFill>
              <a:ln>
                <a:noFill/>
              </a:ln>
              <a:effectLst>
                <a:outerShdw blurRad="50800" dist="38100" dir="2700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Body-3">
                <a:extLst>
                  <a:ext uri="{FF2B5EF4-FFF2-40B4-BE49-F238E27FC236}">
                    <a16:creationId xmlns:a16="http://schemas.microsoft.com/office/drawing/2014/main" id="{2DAB328D-CE2E-69EA-277A-6FE6E08AA001}"/>
                  </a:ext>
                </a:extLst>
              </p:cNvPr>
              <p:cNvSpPr txBox="1"/>
              <p:nvPr>
                <p:custDataLst>
                  <p:tags r:id="rId8"/>
                </p:custDataLst>
              </p:nvPr>
            </p:nvSpPr>
            <p:spPr>
              <a:xfrm>
                <a:off x="950857" y="1717264"/>
                <a:ext cx="3123081" cy="107211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kumimoji="1" lang="en-US" altLang="zh-CN" sz="1400" dirty="0">
                    <a:solidFill>
                      <a:schemeClr val="tx1"/>
                    </a:solidFill>
                    <a:latin typeface="+mn-ea"/>
                    <a:sym typeface="Arial" panose="020B0604020202020204" pitchFamily="34" charset="0"/>
                  </a:rPr>
                  <a:t>All, some, a, no, every, the.</a:t>
                </a:r>
              </a:p>
              <a:p>
                <a:pPr>
                  <a:lnSpc>
                    <a:spcPct val="150000"/>
                  </a:lnSpc>
                </a:pPr>
                <a:r>
                  <a:rPr kumimoji="1" lang="en-US" altLang="zh-CN" sz="1400" dirty="0">
                    <a:latin typeface="+mn-ea"/>
                    <a:sym typeface="Arial" panose="020B0604020202020204" pitchFamily="34" charset="0"/>
                  </a:rPr>
                  <a:t>P481-P482</a:t>
                </a:r>
                <a:endParaRPr kumimoji="1" lang="en-US" altLang="zh-CN" sz="1400" dirty="0">
                  <a:solidFill>
                    <a:schemeClr val="tx1"/>
                  </a:solidFill>
                  <a:latin typeface="+mn-ea"/>
                  <a:sym typeface="Arial" panose="020B0604020202020204" pitchFamily="34" charset="0"/>
                </a:endParaRPr>
              </a:p>
            </p:txBody>
          </p:sp>
          <p:sp>
            <p:nvSpPr>
              <p:cNvPr id="60" name="Title-3">
                <a:extLst>
                  <a:ext uri="{FF2B5EF4-FFF2-40B4-BE49-F238E27FC236}">
                    <a16:creationId xmlns:a16="http://schemas.microsoft.com/office/drawing/2014/main" id="{7A77AF21-5DE3-3481-3524-353327ABF3EE}"/>
                  </a:ext>
                </a:extLst>
              </p:cNvPr>
              <p:cNvSpPr txBox="1"/>
              <p:nvPr>
                <p:custDataLst>
                  <p:tags r:id="rId9"/>
                </p:custDataLst>
              </p:nvPr>
            </p:nvSpPr>
            <p:spPr>
              <a:xfrm>
                <a:off x="798322" y="1309325"/>
                <a:ext cx="1416118" cy="36933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chemeClr val="bg1"/>
                    </a:solidFill>
                    <a:latin typeface="+mj-ea"/>
                    <a:ea typeface="+mj-ea"/>
                    <a:cs typeface="Arial" panose="020B0604020202020204" pitchFamily="34" charset="0"/>
                  </a:rPr>
                  <a:t>Interpretation</a:t>
                </a:r>
                <a:endParaRPr lang="zh-CN" altLang="en-US" b="1" dirty="0">
                  <a:solidFill>
                    <a:schemeClr val="bg1"/>
                  </a:solidFill>
                  <a:latin typeface="+mj-ea"/>
                  <a:ea typeface="+mj-ea"/>
                  <a:cs typeface="Arial" panose="020B0604020202020204" pitchFamily="34" charset="0"/>
                </a:endParaRPr>
              </a:p>
            </p:txBody>
          </p:sp>
          <p:sp>
            <p:nvSpPr>
              <p:cNvPr id="61" name="Index-3">
                <a:extLst>
                  <a:ext uri="{FF2B5EF4-FFF2-40B4-BE49-F238E27FC236}">
                    <a16:creationId xmlns:a16="http://schemas.microsoft.com/office/drawing/2014/main" id="{46759B40-9725-C65B-DC04-49CF7F0845CE}"/>
                  </a:ext>
                </a:extLst>
              </p:cNvPr>
              <p:cNvSpPr txBox="1"/>
              <p:nvPr>
                <p:custDataLst>
                  <p:tags r:id="rId10"/>
                </p:custDataLst>
              </p:nvPr>
            </p:nvSpPr>
            <p:spPr>
              <a:xfrm>
                <a:off x="4398649" y="1727303"/>
                <a:ext cx="488402" cy="36933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chemeClr val="bg1"/>
                    </a:solidFill>
                    <a:latin typeface="+mj-ea"/>
                    <a:ea typeface="+mj-ea"/>
                    <a:cs typeface="Arial" panose="020B0604020202020204" pitchFamily="34" charset="0"/>
                  </a:rPr>
                  <a:t>02</a:t>
                </a:r>
                <a:endParaRPr lang="zh-CN" altLang="en-US" b="1" dirty="0">
                  <a:solidFill>
                    <a:schemeClr val="bg1"/>
                  </a:solidFill>
                  <a:latin typeface="+mj-ea"/>
                  <a:ea typeface="+mj-ea"/>
                  <a:cs typeface="Arial" panose="020B0604020202020204" pitchFamily="34" charset="0"/>
                </a:endParaRPr>
              </a:p>
            </p:txBody>
          </p:sp>
        </p:grpSp>
        <p:grpSp>
          <p:nvGrpSpPr>
            <p:cNvPr id="42" name="组合 4">
              <a:extLst>
                <a:ext uri="{FF2B5EF4-FFF2-40B4-BE49-F238E27FC236}">
                  <a16:creationId xmlns:a16="http://schemas.microsoft.com/office/drawing/2014/main" id="{A954A0BB-40C3-B715-927B-7F7E5384B18E}"/>
                </a:ext>
              </a:extLst>
            </p:cNvPr>
            <p:cNvGrpSpPr/>
            <p:nvPr/>
          </p:nvGrpSpPr>
          <p:grpSpPr>
            <a:xfrm>
              <a:off x="7193983" y="3403343"/>
              <a:ext cx="4252420" cy="2241345"/>
              <a:chOff x="-86819" y="1273970"/>
              <a:chExt cx="4252420" cy="2241345"/>
            </a:xfrm>
          </p:grpSpPr>
          <p:sp>
            <p:nvSpPr>
              <p:cNvPr id="50" name="4">
                <a:extLst>
                  <a:ext uri="{FF2B5EF4-FFF2-40B4-BE49-F238E27FC236}">
                    <a16:creationId xmlns:a16="http://schemas.microsoft.com/office/drawing/2014/main" id="{8D28F541-BF70-5CBB-B6AE-43F7A0946AD3}"/>
                  </a:ext>
                </a:extLst>
              </p:cNvPr>
              <p:cNvSpPr/>
              <p:nvPr/>
            </p:nvSpPr>
            <p:spPr>
              <a:xfrm>
                <a:off x="-86819" y="1649729"/>
                <a:ext cx="665102" cy="665102"/>
              </a:xfrm>
              <a:prstGeom prst="ellipse">
                <a:avLst/>
              </a:prstGeom>
              <a:solidFill>
                <a:schemeClr val="accent4"/>
              </a:solidFill>
              <a:ln>
                <a:noFill/>
              </a:ln>
              <a:effectLst>
                <a:outerShdw blurRad="50800" dist="38100" dir="2700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4">
                <a:extLst>
                  <a:ext uri="{FF2B5EF4-FFF2-40B4-BE49-F238E27FC236}">
                    <a16:creationId xmlns:a16="http://schemas.microsoft.com/office/drawing/2014/main" id="{8C13CFA9-E7F5-08B5-B624-341DFACA18BF}"/>
                  </a:ext>
                </a:extLst>
              </p:cNvPr>
              <p:cNvSpPr/>
              <p:nvPr/>
            </p:nvSpPr>
            <p:spPr>
              <a:xfrm>
                <a:off x="796923" y="1513448"/>
                <a:ext cx="3368678" cy="2001867"/>
              </a:xfrm>
              <a:prstGeom prst="roundRect">
                <a:avLst>
                  <a:gd name="adj" fmla="val 8842"/>
                </a:avLst>
              </a:prstGeom>
              <a:solidFill>
                <a:schemeClr val="accent4">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4">
                <a:extLst>
                  <a:ext uri="{FF2B5EF4-FFF2-40B4-BE49-F238E27FC236}">
                    <a16:creationId xmlns:a16="http://schemas.microsoft.com/office/drawing/2014/main" id="{72F9FE5F-3E29-D142-30FE-715C30177F5E}"/>
                  </a:ext>
                </a:extLst>
              </p:cNvPr>
              <p:cNvSpPr/>
              <p:nvPr/>
            </p:nvSpPr>
            <p:spPr>
              <a:xfrm>
                <a:off x="2699610" y="1273970"/>
                <a:ext cx="1465987" cy="453231"/>
              </a:xfrm>
              <a:prstGeom prst="roundRect">
                <a:avLst>
                  <a:gd name="adj" fmla="val 14434"/>
                </a:avLst>
              </a:prstGeom>
              <a:solidFill>
                <a:schemeClr val="accent4"/>
              </a:solidFill>
              <a:ln>
                <a:noFill/>
              </a:ln>
              <a:effectLst>
                <a:outerShdw blurRad="50800" dist="38100" dir="2700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Body-4">
                <a:extLst>
                  <a:ext uri="{FF2B5EF4-FFF2-40B4-BE49-F238E27FC236}">
                    <a16:creationId xmlns:a16="http://schemas.microsoft.com/office/drawing/2014/main" id="{B74D777C-A12D-6DDA-5318-93A2D4D573EA}"/>
                  </a:ext>
                </a:extLst>
              </p:cNvPr>
              <p:cNvSpPr txBox="1"/>
              <p:nvPr>
                <p:custDataLst>
                  <p:tags r:id="rId5"/>
                </p:custDataLst>
              </p:nvPr>
            </p:nvSpPr>
            <p:spPr>
              <a:xfrm>
                <a:off x="950857" y="1717264"/>
                <a:ext cx="3123081" cy="1773994"/>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kumimoji="1" lang="en-US" altLang="zh-CN" sz="1400" dirty="0">
                    <a:solidFill>
                      <a:schemeClr val="tx1"/>
                    </a:solidFill>
                    <a:latin typeface="+mn-ea"/>
                    <a:sym typeface="Arial" panose="020B0604020202020204" pitchFamily="34" charset="0"/>
                  </a:rPr>
                  <a:t>Interpretation of definitions in </a:t>
                </a:r>
                <a:r>
                  <a:rPr kumimoji="1" lang="en-US" altLang="zh-CN" sz="1400" dirty="0" err="1">
                    <a:solidFill>
                      <a:schemeClr val="tx1"/>
                    </a:solidFill>
                    <a:latin typeface="+mn-ea"/>
                    <a:sym typeface="Arial" panose="020B0604020202020204" pitchFamily="34" charset="0"/>
                  </a:rPr>
                  <a:t>maths</a:t>
                </a:r>
                <a:r>
                  <a:rPr kumimoji="1" lang="en-US" altLang="zh-CN" sz="1400" dirty="0">
                    <a:solidFill>
                      <a:schemeClr val="tx1"/>
                    </a:solidFill>
                    <a:latin typeface="+mn-ea"/>
                    <a:sym typeface="Arial" panose="020B0604020202020204" pitchFamily="34" charset="0"/>
                  </a:rPr>
                  <a:t>.</a:t>
                </a:r>
              </a:p>
              <a:p>
                <a:pPr>
                  <a:lnSpc>
                    <a:spcPct val="150000"/>
                  </a:lnSpc>
                </a:pPr>
                <a:r>
                  <a:rPr kumimoji="1" lang="en-US" altLang="zh-CN" sz="1400" dirty="0">
                    <a:latin typeface="+mn-ea"/>
                    <a:sym typeface="Arial" panose="020B0604020202020204" pitchFamily="34" charset="0"/>
                  </a:rPr>
                  <a:t>Importance of identity.</a:t>
                </a:r>
              </a:p>
              <a:p>
                <a:pPr>
                  <a:lnSpc>
                    <a:spcPct val="150000"/>
                  </a:lnSpc>
                </a:pPr>
                <a:r>
                  <a:rPr kumimoji="1" lang="en-US" altLang="zh-CN" sz="1400" dirty="0">
                    <a:solidFill>
                      <a:schemeClr val="tx1"/>
                    </a:solidFill>
                    <a:latin typeface="+mn-ea"/>
                    <a:sym typeface="Arial" panose="020B0604020202020204" pitchFamily="34" charset="0"/>
                  </a:rPr>
                  <a:t>Immediate acquaintance vs define by denoting.</a:t>
                </a:r>
              </a:p>
              <a:p>
                <a:pPr>
                  <a:lnSpc>
                    <a:spcPct val="150000"/>
                  </a:lnSpc>
                </a:pPr>
                <a:r>
                  <a:rPr kumimoji="1" lang="en-US" altLang="zh-CN" sz="1400" dirty="0">
                    <a:latin typeface="+mn-ea"/>
                    <a:sym typeface="Arial" panose="020B0604020202020204" pitchFamily="34" charset="0"/>
                  </a:rPr>
                  <a:t>P491-493</a:t>
                </a:r>
                <a:endParaRPr kumimoji="1" lang="en-US" altLang="zh-CN" sz="1400" dirty="0">
                  <a:solidFill>
                    <a:schemeClr val="tx1"/>
                  </a:solidFill>
                  <a:latin typeface="+mn-ea"/>
                  <a:sym typeface="Arial" panose="020B0604020202020204" pitchFamily="34" charset="0"/>
                </a:endParaRPr>
              </a:p>
            </p:txBody>
          </p:sp>
          <p:sp>
            <p:nvSpPr>
              <p:cNvPr id="54" name="Title-4">
                <a:extLst>
                  <a:ext uri="{FF2B5EF4-FFF2-40B4-BE49-F238E27FC236}">
                    <a16:creationId xmlns:a16="http://schemas.microsoft.com/office/drawing/2014/main" id="{55B7C44C-013B-3358-119E-52362800B24C}"/>
                  </a:ext>
                </a:extLst>
              </p:cNvPr>
              <p:cNvSpPr txBox="1"/>
              <p:nvPr>
                <p:custDataLst>
                  <p:tags r:id="rId6"/>
                </p:custDataLst>
              </p:nvPr>
            </p:nvSpPr>
            <p:spPr>
              <a:xfrm>
                <a:off x="2787965" y="1308087"/>
                <a:ext cx="1219258" cy="36933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chemeClr val="bg1"/>
                    </a:solidFill>
                    <a:latin typeface="+mj-ea"/>
                    <a:ea typeface="+mj-ea"/>
                    <a:cs typeface="Arial" panose="020B0604020202020204" pitchFamily="34" charset="0"/>
                  </a:rPr>
                  <a:t>Conclusion</a:t>
                </a:r>
                <a:endParaRPr lang="zh-CN" altLang="en-US" b="1" dirty="0">
                  <a:solidFill>
                    <a:schemeClr val="bg1"/>
                  </a:solidFill>
                  <a:latin typeface="+mj-ea"/>
                  <a:ea typeface="+mj-ea"/>
                  <a:cs typeface="Arial" panose="020B0604020202020204" pitchFamily="34" charset="0"/>
                </a:endParaRPr>
              </a:p>
            </p:txBody>
          </p:sp>
          <p:sp>
            <p:nvSpPr>
              <p:cNvPr id="55" name="Index-4">
                <a:extLst>
                  <a:ext uri="{FF2B5EF4-FFF2-40B4-BE49-F238E27FC236}">
                    <a16:creationId xmlns:a16="http://schemas.microsoft.com/office/drawing/2014/main" id="{47197AA8-7927-40A4-4AE5-CFD87EE67CA1}"/>
                  </a:ext>
                </a:extLst>
              </p:cNvPr>
              <p:cNvSpPr txBox="1"/>
              <p:nvPr>
                <p:custDataLst>
                  <p:tags r:id="rId7"/>
                </p:custDataLst>
              </p:nvPr>
            </p:nvSpPr>
            <p:spPr>
              <a:xfrm>
                <a:off x="10767" y="1806850"/>
                <a:ext cx="488402" cy="36933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chemeClr val="bg1"/>
                    </a:solidFill>
                    <a:latin typeface="+mj-ea"/>
                    <a:ea typeface="+mj-ea"/>
                    <a:cs typeface="Arial" panose="020B0604020202020204" pitchFamily="34" charset="0"/>
                  </a:rPr>
                  <a:t>05</a:t>
                </a:r>
                <a:endParaRPr lang="zh-CN" altLang="en-US" b="1" dirty="0">
                  <a:solidFill>
                    <a:schemeClr val="bg1"/>
                  </a:solidFill>
                  <a:latin typeface="+mj-ea"/>
                  <a:ea typeface="+mj-ea"/>
                  <a:cs typeface="Arial" panose="020B0604020202020204" pitchFamily="34" charset="0"/>
                </a:endParaRPr>
              </a:p>
            </p:txBody>
          </p:sp>
        </p:grpSp>
        <p:grpSp>
          <p:nvGrpSpPr>
            <p:cNvPr id="43" name="组合 5">
              <a:extLst>
                <a:ext uri="{FF2B5EF4-FFF2-40B4-BE49-F238E27FC236}">
                  <a16:creationId xmlns:a16="http://schemas.microsoft.com/office/drawing/2014/main" id="{5D8A5042-2BDF-1A5D-3FCA-B1B4935D243B}"/>
                </a:ext>
              </a:extLst>
            </p:cNvPr>
            <p:cNvGrpSpPr/>
            <p:nvPr/>
          </p:nvGrpSpPr>
          <p:grpSpPr>
            <a:xfrm>
              <a:off x="746298" y="4298598"/>
              <a:ext cx="4455567" cy="2111275"/>
              <a:chOff x="796923" y="988293"/>
              <a:chExt cx="4455567" cy="2111275"/>
            </a:xfrm>
          </p:grpSpPr>
          <p:sp>
            <p:nvSpPr>
              <p:cNvPr id="44" name="5">
                <a:extLst>
                  <a:ext uri="{FF2B5EF4-FFF2-40B4-BE49-F238E27FC236}">
                    <a16:creationId xmlns:a16="http://schemas.microsoft.com/office/drawing/2014/main" id="{472FB813-06B9-04EE-CB69-EAF693B7D6E9}"/>
                  </a:ext>
                </a:extLst>
              </p:cNvPr>
              <p:cNvSpPr/>
              <p:nvPr/>
            </p:nvSpPr>
            <p:spPr>
              <a:xfrm>
                <a:off x="4587388" y="988293"/>
                <a:ext cx="665102" cy="665102"/>
              </a:xfrm>
              <a:prstGeom prst="ellipse">
                <a:avLst/>
              </a:prstGeom>
              <a:solidFill>
                <a:schemeClr val="accent5"/>
              </a:solidFill>
              <a:ln>
                <a:noFill/>
              </a:ln>
              <a:effectLst>
                <a:outerShdw blurRad="50800" dist="38100" dir="2700000" algn="tl" rotWithShape="0">
                  <a:schemeClr val="accent5">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5">
                <a:extLst>
                  <a:ext uri="{FF2B5EF4-FFF2-40B4-BE49-F238E27FC236}">
                    <a16:creationId xmlns:a16="http://schemas.microsoft.com/office/drawing/2014/main" id="{C862C8B3-8CC5-DF9A-39B1-B22BCCB8BC4F}"/>
                  </a:ext>
                </a:extLst>
              </p:cNvPr>
              <p:cNvSpPr/>
              <p:nvPr/>
            </p:nvSpPr>
            <p:spPr>
              <a:xfrm>
                <a:off x="796923" y="1513448"/>
                <a:ext cx="3368678" cy="1586120"/>
              </a:xfrm>
              <a:prstGeom prst="roundRect">
                <a:avLst>
                  <a:gd name="adj" fmla="val 8842"/>
                </a:avLst>
              </a:prstGeom>
              <a:solidFill>
                <a:schemeClr val="accent5">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5">
                <a:extLst>
                  <a:ext uri="{FF2B5EF4-FFF2-40B4-BE49-F238E27FC236}">
                    <a16:creationId xmlns:a16="http://schemas.microsoft.com/office/drawing/2014/main" id="{A97E43F0-B54D-082A-C5B3-72E1910B4A16}"/>
                  </a:ext>
                </a:extLst>
              </p:cNvPr>
              <p:cNvSpPr/>
              <p:nvPr/>
            </p:nvSpPr>
            <p:spPr>
              <a:xfrm>
                <a:off x="796923" y="1273970"/>
                <a:ext cx="1465987" cy="453231"/>
              </a:xfrm>
              <a:prstGeom prst="roundRect">
                <a:avLst>
                  <a:gd name="adj" fmla="val 14434"/>
                </a:avLst>
              </a:prstGeom>
              <a:solidFill>
                <a:schemeClr val="accent5"/>
              </a:solidFill>
              <a:ln>
                <a:noFill/>
              </a:ln>
              <a:effectLst>
                <a:outerShdw blurRad="50800" dist="38100" dir="2700000" algn="tl" rotWithShape="0">
                  <a:schemeClr val="accent5">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Body-5">
                <a:extLst>
                  <a:ext uri="{FF2B5EF4-FFF2-40B4-BE49-F238E27FC236}">
                    <a16:creationId xmlns:a16="http://schemas.microsoft.com/office/drawing/2014/main" id="{54CC5E9D-D91D-D295-8E9A-6ED6250BE8B8}"/>
                  </a:ext>
                </a:extLst>
              </p:cNvPr>
              <p:cNvSpPr txBox="1"/>
              <p:nvPr>
                <p:custDataLst>
                  <p:tags r:id="rId2"/>
                </p:custDataLst>
              </p:nvPr>
            </p:nvSpPr>
            <p:spPr>
              <a:xfrm>
                <a:off x="950857" y="1717264"/>
                <a:ext cx="3123081" cy="1274891"/>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kumimoji="1" lang="en-US" altLang="zh-CN" sz="1400" dirty="0">
                    <a:solidFill>
                      <a:schemeClr val="tx1"/>
                    </a:solidFill>
                    <a:latin typeface="+mn-ea"/>
                    <a:sym typeface="Arial" panose="020B0604020202020204" pitchFamily="34" charset="0"/>
                  </a:rPr>
                  <a:t>Meinong’s and Frege’s systems are NOT perfect. Generally speaking, there are three problems that will pop out when using them.P482,483&amp;485</a:t>
                </a:r>
              </a:p>
            </p:txBody>
          </p:sp>
          <p:sp>
            <p:nvSpPr>
              <p:cNvPr id="48" name="Title-5">
                <a:extLst>
                  <a:ext uri="{FF2B5EF4-FFF2-40B4-BE49-F238E27FC236}">
                    <a16:creationId xmlns:a16="http://schemas.microsoft.com/office/drawing/2014/main" id="{5FAA4998-4D07-BFB6-F027-0922985DDBDB}"/>
                  </a:ext>
                </a:extLst>
              </p:cNvPr>
              <p:cNvSpPr txBox="1"/>
              <p:nvPr>
                <p:custDataLst>
                  <p:tags r:id="rId3"/>
                </p:custDataLst>
              </p:nvPr>
            </p:nvSpPr>
            <p:spPr>
              <a:xfrm>
                <a:off x="946150" y="1309325"/>
                <a:ext cx="1172035" cy="36933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chemeClr val="bg1"/>
                    </a:solidFill>
                    <a:latin typeface="+mj-ea"/>
                    <a:ea typeface="+mj-ea"/>
                    <a:cs typeface="Arial" panose="020B0604020202020204" pitchFamily="34" charset="0"/>
                  </a:rPr>
                  <a:t>Problems</a:t>
                </a:r>
                <a:endParaRPr lang="zh-CN" altLang="en-US" b="1" dirty="0">
                  <a:solidFill>
                    <a:schemeClr val="bg1"/>
                  </a:solidFill>
                  <a:latin typeface="+mj-ea"/>
                  <a:ea typeface="+mj-ea"/>
                  <a:cs typeface="Arial" panose="020B0604020202020204" pitchFamily="34" charset="0"/>
                </a:endParaRPr>
              </a:p>
            </p:txBody>
          </p:sp>
          <p:sp>
            <p:nvSpPr>
              <p:cNvPr id="49" name="Index-5">
                <a:extLst>
                  <a:ext uri="{FF2B5EF4-FFF2-40B4-BE49-F238E27FC236}">
                    <a16:creationId xmlns:a16="http://schemas.microsoft.com/office/drawing/2014/main" id="{31984C27-FC35-2901-32A1-3A08FFFB7034}"/>
                  </a:ext>
                </a:extLst>
              </p:cNvPr>
              <p:cNvSpPr txBox="1"/>
              <p:nvPr>
                <p:custDataLst>
                  <p:tags r:id="rId4"/>
                </p:custDataLst>
              </p:nvPr>
            </p:nvSpPr>
            <p:spPr>
              <a:xfrm>
                <a:off x="4684974" y="1145414"/>
                <a:ext cx="488402" cy="36933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chemeClr val="bg1"/>
                    </a:solidFill>
                    <a:latin typeface="+mj-ea"/>
                    <a:ea typeface="+mj-ea"/>
                    <a:cs typeface="Arial" panose="020B0604020202020204" pitchFamily="34" charset="0"/>
                  </a:rPr>
                  <a:t>03</a:t>
                </a:r>
                <a:endParaRPr lang="zh-CN" altLang="en-US" b="1" dirty="0">
                  <a:solidFill>
                    <a:schemeClr val="bg1"/>
                  </a:solidFill>
                  <a:latin typeface="+mj-ea"/>
                  <a:ea typeface="+mj-ea"/>
                  <a:cs typeface="Arial" panose="020B0604020202020204" pitchFamily="34" charset="0"/>
                </a:endParaRPr>
              </a:p>
            </p:txBody>
          </p:sp>
        </p:grpSp>
      </p:grpSp>
    </p:spTree>
    <p:extLst>
      <p:ext uri="{BB962C8B-B14F-4D97-AF65-F5344CB8AC3E}">
        <p14:creationId xmlns:p14="http://schemas.microsoft.com/office/powerpoint/2010/main" val="816864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CC1F6C-84BB-354F-8A13-B142F52A48B5}"/>
              </a:ext>
            </a:extLst>
          </p:cNvPr>
          <p:cNvSpPr>
            <a:spLocks noGrp="1"/>
          </p:cNvSpPr>
          <p:nvPr>
            <p:ph type="title"/>
          </p:nvPr>
        </p:nvSpPr>
        <p:spPr/>
        <p:txBody>
          <a:bodyPr>
            <a:normAutofit/>
          </a:bodyPr>
          <a:lstStyle/>
          <a:p>
            <a:r>
              <a:rPr lang="en-US" altLang="zh-CN" sz="4800" dirty="0"/>
              <a:t>Foundation</a:t>
            </a:r>
            <a:endParaRPr lang="zh-CN" altLang="en-US" sz="4800" dirty="0"/>
          </a:p>
        </p:txBody>
      </p:sp>
      <p:sp>
        <p:nvSpPr>
          <p:cNvPr id="3" name="内容占位符 2">
            <a:extLst>
              <a:ext uri="{FF2B5EF4-FFF2-40B4-BE49-F238E27FC236}">
                <a16:creationId xmlns:a16="http://schemas.microsoft.com/office/drawing/2014/main" id="{E81CF02B-5CE0-EA05-E755-12359A315348}"/>
              </a:ext>
            </a:extLst>
          </p:cNvPr>
          <p:cNvSpPr>
            <a:spLocks noGrp="1"/>
          </p:cNvSpPr>
          <p:nvPr>
            <p:ph idx="1"/>
          </p:nvPr>
        </p:nvSpPr>
        <p:spPr/>
        <p:txBody>
          <a:bodyPr>
            <a:normAutofit/>
          </a:bodyPr>
          <a:lstStyle/>
          <a:p>
            <a:r>
              <a:rPr lang="en-US" altLang="zh-CN" sz="3200" dirty="0"/>
              <a:t>What is a “denoting phrase”?</a:t>
            </a:r>
          </a:p>
          <a:p>
            <a:r>
              <a:rPr lang="en-US" altLang="zh-CN" sz="3200" dirty="0"/>
              <a:t>What are the differences between these denoting phrases?</a:t>
            </a:r>
            <a:endParaRPr lang="zh-CN" altLang="en-US" sz="3200" dirty="0"/>
          </a:p>
        </p:txBody>
      </p:sp>
      <p:sp>
        <p:nvSpPr>
          <p:cNvPr id="4" name="文本框 3">
            <a:extLst>
              <a:ext uri="{FF2B5EF4-FFF2-40B4-BE49-F238E27FC236}">
                <a16:creationId xmlns:a16="http://schemas.microsoft.com/office/drawing/2014/main" id="{97889354-B338-8140-D7BA-E9BC4449E9C4}"/>
              </a:ext>
            </a:extLst>
          </p:cNvPr>
          <p:cNvSpPr txBox="1"/>
          <p:nvPr/>
        </p:nvSpPr>
        <p:spPr>
          <a:xfrm>
            <a:off x="4581428" y="4138760"/>
            <a:ext cx="4529404" cy="2862322"/>
          </a:xfrm>
          <a:prstGeom prst="rect">
            <a:avLst/>
          </a:prstGeom>
          <a:noFill/>
        </p:spPr>
        <p:txBody>
          <a:bodyPr wrap="square" rtlCol="0">
            <a:spAutoFit/>
          </a:bodyPr>
          <a:lstStyle/>
          <a:p>
            <a:pPr algn="just"/>
            <a:r>
              <a:rPr lang="en-US" altLang="zh-CN" i="1" dirty="0">
                <a:latin typeface="+mn-ea"/>
              </a:rPr>
              <a:t>“ I mean a phrase such as any one</a:t>
            </a:r>
          </a:p>
          <a:p>
            <a:pPr algn="just"/>
            <a:r>
              <a:rPr lang="en-US" altLang="zh-CN" i="1" dirty="0">
                <a:latin typeface="+mn-ea"/>
              </a:rPr>
              <a:t>of the following: a man, some man, any man, every man, all men, </a:t>
            </a:r>
          </a:p>
          <a:p>
            <a:pPr algn="just"/>
            <a:r>
              <a:rPr lang="en-US" altLang="zh-CN" i="1" dirty="0">
                <a:latin typeface="+mn-ea"/>
              </a:rPr>
              <a:t>the present King of England, </a:t>
            </a:r>
          </a:p>
          <a:p>
            <a:pPr algn="just"/>
            <a:r>
              <a:rPr lang="en-US" altLang="zh-CN" i="1" dirty="0">
                <a:latin typeface="+mn-ea"/>
              </a:rPr>
              <a:t>the present King of France, </a:t>
            </a:r>
          </a:p>
          <a:p>
            <a:pPr algn="just"/>
            <a:r>
              <a:rPr lang="en-US" altLang="zh-CN" i="1" dirty="0">
                <a:latin typeface="+mn-ea"/>
              </a:rPr>
              <a:t>the </a:t>
            </a:r>
            <a:r>
              <a:rPr lang="en-US" altLang="zh-CN" i="1" dirty="0" err="1">
                <a:latin typeface="+mn-ea"/>
              </a:rPr>
              <a:t>centre</a:t>
            </a:r>
            <a:r>
              <a:rPr lang="en-US" altLang="zh-CN" i="1" dirty="0">
                <a:latin typeface="+mn-ea"/>
              </a:rPr>
              <a:t> of mass of the Solar System at the first instant of the twentieth century, </a:t>
            </a:r>
          </a:p>
          <a:p>
            <a:pPr algn="just"/>
            <a:r>
              <a:rPr lang="en-US" altLang="zh-CN" i="1" dirty="0">
                <a:latin typeface="+mn-ea"/>
              </a:rPr>
              <a:t>the revolution of the earth round the sun, the revolution of the sun round the earth.”-On Denoting, Russell, P479</a:t>
            </a:r>
            <a:endParaRPr lang="zh-CN" altLang="en-US" i="1" dirty="0">
              <a:latin typeface="+mn-ea"/>
            </a:endParaRPr>
          </a:p>
        </p:txBody>
      </p:sp>
      <p:pic>
        <p:nvPicPr>
          <p:cNvPr id="7" name="图片 6">
            <a:extLst>
              <a:ext uri="{FF2B5EF4-FFF2-40B4-BE49-F238E27FC236}">
                <a16:creationId xmlns:a16="http://schemas.microsoft.com/office/drawing/2014/main" id="{E45BA70F-FCA3-59E5-F6C0-AE486609A9D5}"/>
              </a:ext>
            </a:extLst>
          </p:cNvPr>
          <p:cNvPicPr>
            <a:picLocks/>
          </p:cNvPicPr>
          <p:nvPr/>
        </p:nvPicPr>
        <p:blipFill>
          <a:blip r:embed="rId2"/>
          <a:srcRect l="23064" t="2540" r="18994"/>
          <a:stretch>
            <a:fillRect/>
          </a:stretch>
        </p:blipFill>
        <p:spPr>
          <a:xfrm>
            <a:off x="8780822" y="0"/>
            <a:ext cx="3411178" cy="3073112"/>
          </a:xfrm>
          <a:prstGeom prst="rect">
            <a:avLst/>
          </a:prstGeom>
        </p:spPr>
      </p:pic>
      <p:sp>
        <p:nvSpPr>
          <p:cNvPr id="9" name="文本框 8">
            <a:extLst>
              <a:ext uri="{FF2B5EF4-FFF2-40B4-BE49-F238E27FC236}">
                <a16:creationId xmlns:a16="http://schemas.microsoft.com/office/drawing/2014/main" id="{3944BF5D-9154-2ECF-BBA5-2254AD8B305B}"/>
              </a:ext>
            </a:extLst>
          </p:cNvPr>
          <p:cNvSpPr txBox="1"/>
          <p:nvPr/>
        </p:nvSpPr>
        <p:spPr>
          <a:xfrm>
            <a:off x="977473" y="3836710"/>
            <a:ext cx="3440785" cy="2862322"/>
          </a:xfrm>
          <a:prstGeom prst="rect">
            <a:avLst/>
          </a:prstGeom>
          <a:noFill/>
        </p:spPr>
        <p:txBody>
          <a:bodyPr wrap="square" rtlCol="0">
            <a:spAutoFit/>
          </a:bodyPr>
          <a:lstStyle/>
          <a:p>
            <a:pPr algn="just"/>
            <a:r>
              <a:rPr lang="en-US" altLang="zh-CN" dirty="0">
                <a:latin typeface="+mn-ea"/>
              </a:rPr>
              <a:t>(1) A phrase may be denoting,</a:t>
            </a:r>
          </a:p>
          <a:p>
            <a:pPr algn="just"/>
            <a:r>
              <a:rPr lang="en-US" altLang="zh-CN" dirty="0">
                <a:latin typeface="+mn-ea"/>
              </a:rPr>
              <a:t>and yet not denote anything; e.g., </a:t>
            </a:r>
            <a:r>
              <a:rPr lang="en-US" altLang="zh-CN" dirty="0">
                <a:solidFill>
                  <a:srgbClr val="FF0000"/>
                </a:solidFill>
                <a:latin typeface="+mn-ea"/>
              </a:rPr>
              <a:t>"the present King of France</a:t>
            </a:r>
            <a:r>
              <a:rPr lang="en-US" altLang="zh-CN" dirty="0">
                <a:latin typeface="+mn-ea"/>
              </a:rPr>
              <a:t> ”(2) A phrase may denote one definite object; e.g</a:t>
            </a:r>
            <a:r>
              <a:rPr lang="en-US" altLang="zh-CN" dirty="0">
                <a:solidFill>
                  <a:srgbClr val="FF0000"/>
                </a:solidFill>
                <a:latin typeface="+mn-ea"/>
              </a:rPr>
              <a:t>., "the present King of England " </a:t>
            </a:r>
            <a:r>
              <a:rPr lang="en-US" altLang="zh-CN" dirty="0">
                <a:latin typeface="+mn-ea"/>
              </a:rPr>
              <a:t>denotes a certain man. (3) A phrase may denote ambiguously; e.g</a:t>
            </a:r>
            <a:r>
              <a:rPr lang="en-US" altLang="zh-CN" dirty="0">
                <a:solidFill>
                  <a:srgbClr val="FF0000"/>
                </a:solidFill>
                <a:latin typeface="+mn-ea"/>
              </a:rPr>
              <a:t>., " a man " </a:t>
            </a:r>
            <a:r>
              <a:rPr lang="en-US" altLang="zh-CN" dirty="0">
                <a:latin typeface="+mn-ea"/>
              </a:rPr>
              <a:t>denotes not many men, but an ambiguous man.</a:t>
            </a:r>
            <a:endParaRPr lang="zh-CN" altLang="en-US" dirty="0">
              <a:latin typeface="+mn-ea"/>
            </a:endParaRPr>
          </a:p>
        </p:txBody>
      </p:sp>
    </p:spTree>
    <p:extLst>
      <p:ext uri="{BB962C8B-B14F-4D97-AF65-F5344CB8AC3E}">
        <p14:creationId xmlns:p14="http://schemas.microsoft.com/office/powerpoint/2010/main" val="622147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A689B3-AE71-D6C2-0297-F769AED1813F}"/>
              </a:ext>
            </a:extLst>
          </p:cNvPr>
          <p:cNvSpPr>
            <a:spLocks noGrp="1"/>
          </p:cNvSpPr>
          <p:nvPr>
            <p:ph type="title"/>
          </p:nvPr>
        </p:nvSpPr>
        <p:spPr/>
        <p:txBody>
          <a:bodyPr>
            <a:normAutofit/>
          </a:bodyPr>
          <a:lstStyle/>
          <a:p>
            <a:r>
              <a:rPr lang="en-US" altLang="zh-CN" sz="4800" dirty="0"/>
              <a:t>Foundation</a:t>
            </a:r>
            <a:endParaRPr lang="zh-CN" altLang="en-US" sz="4800" dirty="0"/>
          </a:p>
        </p:txBody>
      </p:sp>
      <p:sp>
        <p:nvSpPr>
          <p:cNvPr id="3" name="内容占位符 2">
            <a:extLst>
              <a:ext uri="{FF2B5EF4-FFF2-40B4-BE49-F238E27FC236}">
                <a16:creationId xmlns:a16="http://schemas.microsoft.com/office/drawing/2014/main" id="{BCDAB115-43FD-7A9D-2627-51F3D2D6A26E}"/>
              </a:ext>
            </a:extLst>
          </p:cNvPr>
          <p:cNvSpPr>
            <a:spLocks noGrp="1"/>
          </p:cNvSpPr>
          <p:nvPr>
            <p:ph idx="1"/>
          </p:nvPr>
        </p:nvSpPr>
        <p:spPr>
          <a:xfrm>
            <a:off x="-558991" y="6058425"/>
            <a:ext cx="8596668" cy="3880773"/>
          </a:xfrm>
        </p:spPr>
        <p:txBody>
          <a:bodyPr>
            <a:normAutofit/>
          </a:bodyPr>
          <a:lstStyle/>
          <a:p>
            <a:pPr algn="ctr"/>
            <a:r>
              <a:rPr lang="en-US" altLang="zh-CN" sz="2400" dirty="0"/>
              <a:t>How did Russell construct a proposition?</a:t>
            </a:r>
            <a:endParaRPr lang="zh-CN" altLang="en-US" sz="2400" dirty="0"/>
          </a:p>
        </p:txBody>
      </p:sp>
      <p:grpSp>
        <p:nvGrpSpPr>
          <p:cNvPr id="4" name="组合 3">
            <a:extLst>
              <a:ext uri="{FF2B5EF4-FFF2-40B4-BE49-F238E27FC236}">
                <a16:creationId xmlns:a16="http://schemas.microsoft.com/office/drawing/2014/main" id="{D1266108-A229-7EBF-9403-8D09E3D5FC69}"/>
              </a:ext>
            </a:extLst>
          </p:cNvPr>
          <p:cNvGrpSpPr>
            <a:grpSpLocks noChangeAspect="1"/>
          </p:cNvGrpSpPr>
          <p:nvPr>
            <p:custDataLst>
              <p:tags r:id="rId1"/>
            </p:custDataLst>
          </p:nvPr>
        </p:nvGrpSpPr>
        <p:grpSpPr>
          <a:xfrm>
            <a:off x="666750" y="733652"/>
            <a:ext cx="10858498" cy="6031518"/>
            <a:chOff x="660401" y="1028700"/>
            <a:chExt cx="10858498" cy="6031518"/>
          </a:xfrm>
        </p:grpSpPr>
        <p:sp>
          <p:nvSpPr>
            <p:cNvPr id="5" name="0">
              <a:extLst>
                <a:ext uri="{FF2B5EF4-FFF2-40B4-BE49-F238E27FC236}">
                  <a16:creationId xmlns:a16="http://schemas.microsoft.com/office/drawing/2014/main" id="{981DAAE9-0809-6C8B-58F8-B18AC3284EF9}"/>
                </a:ext>
              </a:extLst>
            </p:cNvPr>
            <p:cNvSpPr/>
            <p:nvPr/>
          </p:nvSpPr>
          <p:spPr>
            <a:xfrm flipH="1">
              <a:off x="2560320" y="4180318"/>
              <a:ext cx="2837181" cy="1075636"/>
            </a:xfrm>
            <a:prstGeom prst="parallelogram">
              <a:avLst>
                <a:gd name="adj" fmla="val 9756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OPPOSans R" pitchFamily="18" charset="-122"/>
              </a:endParaRPr>
            </a:p>
          </p:txBody>
        </p:sp>
        <p:sp>
          <p:nvSpPr>
            <p:cNvPr id="6" name="0">
              <a:extLst>
                <a:ext uri="{FF2B5EF4-FFF2-40B4-BE49-F238E27FC236}">
                  <a16:creationId xmlns:a16="http://schemas.microsoft.com/office/drawing/2014/main" id="{A8603F26-F45A-7CCE-2688-399469FC31EF}"/>
                </a:ext>
              </a:extLst>
            </p:cNvPr>
            <p:cNvSpPr/>
            <p:nvPr/>
          </p:nvSpPr>
          <p:spPr>
            <a:xfrm flipH="1">
              <a:off x="5896421" y="3302177"/>
              <a:ext cx="2790378" cy="1075636"/>
            </a:xfrm>
            <a:prstGeom prst="parallelogram">
              <a:avLst>
                <a:gd name="adj" fmla="val 97342"/>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OPPOSans R" pitchFamily="18" charset="-122"/>
              </a:endParaRPr>
            </a:p>
          </p:txBody>
        </p:sp>
        <p:sp>
          <p:nvSpPr>
            <p:cNvPr id="7" name="0">
              <a:extLst>
                <a:ext uri="{FF2B5EF4-FFF2-40B4-BE49-F238E27FC236}">
                  <a16:creationId xmlns:a16="http://schemas.microsoft.com/office/drawing/2014/main" id="{A69C9731-DE53-9780-564F-CD4A2A49C056}"/>
                </a:ext>
              </a:extLst>
            </p:cNvPr>
            <p:cNvSpPr>
              <a:spLocks/>
            </p:cNvSpPr>
            <p:nvPr/>
          </p:nvSpPr>
          <p:spPr bwMode="auto">
            <a:xfrm>
              <a:off x="660401" y="4180321"/>
              <a:ext cx="3329871" cy="1953779"/>
            </a:xfrm>
            <a:custGeom>
              <a:avLst/>
              <a:gdLst>
                <a:gd name="T0" fmla="*/ 471 w 900"/>
                <a:gd name="T1" fmla="*/ 0 h 1090"/>
                <a:gd name="T2" fmla="*/ 0 w 900"/>
                <a:gd name="T3" fmla="*/ 1090 h 1090"/>
                <a:gd name="T4" fmla="*/ 430 w 900"/>
                <a:gd name="T5" fmla="*/ 1090 h 1090"/>
                <a:gd name="T6" fmla="*/ 900 w 900"/>
                <a:gd name="T7" fmla="*/ 0 h 1090"/>
                <a:gd name="T8" fmla="*/ 471 w 900"/>
                <a:gd name="T9" fmla="*/ 0 h 1090"/>
              </a:gdLst>
              <a:ahLst/>
              <a:cxnLst>
                <a:cxn ang="0">
                  <a:pos x="T0" y="T1"/>
                </a:cxn>
                <a:cxn ang="0">
                  <a:pos x="T2" y="T3"/>
                </a:cxn>
                <a:cxn ang="0">
                  <a:pos x="T4" y="T5"/>
                </a:cxn>
                <a:cxn ang="0">
                  <a:pos x="T6" y="T7"/>
                </a:cxn>
                <a:cxn ang="0">
                  <a:pos x="T8" y="T9"/>
                </a:cxn>
              </a:cxnLst>
              <a:rect l="0" t="0" r="r" b="b"/>
              <a:pathLst>
                <a:path w="900" h="1090">
                  <a:moveTo>
                    <a:pt x="471" y="0"/>
                  </a:moveTo>
                  <a:lnTo>
                    <a:pt x="0" y="1090"/>
                  </a:lnTo>
                  <a:lnTo>
                    <a:pt x="430" y="1090"/>
                  </a:lnTo>
                  <a:lnTo>
                    <a:pt x="900" y="0"/>
                  </a:lnTo>
                  <a:lnTo>
                    <a:pt x="471" y="0"/>
                  </a:lnTo>
                  <a:close/>
                </a:path>
              </a:pathLst>
            </a:custGeom>
            <a:gradFill flip="none" rotWithShape="1">
              <a:gsLst>
                <a:gs pos="30000">
                  <a:schemeClr val="accent1"/>
                </a:gs>
                <a:gs pos="100000">
                  <a:schemeClr val="accent1">
                    <a:lumMod val="60000"/>
                    <a:lumOff val="40000"/>
                  </a:schemeClr>
                </a:gs>
              </a:gsLst>
              <a:lin ang="13500000" scaled="1"/>
              <a:tileRect/>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atin typeface="OPPOSans R" pitchFamily="18" charset="-122"/>
                <a:sym typeface="+mn-lt"/>
              </a:endParaRPr>
            </a:p>
          </p:txBody>
        </p:sp>
        <p:sp>
          <p:nvSpPr>
            <p:cNvPr id="8" name="0">
              <a:extLst>
                <a:ext uri="{FF2B5EF4-FFF2-40B4-BE49-F238E27FC236}">
                  <a16:creationId xmlns:a16="http://schemas.microsoft.com/office/drawing/2014/main" id="{0D004875-CD66-1C17-5903-4EA7CF0222D7}"/>
                </a:ext>
              </a:extLst>
            </p:cNvPr>
            <p:cNvSpPr>
              <a:spLocks/>
            </p:cNvSpPr>
            <p:nvPr/>
          </p:nvSpPr>
          <p:spPr bwMode="auto">
            <a:xfrm>
              <a:off x="3974489" y="3302177"/>
              <a:ext cx="3333572" cy="1953779"/>
            </a:xfrm>
            <a:custGeom>
              <a:avLst/>
              <a:gdLst>
                <a:gd name="T0" fmla="*/ 471 w 901"/>
                <a:gd name="T1" fmla="*/ 0 h 1090"/>
                <a:gd name="T2" fmla="*/ 0 w 901"/>
                <a:gd name="T3" fmla="*/ 1090 h 1090"/>
                <a:gd name="T4" fmla="*/ 435 w 901"/>
                <a:gd name="T5" fmla="*/ 1090 h 1090"/>
                <a:gd name="T6" fmla="*/ 901 w 901"/>
                <a:gd name="T7" fmla="*/ 0 h 1090"/>
                <a:gd name="T8" fmla="*/ 471 w 901"/>
                <a:gd name="T9" fmla="*/ 0 h 1090"/>
              </a:gdLst>
              <a:ahLst/>
              <a:cxnLst>
                <a:cxn ang="0">
                  <a:pos x="T0" y="T1"/>
                </a:cxn>
                <a:cxn ang="0">
                  <a:pos x="T2" y="T3"/>
                </a:cxn>
                <a:cxn ang="0">
                  <a:pos x="T4" y="T5"/>
                </a:cxn>
                <a:cxn ang="0">
                  <a:pos x="T6" y="T7"/>
                </a:cxn>
                <a:cxn ang="0">
                  <a:pos x="T8" y="T9"/>
                </a:cxn>
              </a:cxnLst>
              <a:rect l="0" t="0" r="r" b="b"/>
              <a:pathLst>
                <a:path w="901" h="1090">
                  <a:moveTo>
                    <a:pt x="471" y="0"/>
                  </a:moveTo>
                  <a:lnTo>
                    <a:pt x="0" y="1090"/>
                  </a:lnTo>
                  <a:lnTo>
                    <a:pt x="435" y="1090"/>
                  </a:lnTo>
                  <a:lnTo>
                    <a:pt x="901" y="0"/>
                  </a:lnTo>
                  <a:lnTo>
                    <a:pt x="471" y="0"/>
                  </a:lnTo>
                  <a:close/>
                </a:path>
              </a:pathLst>
            </a:custGeom>
            <a:gradFill flip="none" rotWithShape="1">
              <a:gsLst>
                <a:gs pos="30000">
                  <a:schemeClr val="accent2"/>
                </a:gs>
                <a:gs pos="100000">
                  <a:schemeClr val="accent2">
                    <a:lumMod val="60000"/>
                    <a:lumOff val="40000"/>
                  </a:schemeClr>
                </a:gs>
              </a:gsLst>
              <a:lin ang="13500000" scaled="1"/>
              <a:tileRect/>
            </a:gradFill>
            <a:ln>
              <a:noFill/>
            </a:ln>
            <a:effectLst>
              <a:outerShdw blurRad="381000" dist="190500" dir="5400000" sx="90000" sy="90000" algn="ctr" rotWithShape="0">
                <a:schemeClr val="accent2">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atin typeface="OPPOSans R" pitchFamily="18" charset="-122"/>
                <a:sym typeface="+mn-lt"/>
              </a:endParaRPr>
            </a:p>
          </p:txBody>
        </p:sp>
        <p:sp>
          <p:nvSpPr>
            <p:cNvPr id="9" name="0">
              <a:extLst>
                <a:ext uri="{FF2B5EF4-FFF2-40B4-BE49-F238E27FC236}">
                  <a16:creationId xmlns:a16="http://schemas.microsoft.com/office/drawing/2014/main" id="{5EEFB2B1-878A-7E5F-FBAD-3CB1F8BF9328}"/>
                </a:ext>
              </a:extLst>
            </p:cNvPr>
            <p:cNvSpPr>
              <a:spLocks/>
            </p:cNvSpPr>
            <p:nvPr/>
          </p:nvSpPr>
          <p:spPr bwMode="auto">
            <a:xfrm>
              <a:off x="7293662" y="1028700"/>
              <a:ext cx="4225237" cy="3349112"/>
            </a:xfrm>
            <a:custGeom>
              <a:avLst/>
              <a:gdLst>
                <a:gd name="T0" fmla="*/ 1142 w 1142"/>
                <a:gd name="T1" fmla="*/ 485 h 1633"/>
                <a:gd name="T2" fmla="*/ 927 w 1142"/>
                <a:gd name="T3" fmla="*/ 0 h 1633"/>
                <a:gd name="T4" fmla="*/ 292 w 1142"/>
                <a:gd name="T5" fmla="*/ 485 h 1633"/>
                <a:gd name="T6" fmla="*/ 502 w 1142"/>
                <a:gd name="T7" fmla="*/ 485 h 1633"/>
                <a:gd name="T8" fmla="*/ 0 w 1142"/>
                <a:gd name="T9" fmla="*/ 1633 h 1633"/>
                <a:gd name="T10" fmla="*/ 430 w 1142"/>
                <a:gd name="T11" fmla="*/ 1633 h 1633"/>
                <a:gd name="T12" fmla="*/ 932 w 1142"/>
                <a:gd name="T13" fmla="*/ 485 h 1633"/>
                <a:gd name="T14" fmla="*/ 1142 w 1142"/>
                <a:gd name="T15" fmla="*/ 485 h 16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2" h="1633">
                  <a:moveTo>
                    <a:pt x="1142" y="485"/>
                  </a:moveTo>
                  <a:lnTo>
                    <a:pt x="927" y="0"/>
                  </a:lnTo>
                  <a:lnTo>
                    <a:pt x="292" y="485"/>
                  </a:lnTo>
                  <a:lnTo>
                    <a:pt x="502" y="485"/>
                  </a:lnTo>
                  <a:lnTo>
                    <a:pt x="0" y="1633"/>
                  </a:lnTo>
                  <a:lnTo>
                    <a:pt x="430" y="1633"/>
                  </a:lnTo>
                  <a:lnTo>
                    <a:pt x="932" y="485"/>
                  </a:lnTo>
                  <a:lnTo>
                    <a:pt x="1142" y="485"/>
                  </a:lnTo>
                  <a:close/>
                </a:path>
              </a:pathLst>
            </a:custGeom>
            <a:gradFill flip="none" rotWithShape="1">
              <a:gsLst>
                <a:gs pos="30000">
                  <a:schemeClr val="accent1"/>
                </a:gs>
                <a:gs pos="100000">
                  <a:schemeClr val="accent1">
                    <a:lumMod val="60000"/>
                    <a:lumOff val="40000"/>
                  </a:schemeClr>
                </a:gs>
              </a:gsLst>
              <a:lin ang="13500000" scaled="1"/>
              <a:tileRect/>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dirty="0">
                <a:latin typeface="OPPOSans R" pitchFamily="18" charset="-122"/>
                <a:sym typeface="+mn-lt"/>
              </a:endParaRPr>
            </a:p>
          </p:txBody>
        </p:sp>
        <p:grpSp>
          <p:nvGrpSpPr>
            <p:cNvPr id="10" name="组合 1">
              <a:extLst>
                <a:ext uri="{FF2B5EF4-FFF2-40B4-BE49-F238E27FC236}">
                  <a16:creationId xmlns:a16="http://schemas.microsoft.com/office/drawing/2014/main" id="{138C5082-603B-6C5A-6A57-1EA0CE1EB40F}"/>
                </a:ext>
              </a:extLst>
            </p:cNvPr>
            <p:cNvGrpSpPr/>
            <p:nvPr/>
          </p:nvGrpSpPr>
          <p:grpSpPr>
            <a:xfrm>
              <a:off x="1489840" y="1765300"/>
              <a:ext cx="2561459" cy="3133832"/>
              <a:chOff x="669828" y="2197100"/>
              <a:chExt cx="1986286" cy="3133832"/>
            </a:xfrm>
          </p:grpSpPr>
          <p:sp>
            <p:nvSpPr>
              <p:cNvPr id="21" name="1">
                <a:extLst>
                  <a:ext uri="{FF2B5EF4-FFF2-40B4-BE49-F238E27FC236}">
                    <a16:creationId xmlns:a16="http://schemas.microsoft.com/office/drawing/2014/main" id="{49ED5747-FBE4-3048-7775-4BA6EBF0C114}"/>
                  </a:ext>
                </a:extLst>
              </p:cNvPr>
              <p:cNvSpPr>
                <a:spLocks/>
              </p:cNvSpPr>
              <p:nvPr/>
            </p:nvSpPr>
            <p:spPr>
              <a:xfrm>
                <a:off x="669828" y="2197100"/>
                <a:ext cx="1986286" cy="3133832"/>
              </a:xfrm>
              <a:prstGeom prst="roundRect">
                <a:avLst>
                  <a:gd name="adj" fmla="val 9478"/>
                </a:avLst>
              </a:prstGeom>
              <a:gradFill>
                <a:gsLst>
                  <a:gs pos="0">
                    <a:schemeClr val="accent1">
                      <a:lumMod val="40000"/>
                      <a:lumOff val="60000"/>
                      <a:alpha val="50000"/>
                    </a:schemeClr>
                  </a:gs>
                  <a:gs pos="50000">
                    <a:schemeClr val="accent1">
                      <a:lumMod val="40000"/>
                      <a:lumOff val="60000"/>
                      <a:alpha val="0"/>
                    </a:schemeClr>
                  </a:gs>
                </a:gsLst>
                <a:lin ang="5400000" scaled="0"/>
              </a:gradFill>
              <a:ln w="12700" cap="rnd">
                <a:gradFill>
                  <a:gsLst>
                    <a:gs pos="0">
                      <a:schemeClr val="accent1">
                        <a:lumMod val="40000"/>
                        <a:lumOff val="60000"/>
                      </a:schemeClr>
                    </a:gs>
                    <a:gs pos="68000">
                      <a:schemeClr val="accent1">
                        <a:lumMod val="40000"/>
                        <a:lumOff val="60000"/>
                        <a:alpha val="0"/>
                      </a:schemeClr>
                    </a:gs>
                  </a:gsLst>
                  <a:lin ang="54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dirty="0">
                  <a:solidFill>
                    <a:schemeClr val="accent1"/>
                  </a:solidFill>
                  <a:sym typeface="Arial" panose="020B0604020202020204" pitchFamily="34" charset="0"/>
                </a:endParaRPr>
              </a:p>
            </p:txBody>
          </p:sp>
          <p:sp>
            <p:nvSpPr>
              <p:cNvPr id="22" name="1">
                <a:extLst>
                  <a:ext uri="{FF2B5EF4-FFF2-40B4-BE49-F238E27FC236}">
                    <a16:creationId xmlns:a16="http://schemas.microsoft.com/office/drawing/2014/main" id="{10E3702C-6366-F589-2DA7-184E61EFCFC6}"/>
                  </a:ext>
                </a:extLst>
              </p:cNvPr>
              <p:cNvSpPr>
                <a:spLocks/>
              </p:cNvSpPr>
              <p:nvPr/>
            </p:nvSpPr>
            <p:spPr>
              <a:xfrm>
                <a:off x="916659" y="3690167"/>
                <a:ext cx="1492625" cy="494483"/>
              </a:xfrm>
              <a:prstGeom prst="roundRect">
                <a:avLst>
                  <a:gd name="adj" fmla="val 50000"/>
                </a:avLst>
              </a:prstGeom>
              <a:gradFill flip="none" rotWithShape="1">
                <a:gsLst>
                  <a:gs pos="0">
                    <a:schemeClr val="accent1">
                      <a:lumMod val="60000"/>
                      <a:lumOff val="40000"/>
                    </a:schemeClr>
                  </a:gs>
                  <a:gs pos="50000">
                    <a:schemeClr val="accent1"/>
                  </a:gs>
                </a:gsLst>
                <a:lin ang="2700000" scaled="1"/>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lnSpcReduction="10000"/>
              </a:bodyPr>
              <a:lstStyle/>
              <a:p>
                <a:pPr algn="ctr"/>
                <a:endParaRPr kumimoji="1" lang="en-US" altLang="zh-CN"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Title-1">
                <a:extLst>
                  <a:ext uri="{FF2B5EF4-FFF2-40B4-BE49-F238E27FC236}">
                    <a16:creationId xmlns:a16="http://schemas.microsoft.com/office/drawing/2014/main" id="{2A5A2181-EA28-A9B2-AF70-361DB5BA5828}"/>
                  </a:ext>
                </a:extLst>
              </p:cNvPr>
              <p:cNvSpPr>
                <a:spLocks/>
              </p:cNvSpPr>
              <p:nvPr>
                <p:custDataLst>
                  <p:tags r:id="rId6"/>
                </p:custDataLst>
              </p:nvPr>
            </p:nvSpPr>
            <p:spPr>
              <a:xfrm>
                <a:off x="942101" y="3680435"/>
                <a:ext cx="1441740" cy="499782"/>
              </a:xfrm>
              <a:prstGeom prst="roundRect">
                <a:avLst>
                  <a:gd name="adj" fmla="val 1413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lt1"/>
                    </a:solidFill>
                  </a:rPr>
                  <a:t>Notion of </a:t>
                </a:r>
                <a:r>
                  <a:rPr lang="en-US" altLang="zh-CN" b="1" i="1" dirty="0">
                    <a:solidFill>
                      <a:schemeClr val="lt1"/>
                    </a:solidFill>
                  </a:rPr>
                  <a:t>variable</a:t>
                </a:r>
                <a:endParaRPr lang="zh-CN" altLang="en-US" b="1" i="1" dirty="0">
                  <a:solidFill>
                    <a:schemeClr val="lt1"/>
                  </a:solidFill>
                </a:endParaRPr>
              </a:p>
            </p:txBody>
          </p:sp>
          <p:sp>
            <p:nvSpPr>
              <p:cNvPr id="24" name="Body-1">
                <a:extLst>
                  <a:ext uri="{FF2B5EF4-FFF2-40B4-BE49-F238E27FC236}">
                    <a16:creationId xmlns:a16="http://schemas.microsoft.com/office/drawing/2014/main" id="{2108BA40-6D2E-EBF5-2AC4-7255DB6922F3}"/>
                  </a:ext>
                </a:extLst>
              </p:cNvPr>
              <p:cNvSpPr txBox="1">
                <a:spLocks/>
              </p:cNvSpPr>
              <p:nvPr>
                <p:custDataLst>
                  <p:tags r:id="rId7"/>
                </p:custDataLst>
              </p:nvPr>
            </p:nvSpPr>
            <p:spPr>
              <a:xfrm>
                <a:off x="778158" y="2423774"/>
                <a:ext cx="1769627" cy="1503527"/>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altLang="zh-CN" dirty="0">
                    <a:solidFill>
                      <a:srgbClr val="000000"/>
                    </a:solidFill>
                    <a:latin typeface="+mn-ea"/>
                    <a:sym typeface="Arial" panose="020B0604020202020204" pitchFamily="34" charset="0"/>
                  </a:rPr>
                  <a:t>X, y, z and C(used in the following analysis).</a:t>
                </a:r>
              </a:p>
            </p:txBody>
          </p:sp>
        </p:grpSp>
        <p:grpSp>
          <p:nvGrpSpPr>
            <p:cNvPr id="11" name="组合2">
              <a:extLst>
                <a:ext uri="{FF2B5EF4-FFF2-40B4-BE49-F238E27FC236}">
                  <a16:creationId xmlns:a16="http://schemas.microsoft.com/office/drawing/2014/main" id="{24EBE785-9BB4-B3F2-4116-7FBDD0D8DDC3}"/>
                </a:ext>
              </a:extLst>
            </p:cNvPr>
            <p:cNvGrpSpPr/>
            <p:nvPr/>
          </p:nvGrpSpPr>
          <p:grpSpPr>
            <a:xfrm>
              <a:off x="4876800" y="1028700"/>
              <a:ext cx="2561459" cy="3133832"/>
              <a:chOff x="669828" y="2197100"/>
              <a:chExt cx="1986286" cy="3133832"/>
            </a:xfrm>
          </p:grpSpPr>
          <p:sp>
            <p:nvSpPr>
              <p:cNvPr id="17" name="2">
                <a:extLst>
                  <a:ext uri="{FF2B5EF4-FFF2-40B4-BE49-F238E27FC236}">
                    <a16:creationId xmlns:a16="http://schemas.microsoft.com/office/drawing/2014/main" id="{94DA50D1-0152-3B3C-BA7C-A7DB2632D20A}"/>
                  </a:ext>
                </a:extLst>
              </p:cNvPr>
              <p:cNvSpPr>
                <a:spLocks/>
              </p:cNvSpPr>
              <p:nvPr/>
            </p:nvSpPr>
            <p:spPr>
              <a:xfrm>
                <a:off x="669828" y="2197100"/>
                <a:ext cx="1986286" cy="3133832"/>
              </a:xfrm>
              <a:prstGeom prst="roundRect">
                <a:avLst>
                  <a:gd name="adj" fmla="val 9478"/>
                </a:avLst>
              </a:prstGeom>
              <a:gradFill>
                <a:gsLst>
                  <a:gs pos="0">
                    <a:schemeClr val="accent2">
                      <a:lumMod val="40000"/>
                      <a:lumOff val="60000"/>
                      <a:alpha val="50000"/>
                    </a:schemeClr>
                  </a:gs>
                  <a:gs pos="50000">
                    <a:schemeClr val="accent2">
                      <a:lumMod val="40000"/>
                      <a:lumOff val="60000"/>
                      <a:alpha val="0"/>
                    </a:schemeClr>
                  </a:gs>
                </a:gsLst>
                <a:lin ang="5400000" scaled="0"/>
              </a:gradFill>
              <a:ln w="12700" cap="rnd">
                <a:gradFill>
                  <a:gsLst>
                    <a:gs pos="0">
                      <a:schemeClr val="accent2">
                        <a:lumMod val="40000"/>
                        <a:lumOff val="60000"/>
                      </a:schemeClr>
                    </a:gs>
                    <a:gs pos="68000">
                      <a:schemeClr val="accent2">
                        <a:lumMod val="40000"/>
                        <a:lumOff val="60000"/>
                        <a:alpha val="0"/>
                      </a:schemeClr>
                    </a:gs>
                  </a:gsLst>
                  <a:lin ang="54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dirty="0">
                  <a:solidFill>
                    <a:schemeClr val="accent1"/>
                  </a:solidFill>
                  <a:sym typeface="Arial" panose="020B0604020202020204" pitchFamily="34" charset="0"/>
                </a:endParaRPr>
              </a:p>
            </p:txBody>
          </p:sp>
          <p:sp>
            <p:nvSpPr>
              <p:cNvPr id="18" name="2">
                <a:extLst>
                  <a:ext uri="{FF2B5EF4-FFF2-40B4-BE49-F238E27FC236}">
                    <a16:creationId xmlns:a16="http://schemas.microsoft.com/office/drawing/2014/main" id="{2D9433C3-D9B7-520A-69FE-36E43BFBD78C}"/>
                  </a:ext>
                </a:extLst>
              </p:cNvPr>
              <p:cNvSpPr>
                <a:spLocks/>
              </p:cNvSpPr>
              <p:nvPr/>
            </p:nvSpPr>
            <p:spPr>
              <a:xfrm>
                <a:off x="916659" y="3690167"/>
                <a:ext cx="1492625" cy="494483"/>
              </a:xfrm>
              <a:prstGeom prst="roundRect">
                <a:avLst>
                  <a:gd name="adj" fmla="val 50000"/>
                </a:avLst>
              </a:prstGeom>
              <a:gradFill flip="none" rotWithShape="1">
                <a:gsLst>
                  <a:gs pos="0">
                    <a:schemeClr val="accent2">
                      <a:lumMod val="60000"/>
                      <a:lumOff val="40000"/>
                    </a:schemeClr>
                  </a:gs>
                  <a:gs pos="50000">
                    <a:schemeClr val="accent2"/>
                  </a:gs>
                </a:gsLst>
                <a:lin ang="2700000" scaled="1"/>
                <a:tileRect/>
              </a:gradFill>
              <a:ln>
                <a:noFill/>
              </a:ln>
              <a:effectLst>
                <a:outerShdw blurRad="50800" dist="50800" dir="5400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lnSpcReduction="10000"/>
              </a:bodyPr>
              <a:lstStyle/>
              <a:p>
                <a:pPr algn="ctr"/>
                <a:endParaRPr kumimoji="1" lang="en-US" altLang="zh-CN" b="1"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itle-2">
                <a:extLst>
                  <a:ext uri="{FF2B5EF4-FFF2-40B4-BE49-F238E27FC236}">
                    <a16:creationId xmlns:a16="http://schemas.microsoft.com/office/drawing/2014/main" id="{96C34E6F-2F9F-41B1-0390-38033E9C8638}"/>
                  </a:ext>
                </a:extLst>
              </p:cNvPr>
              <p:cNvSpPr>
                <a:spLocks/>
              </p:cNvSpPr>
              <p:nvPr>
                <p:custDataLst>
                  <p:tags r:id="rId4"/>
                </p:custDataLst>
              </p:nvPr>
            </p:nvSpPr>
            <p:spPr>
              <a:xfrm>
                <a:off x="942101" y="3680435"/>
                <a:ext cx="1441740" cy="499782"/>
              </a:xfrm>
              <a:prstGeom prst="roundRect">
                <a:avLst>
                  <a:gd name="adj" fmla="val 1413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lt1"/>
                    </a:solidFill>
                  </a:rPr>
                  <a:t>A propositional </a:t>
                </a:r>
                <a:r>
                  <a:rPr lang="en-US" altLang="zh-CN" b="1" i="1" dirty="0">
                    <a:solidFill>
                      <a:schemeClr val="lt1"/>
                    </a:solidFill>
                  </a:rPr>
                  <a:t>function</a:t>
                </a:r>
                <a:endParaRPr lang="zh-CN" altLang="en-US" b="1" i="1" dirty="0">
                  <a:solidFill>
                    <a:schemeClr val="lt1"/>
                  </a:solidFill>
                </a:endParaRPr>
              </a:p>
            </p:txBody>
          </p:sp>
          <p:sp>
            <p:nvSpPr>
              <p:cNvPr id="20" name="Body-2">
                <a:extLst>
                  <a:ext uri="{FF2B5EF4-FFF2-40B4-BE49-F238E27FC236}">
                    <a16:creationId xmlns:a16="http://schemas.microsoft.com/office/drawing/2014/main" id="{67E98BDF-DC72-9C3E-E4EB-7EC1DED8DD27}"/>
                  </a:ext>
                </a:extLst>
              </p:cNvPr>
              <p:cNvSpPr txBox="1">
                <a:spLocks/>
              </p:cNvSpPr>
              <p:nvPr>
                <p:custDataLst>
                  <p:tags r:id="rId5"/>
                </p:custDataLst>
              </p:nvPr>
            </p:nvSpPr>
            <p:spPr>
              <a:xfrm>
                <a:off x="814495" y="2423774"/>
                <a:ext cx="1696954" cy="1503527"/>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altLang="zh-CN" sz="1400" dirty="0">
                    <a:solidFill>
                      <a:srgbClr val="000000"/>
                    </a:solidFill>
                    <a:latin typeface="+mn-ea"/>
                    <a:sym typeface="Arial" panose="020B0604020202020204" pitchFamily="34" charset="0"/>
                  </a:rPr>
                  <a:t>The operator operates a variable, conveying certain meaning and ideas.</a:t>
                </a:r>
              </a:p>
            </p:txBody>
          </p:sp>
        </p:grpSp>
        <p:grpSp>
          <p:nvGrpSpPr>
            <p:cNvPr id="12" name="组合 3">
              <a:extLst>
                <a:ext uri="{FF2B5EF4-FFF2-40B4-BE49-F238E27FC236}">
                  <a16:creationId xmlns:a16="http://schemas.microsoft.com/office/drawing/2014/main" id="{EC8B0D41-1EB1-2542-B882-B5B1CD08A71A}"/>
                </a:ext>
              </a:extLst>
            </p:cNvPr>
            <p:cNvGrpSpPr/>
            <p:nvPr/>
          </p:nvGrpSpPr>
          <p:grpSpPr>
            <a:xfrm>
              <a:off x="7086854" y="3926386"/>
              <a:ext cx="4080930" cy="3133832"/>
              <a:chOff x="-780720" y="3117215"/>
              <a:chExt cx="3164561" cy="3133832"/>
            </a:xfrm>
          </p:grpSpPr>
          <p:sp>
            <p:nvSpPr>
              <p:cNvPr id="13" name="3">
                <a:extLst>
                  <a:ext uri="{FF2B5EF4-FFF2-40B4-BE49-F238E27FC236}">
                    <a16:creationId xmlns:a16="http://schemas.microsoft.com/office/drawing/2014/main" id="{420B9C83-4151-3E70-2391-7269CA6A0F55}"/>
                  </a:ext>
                </a:extLst>
              </p:cNvPr>
              <p:cNvSpPr>
                <a:spLocks/>
              </p:cNvSpPr>
              <p:nvPr/>
            </p:nvSpPr>
            <p:spPr>
              <a:xfrm flipV="1">
                <a:off x="-755053" y="3117215"/>
                <a:ext cx="1986286" cy="3133832"/>
              </a:xfrm>
              <a:prstGeom prst="roundRect">
                <a:avLst>
                  <a:gd name="adj" fmla="val 9478"/>
                </a:avLst>
              </a:prstGeom>
              <a:gradFill>
                <a:gsLst>
                  <a:gs pos="0">
                    <a:schemeClr val="accent1">
                      <a:lumMod val="40000"/>
                      <a:lumOff val="60000"/>
                      <a:alpha val="50000"/>
                    </a:schemeClr>
                  </a:gs>
                  <a:gs pos="50000">
                    <a:schemeClr val="accent1">
                      <a:lumMod val="40000"/>
                      <a:lumOff val="60000"/>
                      <a:alpha val="0"/>
                    </a:schemeClr>
                  </a:gs>
                </a:gsLst>
                <a:lin ang="5400000" scaled="0"/>
              </a:gradFill>
              <a:ln w="12700" cap="rnd">
                <a:gradFill>
                  <a:gsLst>
                    <a:gs pos="0">
                      <a:schemeClr val="accent1">
                        <a:lumMod val="40000"/>
                        <a:lumOff val="60000"/>
                      </a:schemeClr>
                    </a:gs>
                    <a:gs pos="68000">
                      <a:schemeClr val="accent1">
                        <a:lumMod val="40000"/>
                        <a:lumOff val="60000"/>
                        <a:alpha val="0"/>
                      </a:schemeClr>
                    </a:gs>
                  </a:gsLst>
                  <a:lin ang="54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dirty="0">
                  <a:solidFill>
                    <a:schemeClr val="accent1"/>
                  </a:solidFill>
                  <a:sym typeface="Arial" panose="020B0604020202020204" pitchFamily="34" charset="0"/>
                </a:endParaRPr>
              </a:p>
            </p:txBody>
          </p:sp>
          <p:sp>
            <p:nvSpPr>
              <p:cNvPr id="14" name="3">
                <a:extLst>
                  <a:ext uri="{FF2B5EF4-FFF2-40B4-BE49-F238E27FC236}">
                    <a16:creationId xmlns:a16="http://schemas.microsoft.com/office/drawing/2014/main" id="{C82F4F16-DCB2-3570-1148-82867F72CB7D}"/>
                  </a:ext>
                </a:extLst>
              </p:cNvPr>
              <p:cNvSpPr>
                <a:spLocks/>
              </p:cNvSpPr>
              <p:nvPr/>
            </p:nvSpPr>
            <p:spPr>
              <a:xfrm>
                <a:off x="-604689" y="3719049"/>
                <a:ext cx="1492625" cy="494483"/>
              </a:xfrm>
              <a:prstGeom prst="roundRect">
                <a:avLst>
                  <a:gd name="adj" fmla="val 50000"/>
                </a:avLst>
              </a:prstGeom>
              <a:gradFill flip="none" rotWithShape="1">
                <a:gsLst>
                  <a:gs pos="0">
                    <a:schemeClr val="accent1">
                      <a:lumMod val="60000"/>
                      <a:lumOff val="40000"/>
                    </a:schemeClr>
                  </a:gs>
                  <a:gs pos="50000">
                    <a:schemeClr val="accent1"/>
                  </a:gs>
                </a:gsLst>
                <a:lin ang="2700000" scaled="1"/>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en-US" altLang="zh-CN" b="1" dirty="0">
                    <a:solidFill>
                      <a:srgbClr val="FFFFFF"/>
                    </a:solidFill>
                    <a:latin typeface="华文新魏" panose="02010800040101010101" pitchFamily="2" charset="-122"/>
                    <a:ea typeface="华文新魏" panose="02010800040101010101" pitchFamily="2" charset="-122"/>
                    <a:sym typeface="Arial" panose="020B0604020202020204" pitchFamily="34" charset="0"/>
                  </a:rPr>
                  <a:t>An unbreakable format</a:t>
                </a:r>
              </a:p>
            </p:txBody>
          </p:sp>
          <p:sp>
            <p:nvSpPr>
              <p:cNvPr id="15" name="Title-3">
                <a:extLst>
                  <a:ext uri="{FF2B5EF4-FFF2-40B4-BE49-F238E27FC236}">
                    <a16:creationId xmlns:a16="http://schemas.microsoft.com/office/drawing/2014/main" id="{80C128AF-7DFA-4795-463D-A63EDBCA53E4}"/>
                  </a:ext>
                </a:extLst>
              </p:cNvPr>
              <p:cNvSpPr>
                <a:spLocks/>
              </p:cNvSpPr>
              <p:nvPr>
                <p:custDataLst>
                  <p:tags r:id="rId2"/>
                </p:custDataLst>
              </p:nvPr>
            </p:nvSpPr>
            <p:spPr>
              <a:xfrm>
                <a:off x="942101" y="3470885"/>
                <a:ext cx="1441740" cy="499782"/>
              </a:xfrm>
              <a:prstGeom prst="roundRect">
                <a:avLst>
                  <a:gd name="adj" fmla="val 1413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lt1"/>
                  </a:solidFill>
                </a:endParaRPr>
              </a:p>
            </p:txBody>
          </p:sp>
          <p:sp>
            <p:nvSpPr>
              <p:cNvPr id="16" name="Body-3">
                <a:extLst>
                  <a:ext uri="{FF2B5EF4-FFF2-40B4-BE49-F238E27FC236}">
                    <a16:creationId xmlns:a16="http://schemas.microsoft.com/office/drawing/2014/main" id="{EFD18A04-A368-BD54-FED6-757F1F749CF7}"/>
                  </a:ext>
                </a:extLst>
              </p:cNvPr>
              <p:cNvSpPr txBox="1">
                <a:spLocks/>
              </p:cNvSpPr>
              <p:nvPr>
                <p:custDataLst>
                  <p:tags r:id="rId3"/>
                </p:custDataLst>
              </p:nvPr>
            </p:nvSpPr>
            <p:spPr>
              <a:xfrm>
                <a:off x="-780720" y="4213532"/>
                <a:ext cx="1769627" cy="1503527"/>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altLang="zh-CN" sz="1400" dirty="0">
                    <a:solidFill>
                      <a:srgbClr val="000000"/>
                    </a:solidFill>
                    <a:latin typeface="+mn-ea"/>
                    <a:sym typeface="Arial" panose="020B0604020202020204" pitchFamily="34" charset="0"/>
                  </a:rPr>
                  <a:t>C(x) is always true.</a:t>
                </a:r>
              </a:p>
              <a:p>
                <a:pPr algn="ctr">
                  <a:lnSpc>
                    <a:spcPct val="150000"/>
                  </a:lnSpc>
                </a:pPr>
                <a:r>
                  <a:rPr lang="en-US" altLang="zh-CN" sz="1400" dirty="0">
                    <a:solidFill>
                      <a:srgbClr val="000000"/>
                    </a:solidFill>
                    <a:latin typeface="+mn-ea"/>
                    <a:sym typeface="Arial" panose="020B0604020202020204" pitchFamily="34" charset="0"/>
                  </a:rPr>
                  <a:t>C(x) is always false.(Can be deduced from “C(x) is always false” is always true)</a:t>
                </a:r>
              </a:p>
            </p:txBody>
          </p:sp>
        </p:grpSp>
      </p:grpSp>
    </p:spTree>
    <p:extLst>
      <p:ext uri="{BB962C8B-B14F-4D97-AF65-F5344CB8AC3E}">
        <p14:creationId xmlns:p14="http://schemas.microsoft.com/office/powerpoint/2010/main" val="219909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AE6E68-2C1F-7632-2788-0E6579105554}"/>
              </a:ext>
            </a:extLst>
          </p:cNvPr>
          <p:cNvSpPr>
            <a:spLocks noGrp="1"/>
          </p:cNvSpPr>
          <p:nvPr>
            <p:ph type="title"/>
          </p:nvPr>
        </p:nvSpPr>
        <p:spPr/>
        <p:txBody>
          <a:bodyPr>
            <a:normAutofit/>
          </a:bodyPr>
          <a:lstStyle/>
          <a:p>
            <a:r>
              <a:rPr lang="en-US" altLang="zh-CN" sz="4400" dirty="0"/>
              <a:t>Interpretation</a:t>
            </a:r>
            <a:endParaRPr lang="zh-CN" altLang="en-US" sz="4400" dirty="0"/>
          </a:p>
        </p:txBody>
      </p:sp>
      <p:sp>
        <p:nvSpPr>
          <p:cNvPr id="3" name="内容占位符 2">
            <a:extLst>
              <a:ext uri="{FF2B5EF4-FFF2-40B4-BE49-F238E27FC236}">
                <a16:creationId xmlns:a16="http://schemas.microsoft.com/office/drawing/2014/main" id="{80F46E26-982E-D692-062E-27411DBB2256}"/>
              </a:ext>
            </a:extLst>
          </p:cNvPr>
          <p:cNvSpPr>
            <a:spLocks noGrp="1"/>
          </p:cNvSpPr>
          <p:nvPr>
            <p:ph idx="1"/>
          </p:nvPr>
        </p:nvSpPr>
        <p:spPr>
          <a:xfrm>
            <a:off x="677334" y="2160589"/>
            <a:ext cx="8596668" cy="4311232"/>
          </a:xfrm>
        </p:spPr>
        <p:txBody>
          <a:bodyPr>
            <a:normAutofit lnSpcReduction="10000"/>
          </a:bodyPr>
          <a:lstStyle/>
          <a:p>
            <a:r>
              <a:rPr lang="en-US" altLang="zh-CN" dirty="0"/>
              <a:t>Take x=“ d man/men”, where the determiner d can be “all”, “no”, “some”, “a”, “every”.</a:t>
            </a:r>
          </a:p>
          <a:p>
            <a:r>
              <a:rPr lang="en-US" altLang="zh-CN" sz="2400" dirty="0"/>
              <a:t>C(all men)=“If x is human, then C (x) is true’ is always true”.</a:t>
            </a:r>
          </a:p>
          <a:p>
            <a:r>
              <a:rPr lang="en-US" altLang="zh-CN" sz="2400" dirty="0"/>
              <a:t>C(no men)=“If x is human, then C (x) is false’ is always true”.</a:t>
            </a:r>
          </a:p>
          <a:p>
            <a:r>
              <a:rPr lang="en-US" altLang="zh-CN" sz="2400" dirty="0"/>
              <a:t>C(some men)=C(a man)=“It is false that ‘ C (x) and x is human’ is always false”=“‘C (x) and x is human’ is always false’ is always false”.</a:t>
            </a:r>
          </a:p>
          <a:p>
            <a:r>
              <a:rPr lang="en-US" altLang="zh-CN" sz="2400" dirty="0"/>
              <a:t>C(every man)=C(all men).</a:t>
            </a:r>
          </a:p>
          <a:p>
            <a:r>
              <a:rPr lang="en-US" altLang="zh-CN" sz="2400" dirty="0"/>
              <a:t>What about C(the man)/C(that man)?</a:t>
            </a:r>
            <a:endParaRPr lang="zh-CN" altLang="en-US" sz="2400" dirty="0"/>
          </a:p>
        </p:txBody>
      </p:sp>
      <p:sp>
        <p:nvSpPr>
          <p:cNvPr id="4" name="文本框 3">
            <a:extLst>
              <a:ext uri="{FF2B5EF4-FFF2-40B4-BE49-F238E27FC236}">
                <a16:creationId xmlns:a16="http://schemas.microsoft.com/office/drawing/2014/main" id="{2882704A-B218-C9D3-1E0B-9244E8408BFF}"/>
              </a:ext>
            </a:extLst>
          </p:cNvPr>
          <p:cNvSpPr txBox="1"/>
          <p:nvPr/>
        </p:nvSpPr>
        <p:spPr>
          <a:xfrm>
            <a:off x="5371381" y="1420483"/>
            <a:ext cx="2262158" cy="369332"/>
          </a:xfrm>
          <a:prstGeom prst="rect">
            <a:avLst/>
          </a:prstGeom>
          <a:noFill/>
        </p:spPr>
        <p:txBody>
          <a:bodyPr wrap="none" rtlCol="0">
            <a:spAutoFit/>
          </a:bodyPr>
          <a:lstStyle/>
          <a:p>
            <a:r>
              <a:rPr lang="zh-CN" altLang="en-US" dirty="0"/>
              <a:t>存在量词被分析掉了</a:t>
            </a:r>
          </a:p>
        </p:txBody>
      </p:sp>
    </p:spTree>
    <p:extLst>
      <p:ext uri="{BB962C8B-B14F-4D97-AF65-F5344CB8AC3E}">
        <p14:creationId xmlns:p14="http://schemas.microsoft.com/office/powerpoint/2010/main" val="1725937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4AB016-5C55-8075-2CE0-8C4A6B8AE7B2}"/>
              </a:ext>
            </a:extLst>
          </p:cNvPr>
          <p:cNvSpPr>
            <a:spLocks noGrp="1"/>
          </p:cNvSpPr>
          <p:nvPr>
            <p:ph type="title"/>
          </p:nvPr>
        </p:nvSpPr>
        <p:spPr/>
        <p:txBody>
          <a:bodyPr>
            <a:normAutofit/>
          </a:bodyPr>
          <a:lstStyle/>
          <a:p>
            <a:r>
              <a:rPr lang="en-US" altLang="zh-CN" sz="4400" dirty="0"/>
              <a:t>Interpretation</a:t>
            </a:r>
            <a:r>
              <a:rPr lang="zh-CN" altLang="en-US" sz="4400" dirty="0"/>
              <a:t>：</a:t>
            </a:r>
            <a:r>
              <a:rPr lang="en-US" altLang="zh-CN" sz="4400" dirty="0"/>
              <a:t>the</a:t>
            </a:r>
            <a:endParaRPr lang="zh-CN" altLang="en-US" sz="4400" dirty="0"/>
          </a:p>
        </p:txBody>
      </p:sp>
      <p:sp>
        <p:nvSpPr>
          <p:cNvPr id="3" name="内容占位符 2">
            <a:extLst>
              <a:ext uri="{FF2B5EF4-FFF2-40B4-BE49-F238E27FC236}">
                <a16:creationId xmlns:a16="http://schemas.microsoft.com/office/drawing/2014/main" id="{EE5FF8F5-5BB2-6CAF-BF88-5CA6D0FD5756}"/>
              </a:ext>
            </a:extLst>
          </p:cNvPr>
          <p:cNvSpPr>
            <a:spLocks noGrp="1"/>
          </p:cNvSpPr>
          <p:nvPr>
            <p:ph idx="1"/>
          </p:nvPr>
        </p:nvSpPr>
        <p:spPr>
          <a:xfrm>
            <a:off x="677334" y="1532931"/>
            <a:ext cx="8596668" cy="4508432"/>
          </a:xfrm>
        </p:spPr>
        <p:txBody>
          <a:bodyPr>
            <a:normAutofit lnSpcReduction="10000"/>
          </a:bodyPr>
          <a:lstStyle/>
          <a:p>
            <a:r>
              <a:rPr lang="en-US" altLang="zh-CN" dirty="0"/>
              <a:t>Let’s say, “</a:t>
            </a:r>
            <a:r>
              <a:rPr lang="en-US" altLang="zh-CN" dirty="0">
                <a:solidFill>
                  <a:srgbClr val="FF0000"/>
                </a:solidFill>
              </a:rPr>
              <a:t>The father </a:t>
            </a:r>
            <a:r>
              <a:rPr lang="en-US" altLang="zh-CN" dirty="0"/>
              <a:t>of Charles II has been executed”.</a:t>
            </a:r>
          </a:p>
          <a:p>
            <a:r>
              <a:rPr lang="en-US" altLang="zh-CN" dirty="0"/>
              <a:t>Russell separates “the father” in two parts: first, it asserts that there is an entity that satisfy the description “begat Charles II”; then, it states that there is only one entity, involving uniqueness.</a:t>
            </a:r>
          </a:p>
          <a:p>
            <a:r>
              <a:rPr lang="en-US" altLang="zh-CN" b="1" i="1" dirty="0"/>
              <a:t>Uniqueness</a:t>
            </a:r>
            <a:r>
              <a:rPr lang="en-US" altLang="zh-CN" b="1" dirty="0"/>
              <a:t>(or </a:t>
            </a:r>
            <a:r>
              <a:rPr lang="en-US" altLang="zh-CN" b="1" i="1" dirty="0"/>
              <a:t>identity</a:t>
            </a:r>
            <a:r>
              <a:rPr lang="en-US" altLang="zh-CN" b="1" dirty="0"/>
              <a:t> as mentioned below), is translated into: nothing else has the relation with Charles II, or we can say:</a:t>
            </a:r>
          </a:p>
          <a:p>
            <a:r>
              <a:rPr lang="en-US" altLang="zh-CN" dirty="0"/>
              <a:t>“There exists an x that x begat Charles II, and </a:t>
            </a:r>
            <a:r>
              <a:rPr lang="en-US" altLang="zh-CN" dirty="0">
                <a:solidFill>
                  <a:srgbClr val="FF0000"/>
                </a:solidFill>
              </a:rPr>
              <a:t>if y begat Charles II, then y is identical to x</a:t>
            </a:r>
            <a:r>
              <a:rPr lang="en-US" altLang="zh-CN" dirty="0"/>
              <a:t>.” “There exist” can be formally converted to “It is not always false that…”.</a:t>
            </a:r>
          </a:p>
          <a:p>
            <a:r>
              <a:rPr lang="en-US" altLang="zh-CN" dirty="0"/>
              <a:t>Then we should expand this procedure to an arbitrary proposition C that involves x, where x is “</a:t>
            </a:r>
            <a:r>
              <a:rPr lang="en-US" altLang="zh-CN" b="1" dirty="0"/>
              <a:t>the father of Charles II</a:t>
            </a:r>
            <a:r>
              <a:rPr lang="en-US" altLang="zh-CN" dirty="0"/>
              <a:t>”. Substitution will eventually go like this: x occurs in the proposition C(x) means:</a:t>
            </a:r>
          </a:p>
          <a:p>
            <a:r>
              <a:rPr lang="en-US" altLang="zh-CN" dirty="0"/>
              <a:t>"It is not always false of x that ' if y begat Charles II., y is identical with x' is always true of y.”</a:t>
            </a:r>
          </a:p>
          <a:p>
            <a:endParaRPr lang="en-US" altLang="zh-CN" dirty="0"/>
          </a:p>
        </p:txBody>
      </p:sp>
      <p:pic>
        <p:nvPicPr>
          <p:cNvPr id="5" name="图片 4">
            <a:extLst>
              <a:ext uri="{FF2B5EF4-FFF2-40B4-BE49-F238E27FC236}">
                <a16:creationId xmlns:a16="http://schemas.microsoft.com/office/drawing/2014/main" id="{D7BE0A8E-002C-890F-60A6-70B5AC82C410}"/>
              </a:ext>
            </a:extLst>
          </p:cNvPr>
          <p:cNvPicPr>
            <a:picLocks noChangeAspect="1"/>
          </p:cNvPicPr>
          <p:nvPr/>
        </p:nvPicPr>
        <p:blipFill>
          <a:blip r:embed="rId3"/>
          <a:stretch>
            <a:fillRect/>
          </a:stretch>
        </p:blipFill>
        <p:spPr>
          <a:xfrm>
            <a:off x="9372206" y="0"/>
            <a:ext cx="2819794" cy="2819794"/>
          </a:xfrm>
          <a:prstGeom prst="rect">
            <a:avLst/>
          </a:prstGeom>
        </p:spPr>
      </p:pic>
      <p:sp>
        <p:nvSpPr>
          <p:cNvPr id="6" name="对话气泡: 椭圆形 74">
            <a:extLst>
              <a:ext uri="{FF2B5EF4-FFF2-40B4-BE49-F238E27FC236}">
                <a16:creationId xmlns:a16="http://schemas.microsoft.com/office/drawing/2014/main" id="{9AC8C184-288E-4444-7C77-8CF22C158CDD}"/>
              </a:ext>
            </a:extLst>
          </p:cNvPr>
          <p:cNvSpPr/>
          <p:nvPr/>
        </p:nvSpPr>
        <p:spPr>
          <a:xfrm flipH="1">
            <a:off x="7465564" y="27842"/>
            <a:ext cx="2038619" cy="1163515"/>
          </a:xfrm>
          <a:prstGeom prst="wedgeEllipseCallout">
            <a:avLst>
              <a:gd name="adj1" fmla="val -25173"/>
              <a:gd name="adj2" fmla="val 59708"/>
            </a:avLst>
          </a:prstGeom>
          <a:solidFill>
            <a:schemeClr val="tx2">
              <a:alpha val="30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85A46E01-1E56-1E2D-3087-55D9A185CC51}"/>
              </a:ext>
            </a:extLst>
          </p:cNvPr>
          <p:cNvSpPr txBox="1"/>
          <p:nvPr/>
        </p:nvSpPr>
        <p:spPr>
          <a:xfrm>
            <a:off x="7869409" y="120092"/>
            <a:ext cx="1404593" cy="923330"/>
          </a:xfrm>
          <a:prstGeom prst="rect">
            <a:avLst/>
          </a:prstGeom>
          <a:noFill/>
        </p:spPr>
        <p:txBody>
          <a:bodyPr wrap="square" rtlCol="0">
            <a:spAutoFit/>
          </a:bodyPr>
          <a:lstStyle/>
          <a:p>
            <a:r>
              <a:rPr lang="en-US" altLang="zh-CN" dirty="0"/>
              <a:t>No body cares about me?</a:t>
            </a:r>
            <a:r>
              <a:rPr lang="en-US" altLang="zh-CN" dirty="0">
                <a:sym typeface="Wingdings" panose="05000000000000000000" pitchFamily="2" charset="2"/>
              </a:rPr>
              <a:t></a:t>
            </a:r>
            <a:endParaRPr lang="zh-CN" altLang="en-US" dirty="0"/>
          </a:p>
        </p:txBody>
      </p:sp>
    </p:spTree>
    <p:extLst>
      <p:ext uri="{BB962C8B-B14F-4D97-AF65-F5344CB8AC3E}">
        <p14:creationId xmlns:p14="http://schemas.microsoft.com/office/powerpoint/2010/main" val="3487976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2B4062-FE6C-8F02-1F37-9996BE5E11FA}"/>
              </a:ext>
            </a:extLst>
          </p:cNvPr>
          <p:cNvSpPr>
            <a:spLocks noGrp="1"/>
          </p:cNvSpPr>
          <p:nvPr>
            <p:ph type="title"/>
          </p:nvPr>
        </p:nvSpPr>
        <p:spPr/>
        <p:txBody>
          <a:bodyPr>
            <a:normAutofit/>
          </a:bodyPr>
          <a:lstStyle/>
          <a:p>
            <a:r>
              <a:rPr lang="en-US" altLang="zh-CN" sz="4400" dirty="0"/>
              <a:t>Problems</a:t>
            </a:r>
            <a:endParaRPr lang="zh-CN" altLang="en-US" sz="4400" dirty="0"/>
          </a:p>
        </p:txBody>
      </p:sp>
      <p:sp>
        <p:nvSpPr>
          <p:cNvPr id="3" name="内容占位符 2">
            <a:extLst>
              <a:ext uri="{FF2B5EF4-FFF2-40B4-BE49-F238E27FC236}">
                <a16:creationId xmlns:a16="http://schemas.microsoft.com/office/drawing/2014/main" id="{0A728C3B-B990-0394-1082-5A19C37F2468}"/>
              </a:ext>
            </a:extLst>
          </p:cNvPr>
          <p:cNvSpPr>
            <a:spLocks noGrp="1"/>
          </p:cNvSpPr>
          <p:nvPr>
            <p:ph idx="1"/>
          </p:nvPr>
        </p:nvSpPr>
        <p:spPr/>
        <p:txBody>
          <a:bodyPr>
            <a:normAutofit lnSpcReduction="10000"/>
          </a:bodyPr>
          <a:lstStyle/>
          <a:p>
            <a:r>
              <a:rPr lang="en-US" altLang="zh-CN" sz="2400" dirty="0"/>
              <a:t>Meinong: when confronted with a null denotation, we must first presume that the denotation actually denotes something.</a:t>
            </a:r>
          </a:p>
          <a:p>
            <a:r>
              <a:rPr lang="en-US" altLang="zh-CN" sz="2400" dirty="0"/>
              <a:t>Russell is very frustrated with Meinong’s theory: “ </a:t>
            </a:r>
            <a:r>
              <a:rPr lang="en-US" altLang="zh-CN" sz="2400" i="1" dirty="0"/>
              <a:t>Any theory can be found to avoid this result, it is surely to be preferred.</a:t>
            </a:r>
            <a:r>
              <a:rPr lang="en-US" altLang="zh-CN" sz="2400" dirty="0"/>
              <a:t>”</a:t>
            </a:r>
          </a:p>
          <a:p>
            <a:r>
              <a:rPr lang="en-US" altLang="zh-CN" sz="2400" dirty="0"/>
              <a:t>Frege: Every denoting phrase contains two parts: meaning and denotation.</a:t>
            </a:r>
          </a:p>
          <a:p>
            <a:r>
              <a:rPr lang="en-US" altLang="zh-CN" sz="2400" dirty="0"/>
              <a:t>Russell then checks whether Frege’s theory can stand for the test of three “puzzles”.</a:t>
            </a:r>
          </a:p>
          <a:p>
            <a:endParaRPr lang="zh-CN" altLang="en-US" dirty="0"/>
          </a:p>
        </p:txBody>
      </p:sp>
    </p:spTree>
    <p:extLst>
      <p:ext uri="{BB962C8B-B14F-4D97-AF65-F5344CB8AC3E}">
        <p14:creationId xmlns:p14="http://schemas.microsoft.com/office/powerpoint/2010/main" val="88089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BB8A3-75A4-D255-5477-7286E3613012}"/>
              </a:ext>
            </a:extLst>
          </p:cNvPr>
          <p:cNvSpPr>
            <a:spLocks noGrp="1"/>
          </p:cNvSpPr>
          <p:nvPr>
            <p:ph type="title"/>
          </p:nvPr>
        </p:nvSpPr>
        <p:spPr/>
        <p:txBody>
          <a:bodyPr>
            <a:normAutofit/>
          </a:bodyPr>
          <a:lstStyle/>
          <a:p>
            <a:r>
              <a:rPr lang="en-US" altLang="zh-CN" sz="4800" dirty="0"/>
              <a:t>Three interesting puzzles</a:t>
            </a:r>
            <a:endParaRPr lang="zh-CN" altLang="en-US" sz="4800" dirty="0"/>
          </a:p>
        </p:txBody>
      </p:sp>
      <p:sp>
        <p:nvSpPr>
          <p:cNvPr id="3" name="内容占位符 2">
            <a:extLst>
              <a:ext uri="{FF2B5EF4-FFF2-40B4-BE49-F238E27FC236}">
                <a16:creationId xmlns:a16="http://schemas.microsoft.com/office/drawing/2014/main" id="{18B9AEBC-60AA-A8E7-C0DD-E182F7BC2F92}"/>
              </a:ext>
            </a:extLst>
          </p:cNvPr>
          <p:cNvSpPr>
            <a:spLocks noGrp="1"/>
          </p:cNvSpPr>
          <p:nvPr>
            <p:ph idx="1"/>
          </p:nvPr>
        </p:nvSpPr>
        <p:spPr>
          <a:xfrm>
            <a:off x="677334" y="1706252"/>
            <a:ext cx="8596668" cy="4760535"/>
          </a:xfrm>
        </p:spPr>
        <p:txBody>
          <a:bodyPr>
            <a:normAutofit fontScale="92500"/>
          </a:bodyPr>
          <a:lstStyle/>
          <a:p>
            <a:r>
              <a:rPr lang="en-US" altLang="zh-CN" dirty="0"/>
              <a:t>1.</a:t>
            </a:r>
            <a:r>
              <a:rPr lang="zh-CN" altLang="en-US" dirty="0"/>
              <a:t> </a:t>
            </a:r>
            <a:r>
              <a:rPr lang="en-US" altLang="zh-CN" dirty="0"/>
              <a:t>If a is identical with b,</a:t>
            </a:r>
            <a:r>
              <a:rPr lang="zh-CN" altLang="en-US" dirty="0"/>
              <a:t> </a:t>
            </a:r>
            <a:r>
              <a:rPr lang="en-US" altLang="zh-CN" dirty="0"/>
              <a:t>there</a:t>
            </a:r>
            <a:r>
              <a:rPr lang="zh-CN" altLang="en-US" dirty="0"/>
              <a:t> </a:t>
            </a:r>
            <a:r>
              <a:rPr lang="en-US" altLang="zh-CN" dirty="0"/>
              <a:t>will</a:t>
            </a:r>
            <a:r>
              <a:rPr lang="zh-CN" altLang="en-US" dirty="0"/>
              <a:t> </a:t>
            </a:r>
            <a:r>
              <a:rPr lang="en-US" altLang="zh-CN" dirty="0"/>
              <a:t>be</a:t>
            </a:r>
            <a:r>
              <a:rPr lang="zh-CN" altLang="en-US" dirty="0"/>
              <a:t> </a:t>
            </a:r>
            <a:r>
              <a:rPr lang="en-US" altLang="zh-CN" dirty="0">
                <a:solidFill>
                  <a:srgbClr val="FF0000"/>
                </a:solidFill>
              </a:rPr>
              <a:t>no</a:t>
            </a:r>
            <a:r>
              <a:rPr lang="zh-CN" altLang="en-US" dirty="0">
                <a:solidFill>
                  <a:srgbClr val="FF0000"/>
                </a:solidFill>
              </a:rPr>
              <a:t> </a:t>
            </a:r>
            <a:r>
              <a:rPr lang="en-US" altLang="zh-CN" dirty="0">
                <a:solidFill>
                  <a:srgbClr val="FF0000"/>
                </a:solidFill>
              </a:rPr>
              <a:t>new</a:t>
            </a:r>
            <a:r>
              <a:rPr lang="zh-CN" altLang="en-US" dirty="0">
                <a:solidFill>
                  <a:srgbClr val="FF0000"/>
                </a:solidFill>
              </a:rPr>
              <a:t> </a:t>
            </a:r>
            <a:r>
              <a:rPr lang="en-US" altLang="zh-CN" dirty="0">
                <a:solidFill>
                  <a:srgbClr val="FF0000"/>
                </a:solidFill>
              </a:rPr>
              <a:t>information</a:t>
            </a:r>
            <a:r>
              <a:rPr lang="zh-CN" altLang="en-US" dirty="0">
                <a:solidFill>
                  <a:srgbClr val="FF0000"/>
                </a:solidFill>
              </a:rPr>
              <a:t> </a:t>
            </a:r>
            <a:r>
              <a:rPr lang="en-US" altLang="zh-CN" dirty="0">
                <a:solidFill>
                  <a:srgbClr val="FF0000"/>
                </a:solidFill>
              </a:rPr>
              <a:t>inferred </a:t>
            </a:r>
            <a:r>
              <a:rPr lang="en-US" altLang="zh-CN" dirty="0"/>
              <a:t>when we say “The author of </a:t>
            </a:r>
            <a:r>
              <a:rPr lang="en-US" altLang="zh-CN" i="1" dirty="0"/>
              <a:t>Wavery</a:t>
            </a:r>
            <a:r>
              <a:rPr lang="en-US" altLang="zh-CN" dirty="0"/>
              <a:t> was Scott”, because the denoting phrase “The author of Wavery” denoted the same person. But this is ridiculous for we all know that when asked “Was Scott the author of </a:t>
            </a:r>
            <a:r>
              <a:rPr lang="en-US" altLang="zh-CN" i="1" dirty="0"/>
              <a:t>Wavery?</a:t>
            </a:r>
            <a:r>
              <a:rPr lang="en-US" altLang="zh-CN" dirty="0"/>
              <a:t>” by another man who really doesn’t know the answer, you can’t interpret the sentence as “Was Scott </a:t>
            </a:r>
            <a:r>
              <a:rPr lang="en-US" altLang="zh-CN" dirty="0" err="1"/>
              <a:t>Scott</a:t>
            </a:r>
            <a:r>
              <a:rPr lang="en-US" altLang="zh-CN" dirty="0"/>
              <a:t>?”.</a:t>
            </a:r>
          </a:p>
          <a:p>
            <a:r>
              <a:rPr lang="en-US" altLang="zh-CN" dirty="0"/>
              <a:t>2. By the law of excluded middle, either "A is B " or "A is not B" must be true. Hence either "the present King of France is bald " or " the present King of France is not bald" must be true. Yet </a:t>
            </a:r>
            <a:r>
              <a:rPr lang="en-US" altLang="zh-CN" dirty="0">
                <a:solidFill>
                  <a:srgbClr val="FF0000"/>
                </a:solidFill>
              </a:rPr>
              <a:t>if we enumerated the things </a:t>
            </a:r>
            <a:r>
              <a:rPr lang="en-US" altLang="zh-CN" dirty="0"/>
              <a:t>that are bald, and then the things that are not bald, we should not find the present King of France in either list</a:t>
            </a:r>
            <a:r>
              <a:rPr lang="en-US" altLang="zh-CN" dirty="0">
                <a:solidFill>
                  <a:srgbClr val="FF0000"/>
                </a:solidFill>
              </a:rPr>
              <a:t>. So the ways of analyzing by enumerating must be wrong.</a:t>
            </a:r>
          </a:p>
          <a:p>
            <a:r>
              <a:rPr lang="en-US" altLang="zh-CN" dirty="0"/>
              <a:t>3</a:t>
            </a:r>
            <a:r>
              <a:rPr lang="en-US" altLang="zh-CN" dirty="0">
                <a:solidFill>
                  <a:srgbClr val="FF0000"/>
                </a:solidFill>
              </a:rPr>
              <a:t>.How can a non-entity be the subject of a proposition</a:t>
            </a:r>
            <a:r>
              <a:rPr lang="en-US" altLang="zh-CN" dirty="0"/>
              <a:t>? Consider the proposition " A differs from B”, if it is false that A differs from B, then there is no difference between A and B, which fact may be expressed in the form " the difference between A and B does not subsist. Hence, it would appear, it must always be self-contradictory to deny the being of anything; but we have seen, in </a:t>
            </a:r>
            <a:r>
              <a:rPr lang="en-US" altLang="zh-CN" dirty="0" err="1"/>
              <a:t>connexion</a:t>
            </a:r>
            <a:r>
              <a:rPr lang="en-US" altLang="zh-CN" dirty="0"/>
              <a:t> with Meinong, that to admit being also sometimes leads to contradiction.</a:t>
            </a:r>
            <a:endParaRPr lang="zh-CN" altLang="en-US" dirty="0"/>
          </a:p>
        </p:txBody>
      </p:sp>
    </p:spTree>
    <p:extLst>
      <p:ext uri="{BB962C8B-B14F-4D97-AF65-F5344CB8AC3E}">
        <p14:creationId xmlns:p14="http://schemas.microsoft.com/office/powerpoint/2010/main" val="180448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41AF41-2E38-855C-5C51-64E13C829EAA}"/>
              </a:ext>
            </a:extLst>
          </p:cNvPr>
          <p:cNvSpPr>
            <a:spLocks noGrp="1"/>
          </p:cNvSpPr>
          <p:nvPr>
            <p:ph type="title"/>
          </p:nvPr>
        </p:nvSpPr>
        <p:spPr/>
        <p:txBody>
          <a:bodyPr/>
          <a:lstStyle/>
          <a:p>
            <a:r>
              <a:rPr lang="en-US" altLang="zh-CN" dirty="0"/>
              <a:t>Frege’s solution: George IV wanted to know…</a:t>
            </a:r>
            <a:endParaRPr lang="zh-CN" altLang="en-US" dirty="0"/>
          </a:p>
        </p:txBody>
      </p:sp>
      <p:sp>
        <p:nvSpPr>
          <p:cNvPr id="3" name="内容占位符 2">
            <a:extLst>
              <a:ext uri="{FF2B5EF4-FFF2-40B4-BE49-F238E27FC236}">
                <a16:creationId xmlns:a16="http://schemas.microsoft.com/office/drawing/2014/main" id="{732107DE-7B71-4140-F4AA-6AFC19F51758}"/>
              </a:ext>
            </a:extLst>
          </p:cNvPr>
          <p:cNvSpPr>
            <a:spLocks noGrp="1"/>
          </p:cNvSpPr>
          <p:nvPr>
            <p:ph idx="1"/>
          </p:nvPr>
        </p:nvSpPr>
        <p:spPr>
          <a:xfrm>
            <a:off x="677334" y="2160589"/>
            <a:ext cx="8596668" cy="4302355"/>
          </a:xfrm>
        </p:spPr>
        <p:txBody>
          <a:bodyPr>
            <a:normAutofit/>
          </a:bodyPr>
          <a:lstStyle/>
          <a:p>
            <a:r>
              <a:rPr lang="en-US" altLang="zh-CN" dirty="0"/>
              <a:t>As Russell wrote: </a:t>
            </a:r>
            <a:r>
              <a:rPr lang="en-US" altLang="zh-CN" i="1" dirty="0"/>
              <a:t>“One advantage of this distinction is that it shows why it is often worth while to assert identity. If we say " Scott is the author of Waverley," we assert an identity of denotation with a difference of meaning”</a:t>
            </a:r>
          </a:p>
          <a:p>
            <a:r>
              <a:rPr lang="en-US" altLang="zh-CN" dirty="0"/>
              <a:t>According to Frege, the denoting phrase “the author of Waverley” in the sentence “George IV wanted to know who was the author of </a:t>
            </a:r>
            <a:r>
              <a:rPr lang="en-US" altLang="zh-CN" i="1" dirty="0"/>
              <a:t>Waverley” </a:t>
            </a:r>
            <a:r>
              <a:rPr lang="en-US" altLang="zh-CN" dirty="0"/>
              <a:t>has a different </a:t>
            </a:r>
            <a:r>
              <a:rPr lang="en-US" altLang="zh-CN" i="1" dirty="0"/>
              <a:t>meaning </a:t>
            </a:r>
            <a:r>
              <a:rPr lang="en-US" altLang="zh-CN" dirty="0"/>
              <a:t>with “Scott”. Thus the first puzzle is feasibly demonstrated: the difference between “the author of Waverley” and “Scott” is the meaning.</a:t>
            </a:r>
          </a:p>
          <a:p>
            <a:r>
              <a:rPr lang="en-US" altLang="zh-CN" dirty="0"/>
              <a:t>Russel then points out, </a:t>
            </a:r>
            <a:r>
              <a:rPr lang="en-US" altLang="zh-CN" i="1" dirty="0"/>
              <a:t>“One of the first difficulties that </a:t>
            </a:r>
            <a:r>
              <a:rPr lang="en-US" altLang="zh-CN" i="1" dirty="0">
                <a:solidFill>
                  <a:srgbClr val="FF0000"/>
                </a:solidFill>
              </a:rPr>
              <a:t>confronts us</a:t>
            </a:r>
            <a:r>
              <a:rPr lang="en-US" altLang="zh-CN" i="1" dirty="0"/>
              <a:t>… concerns the cases in which the </a:t>
            </a:r>
            <a:r>
              <a:rPr lang="en-US" altLang="zh-CN" i="1" dirty="0">
                <a:solidFill>
                  <a:srgbClr val="FF0000"/>
                </a:solidFill>
              </a:rPr>
              <a:t>denotation appears to be absent</a:t>
            </a:r>
            <a:r>
              <a:rPr lang="en-US" altLang="zh-CN" i="1" dirty="0"/>
              <a:t>”. </a:t>
            </a:r>
            <a:r>
              <a:rPr lang="en-US" altLang="zh-CN" dirty="0"/>
              <a:t>Frege’s system can’t perfectly determine the truth value of the proposition like “king of France is not bald”-it is the denoting of “king of France” that we are considering, not the meaning, hence leading to confusion.(Because the king of France is a null class that denotes nobody)</a:t>
            </a:r>
            <a:endParaRPr lang="zh-CN" altLang="en-US" dirty="0"/>
          </a:p>
        </p:txBody>
      </p:sp>
    </p:spTree>
    <p:extLst>
      <p:ext uri="{BB962C8B-B14F-4D97-AF65-F5344CB8AC3E}">
        <p14:creationId xmlns:p14="http://schemas.microsoft.com/office/powerpoint/2010/main" val="1970219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AFAF5E-9914-9574-9D0D-28A080EE692D}"/>
              </a:ext>
            </a:extLst>
          </p:cNvPr>
          <p:cNvSpPr>
            <a:spLocks noGrp="1"/>
          </p:cNvSpPr>
          <p:nvPr>
            <p:ph type="title"/>
          </p:nvPr>
        </p:nvSpPr>
        <p:spPr>
          <a:xfrm>
            <a:off x="677334" y="609600"/>
            <a:ext cx="9691784" cy="1320800"/>
          </a:xfrm>
        </p:spPr>
        <p:txBody>
          <a:bodyPr>
            <a:normAutofit/>
          </a:bodyPr>
          <a:lstStyle/>
          <a:p>
            <a:r>
              <a:rPr lang="en-US" altLang="zh-CN" sz="4400" dirty="0"/>
              <a:t>Russell’s final goal</a:t>
            </a:r>
            <a:endParaRPr lang="zh-CN" altLang="en-US" sz="4400" dirty="0">
              <a:solidFill>
                <a:srgbClr val="00B0F0"/>
              </a:solidFill>
            </a:endParaRPr>
          </a:p>
        </p:txBody>
      </p:sp>
      <p:sp>
        <p:nvSpPr>
          <p:cNvPr id="3" name="内容占位符 2">
            <a:extLst>
              <a:ext uri="{FF2B5EF4-FFF2-40B4-BE49-F238E27FC236}">
                <a16:creationId xmlns:a16="http://schemas.microsoft.com/office/drawing/2014/main" id="{623810A8-74EA-986C-6125-459C0B064DAB}"/>
              </a:ext>
            </a:extLst>
          </p:cNvPr>
          <p:cNvSpPr>
            <a:spLocks noGrp="1"/>
          </p:cNvSpPr>
          <p:nvPr>
            <p:ph idx="1"/>
          </p:nvPr>
        </p:nvSpPr>
        <p:spPr>
          <a:xfrm>
            <a:off x="677334" y="2160589"/>
            <a:ext cx="8596668" cy="4334479"/>
          </a:xfrm>
        </p:spPr>
        <p:txBody>
          <a:bodyPr>
            <a:normAutofit/>
          </a:bodyPr>
          <a:lstStyle/>
          <a:p>
            <a:r>
              <a:rPr lang="en-US" altLang="zh-CN" dirty="0"/>
              <a:t>A denoting phrase doesn’t have a meaning of its own-“</a:t>
            </a:r>
            <a:r>
              <a:rPr lang="en-US" altLang="zh-CN" i="1" dirty="0"/>
              <a:t>According to the view which I advocate, a denoting phrase is essentially part of a sentence, and </a:t>
            </a:r>
            <a:r>
              <a:rPr lang="en-US" altLang="zh-CN" i="1" dirty="0">
                <a:solidFill>
                  <a:srgbClr val="FF0000"/>
                </a:solidFill>
              </a:rPr>
              <a:t>does not, </a:t>
            </a:r>
            <a:r>
              <a:rPr lang="en-US" altLang="zh-CN" i="1" dirty="0"/>
              <a:t>like most single words, </a:t>
            </a:r>
            <a:r>
              <a:rPr lang="en-US" altLang="zh-CN" i="1" dirty="0">
                <a:solidFill>
                  <a:srgbClr val="FF0000"/>
                </a:solidFill>
              </a:rPr>
              <a:t>have any significance on its own account</a:t>
            </a:r>
            <a:r>
              <a:rPr lang="en-US" altLang="zh-CN" dirty="0"/>
              <a:t>”</a:t>
            </a:r>
          </a:p>
          <a:p>
            <a:r>
              <a:rPr lang="en-US" altLang="zh-CN" dirty="0"/>
              <a:t>Simple words can have meaning, like “author”, “elegy”, “king”, etc. But a denoting phrase, when considered in an independent and isolated condition, has simply no meaning according to Russell.</a:t>
            </a:r>
          </a:p>
          <a:p>
            <a:r>
              <a:rPr lang="en-US" altLang="zh-CN" dirty="0"/>
              <a:t>To illustrate what does the denoting phrase “the author of Wavery” actually means, Russell puts it in a proposition M(x), where M stands for “is a man”.</a:t>
            </a:r>
          </a:p>
          <a:p>
            <a:r>
              <a:rPr lang="en-US" altLang="zh-CN" dirty="0"/>
              <a:t>By using the interpreting system he introduced, “the author of Waverley” in the proposition “the author of Waverley is a man” can be translated to “One and only one entity wrote Waverley, and that one was a man".</a:t>
            </a:r>
          </a:p>
          <a:p>
            <a:r>
              <a:rPr lang="en-US" altLang="zh-CN" dirty="0"/>
              <a:t>The same can be done for “the king of France</a:t>
            </a:r>
            <a:r>
              <a:rPr lang="en-US" altLang="zh-CN" dirty="0">
                <a:solidFill>
                  <a:schemeClr val="tx1"/>
                </a:solidFill>
              </a:rPr>
              <a:t>”.</a:t>
            </a:r>
            <a:r>
              <a:rPr lang="zh-CN" altLang="en-US" dirty="0">
                <a:solidFill>
                  <a:srgbClr val="FF0000"/>
                </a:solidFill>
              </a:rPr>
              <a:t> </a:t>
            </a:r>
            <a:r>
              <a:rPr lang="en-US" altLang="zh-CN" dirty="0">
                <a:solidFill>
                  <a:srgbClr val="FF0000"/>
                </a:solidFill>
              </a:rPr>
              <a:t>Now</a:t>
            </a:r>
            <a:r>
              <a:rPr lang="zh-CN" altLang="en-US" dirty="0">
                <a:solidFill>
                  <a:srgbClr val="FF0000"/>
                </a:solidFill>
              </a:rPr>
              <a:t> </a:t>
            </a:r>
            <a:r>
              <a:rPr lang="en-US" altLang="zh-CN" dirty="0">
                <a:solidFill>
                  <a:srgbClr val="FF0000"/>
                </a:solidFill>
              </a:rPr>
              <a:t>we</a:t>
            </a:r>
            <a:r>
              <a:rPr lang="zh-CN" altLang="en-US" dirty="0">
                <a:solidFill>
                  <a:srgbClr val="FF0000"/>
                </a:solidFill>
              </a:rPr>
              <a:t> </a:t>
            </a:r>
            <a:r>
              <a:rPr lang="en-US" altLang="zh-CN" dirty="0">
                <a:solidFill>
                  <a:srgbClr val="FF0000"/>
                </a:solidFill>
              </a:rPr>
              <a:t>solve</a:t>
            </a:r>
            <a:r>
              <a:rPr lang="zh-CN" altLang="en-US" dirty="0">
                <a:solidFill>
                  <a:srgbClr val="FF0000"/>
                </a:solidFill>
              </a:rPr>
              <a:t> </a:t>
            </a:r>
            <a:r>
              <a:rPr lang="en-US" altLang="zh-CN" dirty="0">
                <a:solidFill>
                  <a:srgbClr val="FF0000"/>
                </a:solidFill>
              </a:rPr>
              <a:t>the</a:t>
            </a:r>
            <a:r>
              <a:rPr lang="zh-CN" altLang="en-US" dirty="0">
                <a:solidFill>
                  <a:srgbClr val="FF0000"/>
                </a:solidFill>
              </a:rPr>
              <a:t> </a:t>
            </a:r>
            <a:r>
              <a:rPr lang="en-US" altLang="zh-CN" dirty="0">
                <a:solidFill>
                  <a:srgbClr val="FF0000"/>
                </a:solidFill>
              </a:rPr>
              <a:t>third</a:t>
            </a:r>
            <a:r>
              <a:rPr lang="zh-CN" altLang="en-US" dirty="0">
                <a:solidFill>
                  <a:srgbClr val="FF0000"/>
                </a:solidFill>
              </a:rPr>
              <a:t> </a:t>
            </a:r>
            <a:r>
              <a:rPr lang="en-US" altLang="zh-CN" dirty="0">
                <a:solidFill>
                  <a:srgbClr val="FF0000"/>
                </a:solidFill>
              </a:rPr>
              <a:t>puzzle by getting rid of the denoting phrases.</a:t>
            </a:r>
            <a:endParaRPr lang="zh-CN" altLang="en-US" dirty="0">
              <a:solidFill>
                <a:srgbClr val="FF0000"/>
              </a:solidFill>
            </a:endParaRPr>
          </a:p>
        </p:txBody>
      </p:sp>
    </p:spTree>
    <p:extLst>
      <p:ext uri="{BB962C8B-B14F-4D97-AF65-F5344CB8AC3E}">
        <p14:creationId xmlns:p14="http://schemas.microsoft.com/office/powerpoint/2010/main" val="681330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1AB21E-1E2C-4F72-2C38-7979AA5BB84D}"/>
              </a:ext>
            </a:extLst>
          </p:cNvPr>
          <p:cNvSpPr>
            <a:spLocks noGrp="1"/>
          </p:cNvSpPr>
          <p:nvPr>
            <p:ph type="title"/>
          </p:nvPr>
        </p:nvSpPr>
        <p:spPr/>
        <p:txBody>
          <a:bodyPr>
            <a:normAutofit/>
          </a:bodyPr>
          <a:lstStyle/>
          <a:p>
            <a:r>
              <a:rPr lang="en-US" altLang="zh-CN" sz="4400" dirty="0"/>
              <a:t>Russell’s final goal  </a:t>
            </a:r>
            <a:endParaRPr lang="zh-CN" altLang="en-US" sz="4400" dirty="0"/>
          </a:p>
        </p:txBody>
      </p:sp>
      <p:sp>
        <p:nvSpPr>
          <p:cNvPr id="3" name="内容占位符 2">
            <a:extLst>
              <a:ext uri="{FF2B5EF4-FFF2-40B4-BE49-F238E27FC236}">
                <a16:creationId xmlns:a16="http://schemas.microsoft.com/office/drawing/2014/main" id="{8D07317B-FFC6-1C5E-664E-FC33C971B815}"/>
              </a:ext>
            </a:extLst>
          </p:cNvPr>
          <p:cNvSpPr>
            <a:spLocks noGrp="1"/>
          </p:cNvSpPr>
          <p:nvPr>
            <p:ph idx="1"/>
          </p:nvPr>
        </p:nvSpPr>
        <p:spPr>
          <a:xfrm>
            <a:off x="677334" y="2160589"/>
            <a:ext cx="8596668" cy="4343906"/>
          </a:xfrm>
        </p:spPr>
        <p:txBody>
          <a:bodyPr>
            <a:normAutofit/>
          </a:bodyPr>
          <a:lstStyle/>
          <a:p>
            <a:r>
              <a:rPr lang="en-US" altLang="zh-CN" dirty="0"/>
              <a:t>Now we can handle the affirmative propositions like “the king of France IS bald” by replacing “there is an x that x is king of France, and that if y is also king of France then y is identical to x” for “the King of France”. And we can easily figure out that this proposition is false.(because the constituent “there exists an x that x is king of France” is false)</a:t>
            </a:r>
          </a:p>
          <a:p>
            <a:r>
              <a:rPr lang="en-US" altLang="zh-CN" dirty="0"/>
              <a:t>But considering </a:t>
            </a:r>
            <a:r>
              <a:rPr lang="en-US" altLang="zh-CN" dirty="0">
                <a:solidFill>
                  <a:srgbClr val="FF0000"/>
                </a:solidFill>
              </a:rPr>
              <a:t>the rule of excluded middle</a:t>
            </a:r>
            <a:r>
              <a:rPr lang="en-US" altLang="zh-CN" dirty="0"/>
              <a:t>, either “the king of France is bald” or “the king of France is not bold” is true. The latter one must be true though it looks weird. How are we supposed to interpret the negative propositions?</a:t>
            </a:r>
          </a:p>
          <a:p>
            <a:r>
              <a:rPr lang="en-US" altLang="zh-CN" dirty="0"/>
              <a:t>That is, where are we supposed to add the negation “not”? </a:t>
            </a:r>
          </a:p>
          <a:p>
            <a:r>
              <a:rPr lang="en-US" altLang="zh-CN" dirty="0"/>
              <a:t>So, </a:t>
            </a:r>
            <a:r>
              <a:rPr lang="en-US" altLang="zh-CN" dirty="0">
                <a:solidFill>
                  <a:srgbClr val="FF0000"/>
                </a:solidFill>
              </a:rPr>
              <a:t>this is a problem concerning the scope that a denoting phrase can dominate.</a:t>
            </a:r>
          </a:p>
        </p:txBody>
      </p:sp>
    </p:spTree>
    <p:extLst>
      <p:ext uri="{BB962C8B-B14F-4D97-AF65-F5344CB8AC3E}">
        <p14:creationId xmlns:p14="http://schemas.microsoft.com/office/powerpoint/2010/main" val="1938437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F67586-3563-73BD-A27D-BC18CA8EE313}"/>
              </a:ext>
            </a:extLst>
          </p:cNvPr>
          <p:cNvSpPr>
            <a:spLocks noGrp="1"/>
          </p:cNvSpPr>
          <p:nvPr>
            <p:ph type="title"/>
          </p:nvPr>
        </p:nvSpPr>
        <p:spPr/>
        <p:txBody>
          <a:bodyPr/>
          <a:lstStyle/>
          <a:p>
            <a:r>
              <a:rPr lang="en-US" altLang="zh-CN" dirty="0"/>
              <a:t>Russel’s final goal</a:t>
            </a:r>
            <a:endParaRPr lang="zh-CN" altLang="en-US" dirty="0"/>
          </a:p>
        </p:txBody>
      </p:sp>
      <p:sp>
        <p:nvSpPr>
          <p:cNvPr id="3" name="内容占位符 2">
            <a:extLst>
              <a:ext uri="{FF2B5EF4-FFF2-40B4-BE49-F238E27FC236}">
                <a16:creationId xmlns:a16="http://schemas.microsoft.com/office/drawing/2014/main" id="{3B196E69-EFF7-8810-C15F-37EABC373578}"/>
              </a:ext>
            </a:extLst>
          </p:cNvPr>
          <p:cNvSpPr>
            <a:spLocks noGrp="1"/>
          </p:cNvSpPr>
          <p:nvPr>
            <p:ph idx="1"/>
          </p:nvPr>
        </p:nvSpPr>
        <p:spPr>
          <a:xfrm>
            <a:off x="677334" y="1562470"/>
            <a:ext cx="8596668" cy="5175681"/>
          </a:xfrm>
        </p:spPr>
        <p:txBody>
          <a:bodyPr>
            <a:normAutofit/>
          </a:bodyPr>
          <a:lstStyle/>
          <a:p>
            <a:r>
              <a:rPr lang="en-US" altLang="zh-CN" dirty="0"/>
              <a:t>He first separates the occurrence of the denoting phrases in two modes: </a:t>
            </a:r>
            <a:r>
              <a:rPr lang="en-US" altLang="zh-CN" dirty="0">
                <a:solidFill>
                  <a:srgbClr val="FF0000"/>
                </a:solidFill>
              </a:rPr>
              <a:t>the primary occurrence</a:t>
            </a:r>
            <a:r>
              <a:rPr lang="en-US" altLang="zh-CN" dirty="0"/>
              <a:t> and the </a:t>
            </a:r>
            <a:r>
              <a:rPr lang="en-US" altLang="zh-CN" dirty="0">
                <a:solidFill>
                  <a:srgbClr val="FF0000"/>
                </a:solidFill>
              </a:rPr>
              <a:t>secondary occurrence.</a:t>
            </a:r>
          </a:p>
          <a:p>
            <a:r>
              <a:rPr lang="en-US" altLang="zh-CN" dirty="0"/>
              <a:t>Primary occurrence dominants a “broad” context, and the secondary one dominants a “thin” context. </a:t>
            </a:r>
            <a:r>
              <a:rPr lang="en-US" altLang="zh-CN" i="1" dirty="0"/>
              <a:t>To return to George IV. and Waverley, when we say, "George IV. wished to know whether Scott was the author of Waverley," we normally mean " George IV. wished to know whether one and only one man wrote Waverley and Scott was that man"; but we may also mean: "One and only one man wrote Waverley, and George IV. wished to know whether Scott was that man “</a:t>
            </a:r>
            <a:r>
              <a:rPr lang="en-US" altLang="zh-CN" dirty="0"/>
              <a:t>.The latter is under the condition of “One and only one man wrote Waverley”, so it’s broader and by definition, it’s the primary occurrence.</a:t>
            </a:r>
          </a:p>
          <a:p>
            <a:r>
              <a:rPr lang="en-US" altLang="zh-CN" dirty="0"/>
              <a:t>Now adding negation to the primary occurrence: “</a:t>
            </a:r>
            <a:r>
              <a:rPr lang="en-US" altLang="zh-CN" i="1" dirty="0"/>
              <a:t>One and only one man wrote Waverley, and George IV. </a:t>
            </a:r>
            <a:r>
              <a:rPr lang="en-US" altLang="zh-CN" i="1" dirty="0">
                <a:solidFill>
                  <a:srgbClr val="FF0000"/>
                </a:solidFill>
              </a:rPr>
              <a:t>DIDN’T</a:t>
            </a:r>
            <a:r>
              <a:rPr lang="en-US" altLang="zh-CN" i="1" dirty="0"/>
              <a:t> wish to know whether Scott was that man”, </a:t>
            </a:r>
            <a:r>
              <a:rPr lang="en-US" altLang="zh-CN" dirty="0"/>
              <a:t>while adding negation to the secondary occurrence appears like: “</a:t>
            </a:r>
            <a:r>
              <a:rPr lang="en-US" altLang="zh-CN" i="1" dirty="0"/>
              <a:t>George IV. wished to know whether </a:t>
            </a:r>
            <a:r>
              <a:rPr lang="en-US" altLang="zh-CN" i="1" dirty="0">
                <a:solidFill>
                  <a:srgbClr val="FF0000"/>
                </a:solidFill>
              </a:rPr>
              <a:t>IT WAS NOT THE CASE THAT </a:t>
            </a:r>
            <a:r>
              <a:rPr lang="en-US" altLang="zh-CN" i="1" dirty="0"/>
              <a:t>one and only one man wrote Waverley and Scott was that man”. </a:t>
            </a:r>
            <a:r>
              <a:rPr lang="en-US" altLang="zh-CN" dirty="0"/>
              <a:t>Apparently, we normally interpret the negative sentence as the secondary occurrence form.</a:t>
            </a:r>
            <a:endParaRPr lang="zh-CN" altLang="en-US" dirty="0"/>
          </a:p>
        </p:txBody>
      </p:sp>
    </p:spTree>
    <p:extLst>
      <p:ext uri="{BB962C8B-B14F-4D97-AF65-F5344CB8AC3E}">
        <p14:creationId xmlns:p14="http://schemas.microsoft.com/office/powerpoint/2010/main" val="59035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8E6396-6FF0-718E-518D-677AD22584A7}"/>
              </a:ext>
            </a:extLst>
          </p:cNvPr>
          <p:cNvSpPr>
            <a:spLocks noGrp="1"/>
          </p:cNvSpPr>
          <p:nvPr>
            <p:ph type="title"/>
          </p:nvPr>
        </p:nvSpPr>
        <p:spPr/>
        <p:txBody>
          <a:bodyPr/>
          <a:lstStyle/>
          <a:p>
            <a:r>
              <a:rPr lang="en-US" altLang="zh-CN" dirty="0"/>
              <a:t>“The king of France” problem</a:t>
            </a:r>
            <a:endParaRPr lang="zh-CN" altLang="en-US" dirty="0"/>
          </a:p>
        </p:txBody>
      </p:sp>
      <p:sp>
        <p:nvSpPr>
          <p:cNvPr id="3" name="内容占位符 2">
            <a:extLst>
              <a:ext uri="{FF2B5EF4-FFF2-40B4-BE49-F238E27FC236}">
                <a16:creationId xmlns:a16="http://schemas.microsoft.com/office/drawing/2014/main" id="{84421AA6-14A7-340B-BA7F-62CB1ADBC68E}"/>
              </a:ext>
            </a:extLst>
          </p:cNvPr>
          <p:cNvSpPr>
            <a:spLocks noGrp="1"/>
          </p:cNvSpPr>
          <p:nvPr>
            <p:ph idx="1"/>
          </p:nvPr>
        </p:nvSpPr>
        <p:spPr>
          <a:xfrm>
            <a:off x="677334" y="1630837"/>
            <a:ext cx="8596668" cy="4410525"/>
          </a:xfrm>
        </p:spPr>
        <p:txBody>
          <a:bodyPr>
            <a:normAutofit lnSpcReduction="10000"/>
          </a:bodyPr>
          <a:lstStyle/>
          <a:p>
            <a:r>
              <a:rPr lang="en-US" altLang="zh-CN" dirty="0"/>
              <a:t>The condition is simple when the proposition is “The king of France IS bald”. Russell translated  this proposition to </a:t>
            </a:r>
            <a:r>
              <a:rPr lang="es-ES" altLang="zh-CN" b="1" dirty="0"/>
              <a:t>∃x [ (K(x) ∧ ∀y(K(y) → y=x)) ∧ B(x) ], where</a:t>
            </a:r>
            <a:r>
              <a:rPr lang="es-ES" altLang="zh-CN" dirty="0"/>
              <a:t> K(x) stands for x is the king of France, B(x) stands for x is bald.</a:t>
            </a:r>
          </a:p>
          <a:p>
            <a:r>
              <a:rPr lang="es-ES" altLang="zh-CN" dirty="0"/>
              <a:t>It’s a simple task to decide whether this proposition is true: K(x), B(x) are all atomic propositions that can be evaluated. So because </a:t>
            </a:r>
            <a:r>
              <a:rPr lang="es-ES" altLang="zh-CN" b="1" dirty="0"/>
              <a:t>∃x </a:t>
            </a:r>
            <a:r>
              <a:rPr lang="es-ES" altLang="zh-CN" dirty="0"/>
              <a:t>K(x) is false, the whole proposition is false.</a:t>
            </a:r>
          </a:p>
          <a:p>
            <a:r>
              <a:rPr lang="es-ES" altLang="zh-CN" dirty="0"/>
              <a:t>If we put “king of France” </a:t>
            </a:r>
            <a:r>
              <a:rPr lang="es-ES" altLang="zh-CN" dirty="0">
                <a:solidFill>
                  <a:srgbClr val="FF0000"/>
                </a:solidFill>
              </a:rPr>
              <a:t>in the primary occurence</a:t>
            </a:r>
            <a:r>
              <a:rPr lang="es-ES" altLang="zh-CN" dirty="0"/>
              <a:t>, the proposition “</a:t>
            </a:r>
            <a:r>
              <a:rPr lang="en-US" altLang="zh-CN" dirty="0"/>
              <a:t>The king of France IS NOT bald” is translated to </a:t>
            </a:r>
            <a:r>
              <a:rPr lang="es-ES" altLang="zh-CN" b="1" dirty="0"/>
              <a:t>∃x [ (K(x) ∧ ∀y(K(y) → y=x)) ∧ </a:t>
            </a:r>
            <a:r>
              <a:rPr lang="es-ES" altLang="zh-CN" b="1" dirty="0">
                <a:solidFill>
                  <a:srgbClr val="FF0000"/>
                </a:solidFill>
              </a:rPr>
              <a:t>¬</a:t>
            </a:r>
            <a:r>
              <a:rPr lang="es-ES" altLang="zh-CN" b="1" dirty="0"/>
              <a:t>B(x) ]. </a:t>
            </a:r>
            <a:r>
              <a:rPr lang="es-ES" altLang="zh-CN" dirty="0"/>
              <a:t>The description “NOT” is IN the range of “king of France”.</a:t>
            </a:r>
          </a:p>
          <a:p>
            <a:r>
              <a:rPr lang="es-ES" altLang="zh-CN" dirty="0"/>
              <a:t>If we put “king of France” </a:t>
            </a:r>
            <a:r>
              <a:rPr lang="es-ES" altLang="zh-CN" dirty="0">
                <a:solidFill>
                  <a:srgbClr val="FF0000"/>
                </a:solidFill>
              </a:rPr>
              <a:t>in the secondary occurence, </a:t>
            </a:r>
            <a:r>
              <a:rPr lang="es-ES" altLang="zh-CN" dirty="0"/>
              <a:t>the propositin “</a:t>
            </a:r>
            <a:r>
              <a:rPr lang="en-US" altLang="zh-CN" dirty="0"/>
              <a:t>The king of France IS NOT bald” is translated to </a:t>
            </a:r>
            <a:r>
              <a:rPr lang="es-ES" altLang="zh-CN" b="1" dirty="0">
                <a:solidFill>
                  <a:srgbClr val="FF0000"/>
                </a:solidFill>
              </a:rPr>
              <a:t>¬ </a:t>
            </a:r>
            <a:r>
              <a:rPr lang="es-ES" altLang="zh-CN" b="1" dirty="0"/>
              <a:t>∃x [ (K(x) ∧ ∀y(K(y) → y=x)) ∧ B(x) ]. </a:t>
            </a:r>
            <a:r>
              <a:rPr lang="es-ES" altLang="zh-CN" dirty="0"/>
              <a:t>The description “NOT” is OUT the range of “king of France”.</a:t>
            </a:r>
          </a:p>
          <a:p>
            <a:r>
              <a:rPr lang="es-ES" altLang="zh-CN" dirty="0"/>
              <a:t>In the first case, the proposition is false for the same reason as discussed above, </a:t>
            </a:r>
            <a:r>
              <a:rPr lang="es-ES" altLang="zh-CN" dirty="0">
                <a:solidFill>
                  <a:srgbClr val="FF0000"/>
                </a:solidFill>
              </a:rPr>
              <a:t>but in the second case the proposition is TRUE. Thst’s where the rule of excluded middle still exists!</a:t>
            </a:r>
            <a:endParaRPr lang="zh-CN" altLang="en-US" dirty="0">
              <a:solidFill>
                <a:srgbClr val="FF0000"/>
              </a:solidFill>
            </a:endParaRPr>
          </a:p>
        </p:txBody>
      </p:sp>
      <p:pic>
        <p:nvPicPr>
          <p:cNvPr id="5" name="图片 4">
            <a:extLst>
              <a:ext uri="{FF2B5EF4-FFF2-40B4-BE49-F238E27FC236}">
                <a16:creationId xmlns:a16="http://schemas.microsoft.com/office/drawing/2014/main" id="{FD7F16C6-9517-4D1C-6C2E-CF72859DA2C6}"/>
              </a:ext>
            </a:extLst>
          </p:cNvPr>
          <p:cNvPicPr>
            <a:picLocks noChangeAspect="1"/>
          </p:cNvPicPr>
          <p:nvPr/>
        </p:nvPicPr>
        <p:blipFill>
          <a:blip r:embed="rId3"/>
          <a:stretch>
            <a:fillRect/>
          </a:stretch>
        </p:blipFill>
        <p:spPr>
          <a:xfrm>
            <a:off x="9675611" y="333370"/>
            <a:ext cx="1839055" cy="2425721"/>
          </a:xfrm>
          <a:prstGeom prst="rect">
            <a:avLst/>
          </a:prstGeom>
        </p:spPr>
      </p:pic>
      <p:sp>
        <p:nvSpPr>
          <p:cNvPr id="6" name="对话气泡: 椭圆形 74">
            <a:extLst>
              <a:ext uri="{FF2B5EF4-FFF2-40B4-BE49-F238E27FC236}">
                <a16:creationId xmlns:a16="http://schemas.microsoft.com/office/drawing/2014/main" id="{94573D6B-D52B-2CF4-BDF1-6F3F9047A6CC}"/>
              </a:ext>
            </a:extLst>
          </p:cNvPr>
          <p:cNvSpPr/>
          <p:nvPr/>
        </p:nvSpPr>
        <p:spPr>
          <a:xfrm flipH="1">
            <a:off x="8156068" y="57139"/>
            <a:ext cx="1991485" cy="1320800"/>
          </a:xfrm>
          <a:prstGeom prst="wedgeEllipseCallout">
            <a:avLst>
              <a:gd name="adj1" fmla="val -25173"/>
              <a:gd name="adj2" fmla="val 59708"/>
            </a:avLst>
          </a:prstGeom>
          <a:solidFill>
            <a:schemeClr val="tx2">
              <a:alpha val="30000"/>
            </a:schemeClr>
          </a:solidFill>
          <a:ln w="6055" cap="flat">
            <a:noFill/>
            <a:prstDash val="solid"/>
            <a:miter/>
          </a:ln>
        </p:spPr>
        <p:txBody>
          <a:bodyPr rtlCol="0" anchor="ctr"/>
          <a:lstStyle/>
          <a:p>
            <a:r>
              <a:rPr lang="en-US" altLang="zh-CN" dirty="0">
                <a:latin typeface="Arial" panose="020B0604020202020204" pitchFamily="34" charset="0"/>
                <a:ea typeface="微软雅黑" panose="020B0503020204020204" pitchFamily="34" charset="-122"/>
                <a:sym typeface="Arial" panose="020B0604020202020204" pitchFamily="34" charset="0"/>
              </a:rPr>
              <a:t>Aww… my head hurts</a:t>
            </a: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pic>
        <p:nvPicPr>
          <p:cNvPr id="7" name="图片 6">
            <a:extLst>
              <a:ext uri="{FF2B5EF4-FFF2-40B4-BE49-F238E27FC236}">
                <a16:creationId xmlns:a16="http://schemas.microsoft.com/office/drawing/2014/main" id="{4FC8529D-0029-106A-522F-E1EA8347F046}"/>
              </a:ext>
            </a:extLst>
          </p:cNvPr>
          <p:cNvPicPr>
            <a:picLocks noChangeAspect="1"/>
          </p:cNvPicPr>
          <p:nvPr/>
        </p:nvPicPr>
        <p:blipFill>
          <a:blip r:embed="rId4"/>
          <a:stretch>
            <a:fillRect/>
          </a:stretch>
        </p:blipFill>
        <p:spPr>
          <a:xfrm>
            <a:off x="9360816" y="3992554"/>
            <a:ext cx="2759346" cy="2580107"/>
          </a:xfrm>
          <a:prstGeom prst="rect">
            <a:avLst/>
          </a:prstGeom>
        </p:spPr>
      </p:pic>
      <p:sp>
        <p:nvSpPr>
          <p:cNvPr id="8" name="对话气泡: 椭圆形 74">
            <a:extLst>
              <a:ext uri="{FF2B5EF4-FFF2-40B4-BE49-F238E27FC236}">
                <a16:creationId xmlns:a16="http://schemas.microsoft.com/office/drawing/2014/main" id="{263E3D95-4716-41EE-5F9B-0DBDACCABE94}"/>
              </a:ext>
            </a:extLst>
          </p:cNvPr>
          <p:cNvSpPr/>
          <p:nvPr/>
        </p:nvSpPr>
        <p:spPr>
          <a:xfrm>
            <a:off x="10077686" y="2863025"/>
            <a:ext cx="2114314" cy="1131949"/>
          </a:xfrm>
          <a:prstGeom prst="wedgeEllipseCallout">
            <a:avLst>
              <a:gd name="adj1" fmla="val -25173"/>
              <a:gd name="adj2" fmla="val 59708"/>
            </a:avLst>
          </a:prstGeom>
          <a:solidFill>
            <a:schemeClr val="tx2">
              <a:alpha val="30000"/>
            </a:schemeClr>
          </a:solidFill>
          <a:ln w="6055" cap="flat">
            <a:noFill/>
            <a:prstDash val="solid"/>
            <a:miter/>
          </a:ln>
        </p:spPr>
        <p:txBody>
          <a:bodyPr rtlCol="0" anchor="ctr"/>
          <a:lstStyle/>
          <a:p>
            <a:r>
              <a:rPr lang="en-US" altLang="zh-CN" dirty="0">
                <a:latin typeface="Arial" panose="020B0604020202020204" pitchFamily="34" charset="0"/>
                <a:ea typeface="微软雅黑" panose="020B0503020204020204" pitchFamily="34" charset="-122"/>
                <a:sym typeface="Arial" panose="020B0604020202020204" pitchFamily="34" charset="0"/>
              </a:rPr>
              <a:t>Do I really look like bald?</a:t>
            </a: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4106173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852FBE-29C7-9203-ACB9-75F57880847D}"/>
              </a:ext>
            </a:extLst>
          </p:cNvPr>
          <p:cNvSpPr>
            <a:spLocks noGrp="1"/>
          </p:cNvSpPr>
          <p:nvPr>
            <p:ph type="title"/>
          </p:nvPr>
        </p:nvSpPr>
        <p:spPr/>
        <p:txBody>
          <a:bodyPr>
            <a:normAutofit/>
          </a:bodyPr>
          <a:lstStyle/>
          <a:p>
            <a:r>
              <a:rPr lang="en-US" altLang="zh-CN" sz="4800" dirty="0"/>
              <a:t>Conclusions</a:t>
            </a:r>
            <a:endParaRPr lang="zh-CN" altLang="en-US" sz="4800" dirty="0"/>
          </a:p>
        </p:txBody>
      </p:sp>
      <p:sp>
        <p:nvSpPr>
          <p:cNvPr id="3" name="内容占位符 2">
            <a:extLst>
              <a:ext uri="{FF2B5EF4-FFF2-40B4-BE49-F238E27FC236}">
                <a16:creationId xmlns:a16="http://schemas.microsoft.com/office/drawing/2014/main" id="{E663334B-6E10-F12C-DEC4-4534668D038B}"/>
              </a:ext>
            </a:extLst>
          </p:cNvPr>
          <p:cNvSpPr>
            <a:spLocks noGrp="1"/>
          </p:cNvSpPr>
          <p:nvPr>
            <p:ph idx="1"/>
          </p:nvPr>
        </p:nvSpPr>
        <p:spPr>
          <a:xfrm>
            <a:off x="677334" y="2160589"/>
            <a:ext cx="8596668" cy="4315625"/>
          </a:xfrm>
        </p:spPr>
        <p:txBody>
          <a:bodyPr>
            <a:normAutofit/>
          </a:bodyPr>
          <a:lstStyle/>
          <a:p>
            <a:r>
              <a:rPr lang="en-US" altLang="zh-CN" dirty="0"/>
              <a:t>Interpretation of definitions in math:  " m-n means the number which, added to n, gives m.”—Seemingly m-n has a meaning in isolation.(3-2 </a:t>
            </a:r>
            <a:r>
              <a:rPr lang="en-US" altLang="zh-CN" i="1" dirty="0"/>
              <a:t>means</a:t>
            </a:r>
            <a:r>
              <a:rPr lang="en-US" altLang="zh-CN" dirty="0"/>
              <a:t> 1 for example). But we agreed denoting phrases don’t have a meaning in isolation, so an explanation given by Russell is: </a:t>
            </a:r>
            <a:r>
              <a:rPr lang="en-US" altLang="zh-CN" i="1" dirty="0"/>
              <a:t>" Any proposition containing m-n is to mean the proposition which </a:t>
            </a:r>
            <a:r>
              <a:rPr lang="en-US" altLang="zh-CN" i="1" dirty="0">
                <a:solidFill>
                  <a:srgbClr val="FF0000"/>
                </a:solidFill>
              </a:rPr>
              <a:t>results from substituting </a:t>
            </a:r>
            <a:r>
              <a:rPr lang="en-US" altLang="zh-CN" i="1" dirty="0"/>
              <a:t>for 'm-n' the number which, added to n, gives m.” </a:t>
            </a:r>
            <a:r>
              <a:rPr lang="en-US" altLang="zh-CN" dirty="0"/>
              <a:t>But we often do this substituting unconsciously.</a:t>
            </a:r>
          </a:p>
          <a:p>
            <a:r>
              <a:rPr lang="en-US" altLang="zh-CN" dirty="0"/>
              <a:t>The usefulness of </a:t>
            </a:r>
            <a:r>
              <a:rPr lang="en-US" altLang="zh-CN" i="1" dirty="0"/>
              <a:t>identity</a:t>
            </a:r>
            <a:r>
              <a:rPr lang="en-US" altLang="zh-CN" dirty="0"/>
              <a:t>. We introduced identity when interpreting “the”. Furthermore, identity played a significant role in </a:t>
            </a:r>
            <a:r>
              <a:rPr lang="en-US" altLang="zh-CN" i="1" dirty="0"/>
              <a:t>substitution</a:t>
            </a:r>
            <a:r>
              <a:rPr lang="en-US" altLang="zh-CN" dirty="0"/>
              <a:t>. As Russell wrote, </a:t>
            </a:r>
            <a:r>
              <a:rPr lang="en-US" altLang="zh-CN" i="1" dirty="0"/>
              <a:t>“It is in this way that identity enters into " Scott is the author of Waverley"; and it is owing to such uses that </a:t>
            </a:r>
            <a:r>
              <a:rPr lang="en-US" altLang="zh-CN" i="1" dirty="0">
                <a:solidFill>
                  <a:srgbClr val="FF0000"/>
                </a:solidFill>
              </a:rPr>
              <a:t>identity is worth affirming</a:t>
            </a:r>
            <a:r>
              <a:rPr lang="en-US" altLang="zh-CN" i="1" dirty="0"/>
              <a:t>.”</a:t>
            </a:r>
          </a:p>
          <a:p>
            <a:r>
              <a:rPr lang="en-US" altLang="zh-CN" dirty="0"/>
              <a:t>Immediate acquaintance vs define by denoting— where do knowledge come from?</a:t>
            </a:r>
          </a:p>
          <a:p>
            <a:r>
              <a:rPr lang="en-US" altLang="zh-CN" dirty="0"/>
              <a:t>In </a:t>
            </a:r>
            <a:r>
              <a:rPr lang="en-US" altLang="zh-CN" i="1" dirty="0"/>
              <a:t>the Matrix</a:t>
            </a:r>
            <a:r>
              <a:rPr lang="en-US" altLang="zh-CN" dirty="0"/>
              <a:t>, Neo can stop the bullet just by understanding the code of it-know by another kind of denoting(the programed code inside the Matrix).</a:t>
            </a:r>
            <a:endParaRPr lang="zh-CN" altLang="en-US" dirty="0"/>
          </a:p>
        </p:txBody>
      </p:sp>
      <p:pic>
        <p:nvPicPr>
          <p:cNvPr id="7" name="图片 6">
            <a:extLst>
              <a:ext uri="{FF2B5EF4-FFF2-40B4-BE49-F238E27FC236}">
                <a16:creationId xmlns:a16="http://schemas.microsoft.com/office/drawing/2014/main" id="{83789CC3-DD3A-3D0F-050A-84C2F9BF1676}"/>
              </a:ext>
            </a:extLst>
          </p:cNvPr>
          <p:cNvPicPr>
            <a:picLocks noChangeAspect="1"/>
          </p:cNvPicPr>
          <p:nvPr/>
        </p:nvPicPr>
        <p:blipFill>
          <a:blip r:embed="rId2"/>
          <a:srcRect r="27047" b="713"/>
          <a:stretch>
            <a:fillRect/>
          </a:stretch>
        </p:blipFill>
        <p:spPr>
          <a:xfrm>
            <a:off x="9061704" y="0"/>
            <a:ext cx="3130296" cy="2654022"/>
          </a:xfrm>
          <a:prstGeom prst="rect">
            <a:avLst/>
          </a:prstGeom>
        </p:spPr>
      </p:pic>
    </p:spTree>
    <p:extLst>
      <p:ext uri="{BB962C8B-B14F-4D97-AF65-F5344CB8AC3E}">
        <p14:creationId xmlns:p14="http://schemas.microsoft.com/office/powerpoint/2010/main" val="74291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3A8034A-457E-B9EF-3376-E4BAEDAAC910}"/>
              </a:ext>
            </a:extLst>
          </p:cNvPr>
          <p:cNvSpPr txBox="1"/>
          <p:nvPr/>
        </p:nvSpPr>
        <p:spPr>
          <a:xfrm>
            <a:off x="2273431" y="3013501"/>
            <a:ext cx="7645138" cy="830997"/>
          </a:xfrm>
          <a:prstGeom prst="rect">
            <a:avLst/>
          </a:prstGeom>
          <a:noFill/>
        </p:spPr>
        <p:txBody>
          <a:bodyPr wrap="square" rtlCol="0">
            <a:spAutoFit/>
          </a:bodyPr>
          <a:lstStyle/>
          <a:p>
            <a:pPr algn="ctr"/>
            <a:r>
              <a:rPr lang="en-US" altLang="zh-CN" sz="4800" dirty="0"/>
              <a:t>Thanks for Listening</a:t>
            </a:r>
            <a:endParaRPr lang="zh-CN" altLang="en-US" sz="4800" dirty="0"/>
          </a:p>
        </p:txBody>
      </p:sp>
    </p:spTree>
    <p:extLst>
      <p:ext uri="{BB962C8B-B14F-4D97-AF65-F5344CB8AC3E}">
        <p14:creationId xmlns:p14="http://schemas.microsoft.com/office/powerpoint/2010/main" val="2021740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2739"/>
  <p:tag name="OP_SCP_COMPONENT_INFO" val="{&quot;title&quot;:&quot;阴影5项总分树状图&quot;,&quot;description&quot;:&quot;彩色,阴影,5项&quot;,&quot;keywords&quot;:[&quot;彩色&quot;,&quot;阴影&quot;,&quot;5项&quot;],&quot;labels&quot;:[]}"/>
  <p:tag name="OP_SCP_GROUP_ID" val="4cb6e9e9-ae4d-ce5f-c2f6-ac8f68918522"/>
  <p:tag name="OP_SCP_ITEM_COUNT" val="5"/>
</p:tagLst>
</file>

<file path=ppt/tags/tag2.xml><?xml version="1.0" encoding="utf-8"?>
<p:tagLst xmlns:a="http://schemas.openxmlformats.org/drawingml/2006/main" xmlns:r="http://schemas.openxmlformats.org/officeDocument/2006/relationships" xmlns:p="http://schemas.openxmlformats.org/presentationml/2006/main">
  <p:tag name="OP_SCP_SHAPE_TYPE" val="Body"/>
  <p:tag name="OP_SCP_ITEM_INDEX" val="5"/>
  <p:tag name="OP_SCP_DEFAULT_TEXT" val="单击此处添加文本，单击此处添加文本，单击此处添加文本，单击此处添加文本，单击此处添加文本。"/>
</p:tagLst>
</file>

<file path=ppt/tags/tag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5"/>
  <p:tag name="OP_SCP_DEFAULT_TEXT" val="添加标题"/>
</p:tagLst>
</file>

<file path=ppt/tags/tag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5"/>
  <p:tag name="OP_SCP_DEFAULT_TEXT" val="05"/>
</p:tagLst>
</file>

<file path=ppt/tags/tag5.xml><?xml version="1.0" encoding="utf-8"?>
<p:tagLst xmlns:a="http://schemas.openxmlformats.org/drawingml/2006/main" xmlns:r="http://schemas.openxmlformats.org/officeDocument/2006/relationships" xmlns:p="http://schemas.openxmlformats.org/presentationml/2006/main">
  <p:tag name="OP_SCP_SHAPE_TYPE" val="Body"/>
  <p:tag name="OP_SCP_ITEM_INDEX" val="4"/>
  <p:tag name="OP_SCP_DEFAULT_TEXT" val="单击此处添加文本，单击此处添加文本，单击此处添加文本，单击此处添加文本，单击此处添加文本。"/>
</p:tagLst>
</file>

<file path=ppt/tags/tag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4"/>
  <p:tag name="OP_SCP_DEFAULT_TEXT" val="添加标题"/>
</p:tagLst>
</file>

<file path=ppt/tags/tag7.xml><?xml version="1.0" encoding="utf-8"?>
<p:tagLst xmlns:a="http://schemas.openxmlformats.org/drawingml/2006/main" xmlns:r="http://schemas.openxmlformats.org/officeDocument/2006/relationships" xmlns:p="http://schemas.openxmlformats.org/presentationml/2006/main">
  <p:tag name="OP_SCP_SHAPE_TYPE" val="Index"/>
  <p:tag name="OP_SCP_ITEM_INDEX" val="4"/>
  <p:tag name="OP_SCP_DEFAULT_TEXT" val="04"/>
</p:tagLst>
</file>

<file path=ppt/tags/tag8.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单击此处添加文本。"/>
</p:tagLst>
</file>

<file path=ppt/tags/tag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1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11.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
</p:tagLst>
</file>

<file path=ppt/tags/tag1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13.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1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
</p:tagLst>
</file>

<file path=ppt/tags/tag1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6.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17.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4948"/>
  <p:tag name="OP_SCP_COMPONENT_INFO" val="{&quot;title&quot;:&quot;扁平3项进度流程&quot;,&quot;description&quot;:&quot;蓝绿色,扁平,3项&quot;,&quot;keywords&quot;:[&quot;蓝绿色&quot;,&quot;扁平&quot;,&quot;3项&quot;],&quot;labels&quot;:[]}"/>
  <p:tag name="OP_SCP_GROUP_ID" val="68ce9579-ef34-a164-096c-00eafe708103"/>
  <p:tag name="OP_SCP_ITEM_COUNT" val="3"/>
</p:tagLst>
</file>

<file path=ppt/tags/tag1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19.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
</p:tagLst>
</file>

<file path=ppt/tags/tag2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ags/tag21.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
</p:tagLst>
</file>

<file path=ppt/tags/tag2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3.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
</p:tagLst>
</file>

<file path=ppt/theme/theme1.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1309</TotalTime>
  <Words>2697</Words>
  <Application>Microsoft Office PowerPoint</Application>
  <PresentationFormat>宽屏</PresentationFormat>
  <Paragraphs>120</Paragraphs>
  <Slides>15</Slides>
  <Notes>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OPPOSans R</vt:lpstr>
      <vt:lpstr>等线</vt:lpstr>
      <vt:lpstr>华文新魏</vt:lpstr>
      <vt:lpstr>Arial</vt:lpstr>
      <vt:lpstr>Trebuchet MS</vt:lpstr>
      <vt:lpstr>Wingdings</vt:lpstr>
      <vt:lpstr>Wingdings 3</vt:lpstr>
      <vt:lpstr>平面</vt:lpstr>
      <vt:lpstr>On Denoting</vt:lpstr>
      <vt:lpstr>Contents</vt:lpstr>
      <vt:lpstr>Foundation</vt:lpstr>
      <vt:lpstr>Foundation</vt:lpstr>
      <vt:lpstr>Interpretation</vt:lpstr>
      <vt:lpstr>Interpretation：the</vt:lpstr>
      <vt:lpstr>Problems</vt:lpstr>
      <vt:lpstr>Three interesting puzzles</vt:lpstr>
      <vt:lpstr>Frege’s solution: George IV wanted to know…</vt:lpstr>
      <vt:lpstr>Russell’s final goal</vt:lpstr>
      <vt:lpstr>Russell’s final goal  </vt:lpstr>
      <vt:lpstr>Russel’s final goal</vt:lpstr>
      <vt:lpstr>“The king of France” problem</vt:lpstr>
      <vt:lpstr>Conclusions</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Yining Li</dc:creator>
  <cp:lastModifiedBy>晨浩 饶</cp:lastModifiedBy>
  <cp:revision>4</cp:revision>
  <dcterms:created xsi:type="dcterms:W3CDTF">2025-11-30T01:18:00Z</dcterms:created>
  <dcterms:modified xsi:type="dcterms:W3CDTF">2026-03-28T00:49:19Z</dcterms:modified>
</cp:coreProperties>
</file>